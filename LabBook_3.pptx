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p:sldMasterIdLst>
    <p:sldMasterId id="2147483648" r:id="rId1"/>
  </p:sldMasterIdLst>
  <p:notesMasterIdLst>
    <p:notesMasterId r:id="rId19"/>
  </p:notesMasterIdLst>
  <p:handoutMasterIdLst>
    <p:handoutMasterId r:id="rId20"/>
  </p:handoutMasterIdLst>
  <p:sldIdLst>
    <p:sldId id="256" r:id="rId2"/>
    <p:sldId id="289" r:id="rId3"/>
    <p:sldId id="290" r:id="rId4"/>
    <p:sldId id="297" r:id="rId5"/>
    <p:sldId id="298" r:id="rId6"/>
    <p:sldId id="299" r:id="rId7"/>
    <p:sldId id="300" r:id="rId8"/>
    <p:sldId id="301" r:id="rId9"/>
    <p:sldId id="295" r:id="rId10"/>
    <p:sldId id="296" r:id="rId11"/>
    <p:sldId id="302" r:id="rId12"/>
    <p:sldId id="303" r:id="rId13"/>
    <p:sldId id="293" r:id="rId14"/>
    <p:sldId id="304" r:id="rId15"/>
    <p:sldId id="305" r:id="rId16"/>
    <p:sldId id="306" r:id="rId17"/>
    <p:sldId id="288" r:id="rId18"/>
  </p:sldIdLst>
  <p:sldSz cx="12192000" cy="6858000"/>
  <p:notesSz cx="12192000" cy="6858000"/>
  <p:defaultText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880">
          <p15:clr>
            <a:srgbClr val="A4A3A4"/>
          </p15:clr>
        </p15:guide>
        <p15:guide id="2" pos="216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5538" autoAdjust="0"/>
    <p:restoredTop sz="95033" autoAdjust="0"/>
  </p:normalViewPr>
  <p:slideViewPr>
    <p:cSldViewPr>
      <p:cViewPr varScale="1">
        <p:scale>
          <a:sx n="113" d="100"/>
          <a:sy n="113" d="100"/>
        </p:scale>
        <p:origin x="1056" y="102"/>
      </p:cViewPr>
      <p:guideLst>
        <p:guide orient="horz" pos="2880"/>
        <p:guide pos="2160"/>
      </p:guideLst>
    </p:cSldViewPr>
  </p:slideViewPr>
  <p:notesTextViewPr>
    <p:cViewPr>
      <p:scale>
        <a:sx n="100" d="100"/>
        <a:sy n="100" d="100"/>
      </p:scale>
      <p:origin x="0" y="0"/>
    </p:cViewPr>
  </p:notesTextViewPr>
  <p:notesViewPr>
    <p:cSldViewPr>
      <p:cViewPr varScale="1">
        <p:scale>
          <a:sx n="83" d="100"/>
          <a:sy n="83" d="100"/>
        </p:scale>
        <p:origin x="1392" y="62"/>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handoutMaster" Target="handoutMasters/handout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a:extLst>
              <a:ext uri="{FF2B5EF4-FFF2-40B4-BE49-F238E27FC236}">
                <a16:creationId xmlns:a16="http://schemas.microsoft.com/office/drawing/2014/main" id="{ADD96E76-517F-B468-04D8-38EFA44947EB}"/>
              </a:ext>
            </a:extLst>
          </p:cNvPr>
          <p:cNvSpPr>
            <a:spLocks noGrp="1"/>
          </p:cNvSpPr>
          <p:nvPr>
            <p:ph type="hdr" sz="quarter"/>
          </p:nvPr>
        </p:nvSpPr>
        <p:spPr>
          <a:xfrm>
            <a:off x="0" y="0"/>
            <a:ext cx="5283200" cy="344488"/>
          </a:xfrm>
          <a:prstGeom prst="rect">
            <a:avLst/>
          </a:prstGeom>
        </p:spPr>
        <p:txBody>
          <a:bodyPr vert="horz" lIns="91440" tIns="45720" rIns="91440" bIns="45720" rtlCol="0"/>
          <a:lstStyle>
            <a:lvl1pPr algn="l">
              <a:defRPr sz="1200"/>
            </a:lvl1pPr>
          </a:lstStyle>
          <a:p>
            <a:endParaRPr lang="es-ES"/>
          </a:p>
        </p:txBody>
      </p:sp>
      <p:sp>
        <p:nvSpPr>
          <p:cNvPr id="3" name="Marcador de fecha 2">
            <a:extLst>
              <a:ext uri="{FF2B5EF4-FFF2-40B4-BE49-F238E27FC236}">
                <a16:creationId xmlns:a16="http://schemas.microsoft.com/office/drawing/2014/main" id="{8678D0B9-782A-7C16-D731-EEB7F991FA76}"/>
              </a:ext>
            </a:extLst>
          </p:cNvPr>
          <p:cNvSpPr>
            <a:spLocks noGrp="1"/>
          </p:cNvSpPr>
          <p:nvPr>
            <p:ph type="dt" sz="quarter" idx="1"/>
          </p:nvPr>
        </p:nvSpPr>
        <p:spPr>
          <a:xfrm>
            <a:off x="6905625" y="0"/>
            <a:ext cx="5283200" cy="344488"/>
          </a:xfrm>
          <a:prstGeom prst="rect">
            <a:avLst/>
          </a:prstGeom>
        </p:spPr>
        <p:txBody>
          <a:bodyPr vert="horz" lIns="91440" tIns="45720" rIns="91440" bIns="45720" rtlCol="0"/>
          <a:lstStyle>
            <a:lvl1pPr algn="r">
              <a:defRPr sz="1200"/>
            </a:lvl1pPr>
          </a:lstStyle>
          <a:p>
            <a:fld id="{8438F8DC-35B0-48E6-A86E-42F1F08DD00F}" type="datetimeFigureOut">
              <a:rPr lang="es-ES" smtClean="0"/>
              <a:t>09/03/2026</a:t>
            </a:fld>
            <a:endParaRPr lang="es-ES"/>
          </a:p>
        </p:txBody>
      </p:sp>
      <p:sp>
        <p:nvSpPr>
          <p:cNvPr id="4" name="Marcador de pie de página 3">
            <a:extLst>
              <a:ext uri="{FF2B5EF4-FFF2-40B4-BE49-F238E27FC236}">
                <a16:creationId xmlns:a16="http://schemas.microsoft.com/office/drawing/2014/main" id="{2F2E7B1C-60E2-8A48-EEE0-6715FC30A8B7}"/>
              </a:ext>
            </a:extLst>
          </p:cNvPr>
          <p:cNvSpPr>
            <a:spLocks noGrp="1"/>
          </p:cNvSpPr>
          <p:nvPr>
            <p:ph type="ftr" sz="quarter" idx="2"/>
          </p:nvPr>
        </p:nvSpPr>
        <p:spPr>
          <a:xfrm>
            <a:off x="0" y="6513513"/>
            <a:ext cx="5283200" cy="344487"/>
          </a:xfrm>
          <a:prstGeom prst="rect">
            <a:avLst/>
          </a:prstGeom>
        </p:spPr>
        <p:txBody>
          <a:bodyPr vert="horz" lIns="91440" tIns="45720" rIns="91440" bIns="45720" rtlCol="0" anchor="b"/>
          <a:lstStyle>
            <a:lvl1pPr algn="l">
              <a:defRPr sz="1200"/>
            </a:lvl1pPr>
          </a:lstStyle>
          <a:p>
            <a:endParaRPr lang="es-ES"/>
          </a:p>
        </p:txBody>
      </p:sp>
      <p:sp>
        <p:nvSpPr>
          <p:cNvPr id="5" name="Marcador de número de diapositiva 4">
            <a:extLst>
              <a:ext uri="{FF2B5EF4-FFF2-40B4-BE49-F238E27FC236}">
                <a16:creationId xmlns:a16="http://schemas.microsoft.com/office/drawing/2014/main" id="{C428D795-4EA2-62F0-B78A-5F215C828C50}"/>
              </a:ext>
            </a:extLst>
          </p:cNvPr>
          <p:cNvSpPr>
            <a:spLocks noGrp="1"/>
          </p:cNvSpPr>
          <p:nvPr>
            <p:ph type="sldNum" sz="quarter" idx="3"/>
          </p:nvPr>
        </p:nvSpPr>
        <p:spPr>
          <a:xfrm>
            <a:off x="6905625" y="6513513"/>
            <a:ext cx="5283200" cy="344487"/>
          </a:xfrm>
          <a:prstGeom prst="rect">
            <a:avLst/>
          </a:prstGeom>
        </p:spPr>
        <p:txBody>
          <a:bodyPr vert="horz" lIns="91440" tIns="45720" rIns="91440" bIns="45720" rtlCol="0" anchor="b"/>
          <a:lstStyle>
            <a:lvl1pPr algn="r">
              <a:defRPr sz="1200"/>
            </a:lvl1pPr>
          </a:lstStyle>
          <a:p>
            <a:fld id="{4116A549-763A-4A89-A454-A94BAF51395E}" type="slidenum">
              <a:rPr lang="es-ES" smtClean="0"/>
              <a:t>‹Nº›</a:t>
            </a:fld>
            <a:endParaRPr lang="es-ES"/>
          </a:p>
        </p:txBody>
      </p:sp>
    </p:spTree>
    <p:extLst>
      <p:ext uri="{BB962C8B-B14F-4D97-AF65-F5344CB8AC3E}">
        <p14:creationId xmlns:p14="http://schemas.microsoft.com/office/powerpoint/2010/main" val="140347774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5283200" cy="344488"/>
          </a:xfrm>
          <a:prstGeom prst="rect">
            <a:avLst/>
          </a:prstGeom>
        </p:spPr>
        <p:txBody>
          <a:bodyPr vert="horz" lIns="91440" tIns="45720" rIns="91440" bIns="45720" rtlCol="0"/>
          <a:lstStyle>
            <a:lvl1pPr algn="l">
              <a:defRPr sz="1200"/>
            </a:lvl1pPr>
          </a:lstStyle>
          <a:p>
            <a:endParaRPr lang="es-ES"/>
          </a:p>
        </p:txBody>
      </p:sp>
      <p:sp>
        <p:nvSpPr>
          <p:cNvPr id="3" name="Marcador de fecha 2"/>
          <p:cNvSpPr>
            <a:spLocks noGrp="1"/>
          </p:cNvSpPr>
          <p:nvPr>
            <p:ph type="dt" idx="1"/>
          </p:nvPr>
        </p:nvSpPr>
        <p:spPr>
          <a:xfrm>
            <a:off x="6905625" y="0"/>
            <a:ext cx="5283200" cy="344488"/>
          </a:xfrm>
          <a:prstGeom prst="rect">
            <a:avLst/>
          </a:prstGeom>
        </p:spPr>
        <p:txBody>
          <a:bodyPr vert="horz" lIns="91440" tIns="45720" rIns="91440" bIns="45720" rtlCol="0"/>
          <a:lstStyle>
            <a:lvl1pPr algn="r">
              <a:defRPr sz="1200"/>
            </a:lvl1pPr>
          </a:lstStyle>
          <a:p>
            <a:fld id="{FACBDC12-F39B-4B97-8F4D-6734F9D366FF}" type="datetimeFigureOut">
              <a:rPr lang="es-ES" smtClean="0"/>
              <a:t>09/03/2026</a:t>
            </a:fld>
            <a:endParaRPr lang="es-ES"/>
          </a:p>
        </p:txBody>
      </p:sp>
      <p:sp>
        <p:nvSpPr>
          <p:cNvPr id="4" name="Marcador de imagen de diapositiva 3"/>
          <p:cNvSpPr>
            <a:spLocks noGrp="1" noRot="1" noChangeAspect="1"/>
          </p:cNvSpPr>
          <p:nvPr>
            <p:ph type="sldImg" idx="2"/>
          </p:nvPr>
        </p:nvSpPr>
        <p:spPr>
          <a:xfrm>
            <a:off x="4038600" y="857250"/>
            <a:ext cx="4114800" cy="2314575"/>
          </a:xfrm>
          <a:prstGeom prst="rect">
            <a:avLst/>
          </a:prstGeom>
          <a:noFill/>
          <a:ln w="12700">
            <a:solidFill>
              <a:prstClr val="black"/>
            </a:solidFill>
          </a:ln>
        </p:spPr>
        <p:txBody>
          <a:bodyPr vert="horz" lIns="91440" tIns="45720" rIns="91440" bIns="45720" rtlCol="0" anchor="ctr"/>
          <a:lstStyle/>
          <a:p>
            <a:endParaRPr lang="es-ES"/>
          </a:p>
        </p:txBody>
      </p:sp>
      <p:sp>
        <p:nvSpPr>
          <p:cNvPr id="5" name="Marcador de notas 4"/>
          <p:cNvSpPr>
            <a:spLocks noGrp="1"/>
          </p:cNvSpPr>
          <p:nvPr>
            <p:ph type="body" sz="quarter" idx="3"/>
          </p:nvPr>
        </p:nvSpPr>
        <p:spPr>
          <a:xfrm>
            <a:off x="1219200" y="3300413"/>
            <a:ext cx="9753600" cy="2700337"/>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6" name="Marcador de pie de página 5"/>
          <p:cNvSpPr>
            <a:spLocks noGrp="1"/>
          </p:cNvSpPr>
          <p:nvPr>
            <p:ph type="ftr" sz="quarter" idx="4"/>
          </p:nvPr>
        </p:nvSpPr>
        <p:spPr>
          <a:xfrm>
            <a:off x="0" y="6513513"/>
            <a:ext cx="5283200" cy="344487"/>
          </a:xfrm>
          <a:prstGeom prst="rect">
            <a:avLst/>
          </a:prstGeom>
        </p:spPr>
        <p:txBody>
          <a:bodyPr vert="horz" lIns="91440" tIns="45720" rIns="91440" bIns="45720" rtlCol="0" anchor="b"/>
          <a:lstStyle>
            <a:lvl1pPr algn="l">
              <a:defRPr sz="1200"/>
            </a:lvl1pPr>
          </a:lstStyle>
          <a:p>
            <a:endParaRPr lang="es-ES"/>
          </a:p>
        </p:txBody>
      </p:sp>
      <p:sp>
        <p:nvSpPr>
          <p:cNvPr id="7" name="Marcador de número de diapositiva 6"/>
          <p:cNvSpPr>
            <a:spLocks noGrp="1"/>
          </p:cNvSpPr>
          <p:nvPr>
            <p:ph type="sldNum" sz="quarter" idx="5"/>
          </p:nvPr>
        </p:nvSpPr>
        <p:spPr>
          <a:xfrm>
            <a:off x="6905625" y="6513513"/>
            <a:ext cx="5283200" cy="344487"/>
          </a:xfrm>
          <a:prstGeom prst="rect">
            <a:avLst/>
          </a:prstGeom>
        </p:spPr>
        <p:txBody>
          <a:bodyPr vert="horz" lIns="91440" tIns="45720" rIns="91440" bIns="45720" rtlCol="0" anchor="b"/>
          <a:lstStyle>
            <a:lvl1pPr algn="r">
              <a:defRPr sz="1200"/>
            </a:lvl1pPr>
          </a:lstStyle>
          <a:p>
            <a:fld id="{676223B9-C868-4436-87D9-1A3152E1157A}" type="slidenum">
              <a:rPr lang="es-ES" smtClean="0"/>
              <a:t>‹Nº›</a:t>
            </a:fld>
            <a:endParaRPr lang="es-ES"/>
          </a:p>
        </p:txBody>
      </p:sp>
    </p:spTree>
    <p:extLst>
      <p:ext uri="{BB962C8B-B14F-4D97-AF65-F5344CB8AC3E}">
        <p14:creationId xmlns:p14="http://schemas.microsoft.com/office/powerpoint/2010/main" val="283421117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dirty="0"/>
          </a:p>
        </p:txBody>
      </p:sp>
      <p:sp>
        <p:nvSpPr>
          <p:cNvPr id="4" name="Marcador de número de diapositiva 3"/>
          <p:cNvSpPr>
            <a:spLocks noGrp="1"/>
          </p:cNvSpPr>
          <p:nvPr>
            <p:ph type="sldNum" sz="quarter" idx="5"/>
          </p:nvPr>
        </p:nvSpPr>
        <p:spPr/>
        <p:txBody>
          <a:bodyPr/>
          <a:lstStyle/>
          <a:p>
            <a:fld id="{676223B9-C868-4436-87D9-1A3152E1157A}" type="slidenum">
              <a:rPr lang="es-ES" smtClean="0"/>
              <a:t>3</a:t>
            </a:fld>
            <a:endParaRPr lang="es-ES"/>
          </a:p>
        </p:txBody>
      </p:sp>
    </p:spTree>
    <p:extLst>
      <p:ext uri="{BB962C8B-B14F-4D97-AF65-F5344CB8AC3E}">
        <p14:creationId xmlns:p14="http://schemas.microsoft.com/office/powerpoint/2010/main" val="209253237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2B2A21-C6A2-C5B9-2DCA-3754617037C3}"/>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ABC95D30-E081-8AAE-817B-40A03306A70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1A6FC665-BCC5-C316-DC0F-D9DFBC44401F}"/>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4DB17553-B500-6323-E98B-E84BE727295F}"/>
              </a:ext>
            </a:extLst>
          </p:cNvPr>
          <p:cNvSpPr>
            <a:spLocks noGrp="1"/>
          </p:cNvSpPr>
          <p:nvPr>
            <p:ph type="sldNum" sz="quarter" idx="5"/>
          </p:nvPr>
        </p:nvSpPr>
        <p:spPr/>
        <p:txBody>
          <a:bodyPr/>
          <a:lstStyle/>
          <a:p>
            <a:fld id="{676223B9-C868-4436-87D9-1A3152E1157A}" type="slidenum">
              <a:rPr lang="es-ES" smtClean="0"/>
              <a:t>9</a:t>
            </a:fld>
            <a:endParaRPr lang="es-ES"/>
          </a:p>
        </p:txBody>
      </p:sp>
    </p:spTree>
    <p:extLst>
      <p:ext uri="{BB962C8B-B14F-4D97-AF65-F5344CB8AC3E}">
        <p14:creationId xmlns:p14="http://schemas.microsoft.com/office/powerpoint/2010/main" val="253767480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0DDBC6-7EB2-AE62-0F4B-A0A0672ADDB9}"/>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998084C1-6F54-16C8-7D2F-21346675C890}"/>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9E869975-D523-6D26-7FF4-105B03035773}"/>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A0561EB6-B461-33D1-E122-96F4761D22F7}"/>
              </a:ext>
            </a:extLst>
          </p:cNvPr>
          <p:cNvSpPr>
            <a:spLocks noGrp="1"/>
          </p:cNvSpPr>
          <p:nvPr>
            <p:ph type="sldNum" sz="quarter" idx="5"/>
          </p:nvPr>
        </p:nvSpPr>
        <p:spPr/>
        <p:txBody>
          <a:bodyPr/>
          <a:lstStyle/>
          <a:p>
            <a:fld id="{676223B9-C868-4436-87D9-1A3152E1157A}" type="slidenum">
              <a:rPr lang="es-ES" smtClean="0"/>
              <a:t>10</a:t>
            </a:fld>
            <a:endParaRPr lang="es-ES"/>
          </a:p>
        </p:txBody>
      </p:sp>
    </p:spTree>
    <p:extLst>
      <p:ext uri="{BB962C8B-B14F-4D97-AF65-F5344CB8AC3E}">
        <p14:creationId xmlns:p14="http://schemas.microsoft.com/office/powerpoint/2010/main" val="107377314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023B86-D15F-9CD8-C5EA-3EAAD8BACCF7}"/>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5C73881A-26A5-ECF9-C6F2-3DEFA77AEFC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3B7AFC79-4973-3930-959B-AEF8810CFE6A}"/>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8345D0F3-6273-0338-FCDA-175B73D7C9EB}"/>
              </a:ext>
            </a:extLst>
          </p:cNvPr>
          <p:cNvSpPr>
            <a:spLocks noGrp="1"/>
          </p:cNvSpPr>
          <p:nvPr>
            <p:ph type="sldNum" sz="quarter" idx="5"/>
          </p:nvPr>
        </p:nvSpPr>
        <p:spPr/>
        <p:txBody>
          <a:bodyPr/>
          <a:lstStyle/>
          <a:p>
            <a:fld id="{676223B9-C868-4436-87D9-1A3152E1157A}" type="slidenum">
              <a:rPr lang="es-ES" smtClean="0"/>
              <a:t>13</a:t>
            </a:fld>
            <a:endParaRPr lang="es-ES"/>
          </a:p>
        </p:txBody>
      </p:sp>
    </p:spTree>
    <p:extLst>
      <p:ext uri="{BB962C8B-B14F-4D97-AF65-F5344CB8AC3E}">
        <p14:creationId xmlns:p14="http://schemas.microsoft.com/office/powerpoint/2010/main" val="291738271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5.pn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914400" y="2125980"/>
            <a:ext cx="10363200" cy="1440180"/>
          </a:xfrm>
          <a:prstGeom prst="rect">
            <a:avLst/>
          </a:prstGeom>
        </p:spPr>
        <p:txBody>
          <a:bodyPr wrap="square" lIns="0" tIns="0" rIns="0" bIns="0">
            <a:spAutoFit/>
          </a:bodyPr>
          <a:lstStyle>
            <a:lvl1pPr>
              <a:defRPr/>
            </a:lvl1pPr>
          </a:lstStyle>
          <a:p>
            <a:endParaRPr/>
          </a:p>
        </p:txBody>
      </p:sp>
      <p:sp>
        <p:nvSpPr>
          <p:cNvPr id="3" name="Holder 3"/>
          <p:cNvSpPr>
            <a:spLocks noGrp="1"/>
          </p:cNvSpPr>
          <p:nvPr>
            <p:ph type="subTitle" idx="4"/>
          </p:nvPr>
        </p:nvSpPr>
        <p:spPr>
          <a:xfrm>
            <a:off x="1828800" y="3840480"/>
            <a:ext cx="8534400" cy="1714500"/>
          </a:xfrm>
          <a:prstGeom prst="rect">
            <a:avLst/>
          </a:prstGeom>
        </p:spPr>
        <p:txBody>
          <a:bodyPr wrap="square" lIns="0" tIns="0" rIns="0" bIns="0">
            <a:spAutoFit/>
          </a:bodyPr>
          <a:lstStyle>
            <a:lvl1pPr>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‹Nº›</a:t>
            </a:fld>
            <a:endParaRPr/>
          </a:p>
        </p:txBody>
      </p:sp>
      <p:sp>
        <p:nvSpPr>
          <p:cNvPr id="8" name="Holder 4">
            <a:extLst>
              <a:ext uri="{FF2B5EF4-FFF2-40B4-BE49-F238E27FC236}">
                <a16:creationId xmlns:a16="http://schemas.microsoft.com/office/drawing/2014/main" id="{4A8576ED-D269-3C6B-30E8-402BA30F4741}"/>
              </a:ext>
            </a:extLst>
          </p:cNvPr>
          <p:cNvSpPr>
            <a:spLocks noGrp="1"/>
          </p:cNvSpPr>
          <p:nvPr>
            <p:ph type="ftr" sz="quarter" idx="5"/>
          </p:nvPr>
        </p:nvSpPr>
        <p:spPr>
          <a:xfrm>
            <a:off x="5486400" y="6465069"/>
            <a:ext cx="1676400" cy="138499"/>
          </a:xfrm>
          <a:prstGeom prst="rect">
            <a:avLst/>
          </a:prstGeom>
        </p:spPr>
        <p:txBody>
          <a:bodyPr wrap="square" lIns="0" tIns="0" rIns="0" bIns="0">
            <a:spAutoFit/>
          </a:bodyPr>
          <a:lstStyle>
            <a:lvl1pPr>
              <a:defRPr sz="900" b="0" i="0">
                <a:solidFill>
                  <a:srgbClr val="585858"/>
                </a:solidFill>
                <a:latin typeface="Arial"/>
                <a:cs typeface="Arial"/>
              </a:defRPr>
            </a:lvl1pPr>
          </a:lstStyle>
          <a:p>
            <a:pPr marL="12700">
              <a:lnSpc>
                <a:spcPct val="100000"/>
              </a:lnSpc>
              <a:spcBef>
                <a:spcPts val="15"/>
              </a:spcBef>
            </a:pPr>
            <a:r>
              <a:rPr lang="es-ES" spc="-5"/>
              <a:t>LAB 3. INTERFEROMETERS I</a:t>
            </a:r>
            <a:endParaRPr spc="-5"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a:xfrm>
            <a:off x="590550" y="206752"/>
            <a:ext cx="10991850" cy="307777"/>
          </a:xfrm>
        </p:spPr>
        <p:txBody>
          <a:bodyPr lIns="0" tIns="0" rIns="0" bIns="0"/>
          <a:lstStyle>
            <a:lvl1pPr>
              <a:defRPr sz="2000" b="1" i="0">
                <a:solidFill>
                  <a:schemeClr val="tx1"/>
                </a:solidFill>
                <a:latin typeface="Calibri"/>
                <a:cs typeface="Calibri"/>
              </a:defRPr>
            </a:lvl1pPr>
          </a:lstStyle>
          <a:p>
            <a:endParaRPr dirty="0"/>
          </a:p>
        </p:txBody>
      </p:sp>
      <p:sp>
        <p:nvSpPr>
          <p:cNvPr id="3" name="Holder 3"/>
          <p:cNvSpPr>
            <a:spLocks noGrp="1"/>
          </p:cNvSpPr>
          <p:nvPr>
            <p:ph type="body" idx="1"/>
          </p:nvPr>
        </p:nvSpPr>
        <p:spPr>
          <a:xfrm>
            <a:off x="609600" y="2152910"/>
            <a:ext cx="10972800" cy="3950710"/>
          </a:xfrm>
        </p:spPr>
        <p:txBody>
          <a:bodyPr lIns="0" tIns="0" rIns="0" bIns="0"/>
          <a:lstStyle>
            <a:lvl1pPr>
              <a:defRPr/>
            </a:lvl1pPr>
          </a:lstStyle>
          <a:p>
            <a:endParaRPr dirty="0"/>
          </a:p>
        </p:txBody>
      </p:sp>
      <p:sp>
        <p:nvSpPr>
          <p:cNvPr id="4" name="Holder 4"/>
          <p:cNvSpPr>
            <a:spLocks noGrp="1"/>
          </p:cNvSpPr>
          <p:nvPr>
            <p:ph type="ftr" sz="quarter" idx="5"/>
          </p:nvPr>
        </p:nvSpPr>
        <p:spPr>
          <a:xfrm>
            <a:off x="609600" y="6457057"/>
            <a:ext cx="2743200" cy="184666"/>
          </a:xfrm>
        </p:spPr>
        <p:txBody>
          <a:bodyPr lIns="0" tIns="0" rIns="0" bIns="0" anchor="ctr"/>
          <a:lstStyle>
            <a:lvl1pPr>
              <a:defRPr sz="1200" b="0" i="0">
                <a:solidFill>
                  <a:srgbClr val="585858"/>
                </a:solidFill>
                <a:latin typeface="Arial"/>
                <a:cs typeface="Arial"/>
              </a:defRPr>
            </a:lvl1pPr>
          </a:lstStyle>
          <a:p>
            <a:pPr marL="12700">
              <a:spcBef>
                <a:spcPts val="15"/>
              </a:spcBef>
            </a:pPr>
            <a:r>
              <a:rPr lang="es-ES" spc="-5"/>
              <a:t>LAB 3. INTERFEROMETERS I</a:t>
            </a:r>
            <a:endParaRPr lang="es-ES" spc="-5" dirty="0"/>
          </a:p>
        </p:txBody>
      </p:sp>
      <p:sp>
        <p:nvSpPr>
          <p:cNvPr id="6" name="Holder 6"/>
          <p:cNvSpPr>
            <a:spLocks noGrp="1"/>
          </p:cNvSpPr>
          <p:nvPr>
            <p:ph type="sldNum" sz="quarter" idx="7"/>
          </p:nvPr>
        </p:nvSpPr>
        <p:spPr>
          <a:xfrm>
            <a:off x="931164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1600" b="0" i="0">
                <a:solidFill>
                  <a:schemeClr val="tx1"/>
                </a:solidFill>
                <a:latin typeface="Calibri"/>
                <a:cs typeface="Calibri"/>
              </a:defRPr>
            </a:lvl1pPr>
          </a:lstStyle>
          <a:p>
            <a:endParaRPr/>
          </a:p>
        </p:txBody>
      </p:sp>
      <p:sp>
        <p:nvSpPr>
          <p:cNvPr id="3" name="Holder 3"/>
          <p:cNvSpPr>
            <a:spLocks noGrp="1"/>
          </p:cNvSpPr>
          <p:nvPr>
            <p:ph sz="half" idx="2"/>
          </p:nvPr>
        </p:nvSpPr>
        <p:spPr>
          <a:xfrm>
            <a:off x="609600" y="1577340"/>
            <a:ext cx="530352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6278880" y="1577340"/>
            <a:ext cx="5303520" cy="4526280"/>
          </a:xfrm>
          <a:prstGeom prst="rect">
            <a:avLst/>
          </a:prstGeom>
        </p:spPr>
        <p:txBody>
          <a:bodyPr wrap="square" lIns="0" tIns="0" rIns="0" bIns="0">
            <a:spAutoFit/>
          </a:bodyPr>
          <a:lstStyle>
            <a:lvl1pPr>
              <a:defRPr/>
            </a:lvl1pPr>
          </a:lstStyle>
          <a:p>
            <a:endParaRPr/>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‹Nº›</a:t>
            </a:fld>
            <a:endParaRPr/>
          </a:p>
        </p:txBody>
      </p:sp>
      <p:sp>
        <p:nvSpPr>
          <p:cNvPr id="8" name="Holder 4">
            <a:extLst>
              <a:ext uri="{FF2B5EF4-FFF2-40B4-BE49-F238E27FC236}">
                <a16:creationId xmlns:a16="http://schemas.microsoft.com/office/drawing/2014/main" id="{085B3A29-7AE1-3DAD-3BD8-A0E9707EE888}"/>
              </a:ext>
            </a:extLst>
          </p:cNvPr>
          <p:cNvSpPr>
            <a:spLocks noGrp="1"/>
          </p:cNvSpPr>
          <p:nvPr>
            <p:ph type="ftr" sz="quarter" idx="5"/>
          </p:nvPr>
        </p:nvSpPr>
        <p:spPr>
          <a:xfrm>
            <a:off x="5486400" y="6465069"/>
            <a:ext cx="1676400" cy="138499"/>
          </a:xfrm>
          <a:prstGeom prst="rect">
            <a:avLst/>
          </a:prstGeom>
        </p:spPr>
        <p:txBody>
          <a:bodyPr wrap="square" lIns="0" tIns="0" rIns="0" bIns="0">
            <a:spAutoFit/>
          </a:bodyPr>
          <a:lstStyle>
            <a:lvl1pPr>
              <a:defRPr sz="900" b="0" i="0">
                <a:solidFill>
                  <a:srgbClr val="585858"/>
                </a:solidFill>
                <a:latin typeface="Arial"/>
                <a:cs typeface="Arial"/>
              </a:defRPr>
            </a:lvl1pPr>
          </a:lstStyle>
          <a:p>
            <a:pPr marL="12700">
              <a:lnSpc>
                <a:spcPct val="100000"/>
              </a:lnSpc>
              <a:spcBef>
                <a:spcPts val="15"/>
              </a:spcBef>
            </a:pPr>
            <a:r>
              <a:rPr lang="es-ES" spc="-5"/>
              <a:t>LAB 3. INTERFEROMETERS I</a:t>
            </a:r>
            <a:endParaRPr spc="-5"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obj" preserve="1">
  <p:cSld name="Title Only">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0" y="2636520"/>
            <a:ext cx="3944620" cy="1584960"/>
          </a:xfrm>
          <a:custGeom>
            <a:avLst/>
            <a:gdLst/>
            <a:ahLst/>
            <a:cxnLst/>
            <a:rect l="l" t="t" r="r" b="b"/>
            <a:pathLst>
              <a:path w="3944620" h="1584960">
                <a:moveTo>
                  <a:pt x="0" y="1584959"/>
                </a:moveTo>
                <a:lnTo>
                  <a:pt x="3944112" y="1584959"/>
                </a:lnTo>
                <a:lnTo>
                  <a:pt x="3944112" y="0"/>
                </a:lnTo>
                <a:lnTo>
                  <a:pt x="0" y="0"/>
                </a:lnTo>
                <a:lnTo>
                  <a:pt x="0" y="1584959"/>
                </a:lnTo>
                <a:close/>
              </a:path>
            </a:pathLst>
          </a:custGeom>
          <a:solidFill>
            <a:srgbClr val="000000"/>
          </a:solidFill>
        </p:spPr>
        <p:txBody>
          <a:bodyPr wrap="square" lIns="0" tIns="0" rIns="0" bIns="0" rtlCol="0"/>
          <a:lstStyle/>
          <a:p>
            <a:endParaRPr/>
          </a:p>
        </p:txBody>
      </p:sp>
      <p:sp>
        <p:nvSpPr>
          <p:cNvPr id="17" name="bk object 17"/>
          <p:cNvSpPr/>
          <p:nvPr/>
        </p:nvSpPr>
        <p:spPr>
          <a:xfrm>
            <a:off x="771144" y="2951988"/>
            <a:ext cx="2403348" cy="954024"/>
          </a:xfrm>
          <a:prstGeom prst="rect">
            <a:avLst/>
          </a:prstGeom>
          <a:blipFill>
            <a:blip r:embed="rId2" cstate="print"/>
            <a:stretch>
              <a:fillRect/>
            </a:stretch>
          </a:blipFill>
        </p:spPr>
        <p:txBody>
          <a:bodyPr wrap="square" lIns="0" tIns="0" rIns="0" bIns="0" rtlCol="0"/>
          <a:lstStyle/>
          <a:p>
            <a:endParaRPr/>
          </a:p>
        </p:txBody>
      </p:sp>
      <p:sp>
        <p:nvSpPr>
          <p:cNvPr id="2" name="Holder 2"/>
          <p:cNvSpPr>
            <a:spLocks noGrp="1"/>
          </p:cNvSpPr>
          <p:nvPr>
            <p:ph type="title"/>
          </p:nvPr>
        </p:nvSpPr>
        <p:spPr/>
        <p:txBody>
          <a:bodyPr lIns="0" tIns="0" rIns="0" bIns="0"/>
          <a:lstStyle>
            <a:lvl1pPr>
              <a:defRPr sz="1600" b="0" i="0">
                <a:solidFill>
                  <a:schemeClr val="tx1"/>
                </a:solidFill>
                <a:latin typeface="Calibri"/>
                <a:cs typeface="Calibri"/>
              </a:defRPr>
            </a:lvl1pPr>
          </a:lstStyle>
          <a:p>
            <a:endParaRP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5" name="Holder 5"/>
          <p:cNvSpPr>
            <a:spLocks noGrp="1"/>
          </p:cNvSpPr>
          <p:nvPr>
            <p:ph type="sldNum" sz="quarter" idx="7"/>
          </p:nvPr>
        </p:nvSpPr>
        <p:spPr>
          <a:xfrm>
            <a:off x="929640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pic>
        <p:nvPicPr>
          <p:cNvPr id="6" name="Gráfico 5">
            <a:extLst>
              <a:ext uri="{FF2B5EF4-FFF2-40B4-BE49-F238E27FC236}">
                <a16:creationId xmlns:a16="http://schemas.microsoft.com/office/drawing/2014/main" id="{F5CB4B75-CC85-5F87-B13B-97FD63FFBC56}"/>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2891213" y="6357666"/>
            <a:ext cx="6409575" cy="363174"/>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obj" preserve="1">
  <p:cSld name="Blank">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594327" y="4722313"/>
            <a:ext cx="1521016" cy="1253853"/>
          </a:xfrm>
          <a:prstGeom prst="rect">
            <a:avLst/>
          </a:prstGeom>
          <a:blipFill>
            <a:blip r:embed="rId2" cstate="print"/>
            <a:stretch>
              <a:fillRect/>
            </a:stretch>
          </a:blipFill>
        </p:spPr>
        <p:txBody>
          <a:bodyPr wrap="square" lIns="0" tIns="0" rIns="0" bIns="0" rtlCol="0"/>
          <a:lstStyle/>
          <a:p>
            <a:endParaRP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4" name="Holder 4"/>
          <p:cNvSpPr>
            <a:spLocks noGrp="1"/>
          </p:cNvSpPr>
          <p:nvPr>
            <p:ph type="sldNum" sz="quarter" idx="7"/>
          </p:nvPr>
        </p:nvSpPr>
        <p:spPr>
          <a:xfrm>
            <a:off x="937260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pic>
        <p:nvPicPr>
          <p:cNvPr id="5" name="Gráfico 4">
            <a:extLst>
              <a:ext uri="{FF2B5EF4-FFF2-40B4-BE49-F238E27FC236}">
                <a16:creationId xmlns:a16="http://schemas.microsoft.com/office/drawing/2014/main" id="{9F3DE434-B07E-429D-5547-0D42DA9B05A1}"/>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891539" y="5283707"/>
            <a:ext cx="2624328" cy="1574289"/>
          </a:xfrm>
          <a:prstGeom prst="rect">
            <a:avLst/>
          </a:prstGeom>
          <a:blipFill>
            <a:blip r:embed="rId7" cstate="print"/>
            <a:stretch>
              <a:fillRect/>
            </a:stretch>
          </a:blipFill>
        </p:spPr>
        <p:txBody>
          <a:bodyPr wrap="square" lIns="0" tIns="0" rIns="0" bIns="0" rtlCol="0"/>
          <a:lstStyle/>
          <a:p>
            <a:endParaRPr/>
          </a:p>
        </p:txBody>
      </p:sp>
      <p:sp>
        <p:nvSpPr>
          <p:cNvPr id="2" name="Holder 2"/>
          <p:cNvSpPr>
            <a:spLocks noGrp="1"/>
          </p:cNvSpPr>
          <p:nvPr>
            <p:ph type="title"/>
          </p:nvPr>
        </p:nvSpPr>
        <p:spPr>
          <a:xfrm>
            <a:off x="3986910" y="1699005"/>
            <a:ext cx="2599054" cy="269239"/>
          </a:xfrm>
          <a:prstGeom prst="rect">
            <a:avLst/>
          </a:prstGeom>
        </p:spPr>
        <p:txBody>
          <a:bodyPr wrap="square" lIns="0" tIns="0" rIns="0" bIns="0">
            <a:spAutoFit/>
          </a:bodyPr>
          <a:lstStyle>
            <a:lvl1pPr>
              <a:defRPr sz="1600" b="0" i="0">
                <a:solidFill>
                  <a:schemeClr val="tx1"/>
                </a:solidFill>
                <a:latin typeface="Calibri"/>
                <a:cs typeface="Calibri"/>
              </a:defRPr>
            </a:lvl1pPr>
          </a:lstStyle>
          <a:p>
            <a:endParaRPr/>
          </a:p>
        </p:txBody>
      </p:sp>
      <p:sp>
        <p:nvSpPr>
          <p:cNvPr id="3" name="Holder 3"/>
          <p:cNvSpPr>
            <a:spLocks noGrp="1"/>
          </p:cNvSpPr>
          <p:nvPr>
            <p:ph type="body" idx="1"/>
          </p:nvPr>
        </p:nvSpPr>
        <p:spPr>
          <a:xfrm>
            <a:off x="609600" y="1577340"/>
            <a:ext cx="1097280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a:xfrm>
            <a:off x="5486400" y="6465069"/>
            <a:ext cx="1676400" cy="138499"/>
          </a:xfrm>
          <a:prstGeom prst="rect">
            <a:avLst/>
          </a:prstGeom>
        </p:spPr>
        <p:txBody>
          <a:bodyPr wrap="square" lIns="0" tIns="0" rIns="0" bIns="0">
            <a:spAutoFit/>
          </a:bodyPr>
          <a:lstStyle>
            <a:lvl1pPr>
              <a:defRPr sz="900" b="0" i="0">
                <a:solidFill>
                  <a:srgbClr val="585858"/>
                </a:solidFill>
                <a:latin typeface="Arial"/>
                <a:cs typeface="Arial"/>
              </a:defRPr>
            </a:lvl1pPr>
          </a:lstStyle>
          <a:p>
            <a:pPr marL="12700">
              <a:lnSpc>
                <a:spcPct val="100000"/>
              </a:lnSpc>
              <a:spcBef>
                <a:spcPts val="15"/>
              </a:spcBef>
            </a:pPr>
            <a:r>
              <a:rPr lang="es-ES" spc="-5"/>
              <a:t>LAB 3. INTERFEROMETERS I</a:t>
            </a:r>
            <a:endParaRPr spc="-5" dirty="0"/>
          </a:p>
        </p:txBody>
      </p:sp>
      <p:sp>
        <p:nvSpPr>
          <p:cNvPr id="5" name="Holder 5"/>
          <p:cNvSpPr>
            <a:spLocks noGrp="1"/>
          </p:cNvSpPr>
          <p:nvPr>
            <p:ph type="dt" sz="half" idx="6"/>
          </p:nvPr>
        </p:nvSpPr>
        <p:spPr>
          <a:xfrm>
            <a:off x="609600" y="6377940"/>
            <a:ext cx="2804160" cy="342900"/>
          </a:xfrm>
          <a:prstGeom prst="rect">
            <a:avLst/>
          </a:prstGeom>
        </p:spPr>
        <p:txBody>
          <a:bodyPr wrap="square" lIns="0" tIns="0" rIns="0" bIns="0">
            <a:spAutoFit/>
          </a:bodyPr>
          <a:lstStyle>
            <a:lvl1pPr algn="l">
              <a:defRPr>
                <a:solidFill>
                  <a:schemeClr val="tx1">
                    <a:tint val="75000"/>
                  </a:schemeClr>
                </a:solidFill>
              </a:defRPr>
            </a:lvl1pPr>
          </a:lstStyle>
          <a:p>
            <a:endParaRPr lang="en-US"/>
          </a:p>
        </p:txBody>
      </p:sp>
      <p:sp>
        <p:nvSpPr>
          <p:cNvPr id="6" name="Holder 6"/>
          <p:cNvSpPr>
            <a:spLocks noGrp="1"/>
          </p:cNvSpPr>
          <p:nvPr>
            <p:ph type="sldNum" sz="quarter" idx="7"/>
          </p:nvPr>
        </p:nvSpPr>
        <p:spPr>
          <a:xfrm>
            <a:off x="9311640" y="6377940"/>
            <a:ext cx="2804160" cy="342900"/>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t>‹Nº›</a:t>
            </a:fld>
            <a:endParaRPr/>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Lst>
  <p:hf hdr="0" dt="0"/>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8" Type="http://schemas.openxmlformats.org/officeDocument/2006/relationships/image" Target="../media/image10.png"/><Relationship Id="rId3" Type="http://schemas.openxmlformats.org/officeDocument/2006/relationships/image" Target="../media/image4.svg"/><Relationship Id="rId7" Type="http://schemas.openxmlformats.org/officeDocument/2006/relationships/image" Target="../media/image9.png"/><Relationship Id="rId2" Type="http://schemas.openxmlformats.org/officeDocument/2006/relationships/image" Target="../media/image3.png"/><Relationship Id="rId1" Type="http://schemas.openxmlformats.org/officeDocument/2006/relationships/slideLayout" Target="../slideLayouts/slideLayout2.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hyperlink" Target="https://github.com/cccanvas-upv/pic-upv-lab3.git" TargetMode="Externa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image" Target="../media/image4.svg"/></Relationships>
</file>

<file path=ppt/slides/_rels/slide4.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image" Target="../media/image16.png"/><Relationship Id="rId7" Type="http://schemas.openxmlformats.org/officeDocument/2006/relationships/image" Target="../media/image12.png"/><Relationship Id="rId2" Type="http://schemas.openxmlformats.org/officeDocument/2006/relationships/image" Target="../media/image15.png"/><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9" Type="http://schemas.openxmlformats.org/officeDocument/2006/relationships/image" Target="../media/image14.png"/></Relationships>
</file>

<file path=ppt/slides/_rels/slide9.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120.png"/><Relationship Id="rId7" Type="http://schemas.openxmlformats.org/officeDocument/2006/relationships/image" Target="../media/image21.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20.png"/><Relationship Id="rId5" Type="http://schemas.openxmlformats.org/officeDocument/2006/relationships/image" Target="../media/image4.svg"/><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4.svg"/></Relationships>
</file>

<file path=ppt/slides/_rels/slide11.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3.png"/><Relationship Id="rId7" Type="http://schemas.openxmlformats.org/officeDocument/2006/relationships/image" Target="../media/image26.png"/><Relationship Id="rId2" Type="http://schemas.openxmlformats.org/officeDocument/2006/relationships/image" Target="../media/image12.png"/><Relationship Id="rId1" Type="http://schemas.openxmlformats.org/officeDocument/2006/relationships/slideLayout" Target="../slideLayouts/slideLayout2.xml"/><Relationship Id="rId6" Type="http://schemas.openxmlformats.org/officeDocument/2006/relationships/image" Target="../media/image25.png"/><Relationship Id="rId5" Type="http://schemas.openxmlformats.org/officeDocument/2006/relationships/image" Target="../media/image24.png"/><Relationship Id="rId4" Type="http://schemas.openxmlformats.org/officeDocument/2006/relationships/image" Target="../media/image14.png"/></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4.sv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txBox="1"/>
          <p:nvPr/>
        </p:nvSpPr>
        <p:spPr>
          <a:xfrm>
            <a:off x="2749676" y="4919853"/>
            <a:ext cx="8299324" cy="1010533"/>
          </a:xfrm>
          <a:prstGeom prst="rect">
            <a:avLst/>
          </a:prstGeom>
        </p:spPr>
        <p:txBody>
          <a:bodyPr vert="horz" wrap="square" lIns="0" tIns="12700" rIns="0" bIns="0" rtlCol="0">
            <a:spAutoFit/>
          </a:bodyPr>
          <a:lstStyle/>
          <a:p>
            <a:pPr marL="12700">
              <a:lnSpc>
                <a:spcPct val="100000"/>
              </a:lnSpc>
              <a:spcBef>
                <a:spcPts val="100"/>
              </a:spcBef>
            </a:pPr>
            <a:r>
              <a:rPr lang="es-ES" sz="3200" b="1" dirty="0" err="1">
                <a:latin typeface="Lucida Sans"/>
                <a:cs typeface="Lucida Sans"/>
              </a:rPr>
              <a:t>Lab</a:t>
            </a:r>
            <a:r>
              <a:rPr lang="es-ES" sz="3200" b="1" dirty="0">
                <a:latin typeface="Lucida Sans"/>
                <a:cs typeface="Lucida Sans"/>
              </a:rPr>
              <a:t> Book 3. </a:t>
            </a:r>
            <a:r>
              <a:rPr lang="es-ES" sz="3200" b="1" dirty="0" err="1">
                <a:latin typeface="Lucida Sans"/>
                <a:cs typeface="Lucida Sans"/>
              </a:rPr>
              <a:t>Interferometers</a:t>
            </a:r>
            <a:r>
              <a:rPr lang="es-ES" sz="3200" b="1" dirty="0">
                <a:latin typeface="Lucida Sans"/>
                <a:cs typeface="Lucida Sans"/>
              </a:rPr>
              <a:t> I – MZI</a:t>
            </a:r>
          </a:p>
          <a:p>
            <a:pPr marL="12700">
              <a:lnSpc>
                <a:spcPct val="100000"/>
              </a:lnSpc>
              <a:spcBef>
                <a:spcPts val="100"/>
              </a:spcBef>
            </a:pPr>
            <a:endParaRPr sz="3200" dirty="0">
              <a:latin typeface="Lucida Sans"/>
              <a:cs typeface="Lucida Sans"/>
            </a:endParaRPr>
          </a:p>
        </p:txBody>
      </p:sp>
      <p:sp>
        <p:nvSpPr>
          <p:cNvPr id="4" name="object 4"/>
          <p:cNvSpPr txBox="1"/>
          <p:nvPr/>
        </p:nvSpPr>
        <p:spPr>
          <a:xfrm>
            <a:off x="2749676" y="5610250"/>
            <a:ext cx="8223124" cy="289823"/>
          </a:xfrm>
          <a:prstGeom prst="rect">
            <a:avLst/>
          </a:prstGeom>
        </p:spPr>
        <p:txBody>
          <a:bodyPr vert="horz" wrap="square" lIns="0" tIns="12700" rIns="0" bIns="0" rtlCol="0">
            <a:spAutoFit/>
          </a:bodyPr>
          <a:lstStyle/>
          <a:p>
            <a:pPr marL="12700">
              <a:lnSpc>
                <a:spcPct val="100000"/>
              </a:lnSpc>
              <a:spcBef>
                <a:spcPts val="100"/>
              </a:spcBef>
            </a:pPr>
            <a:r>
              <a:rPr lang="es-ES" spc="165" dirty="0" err="1">
                <a:latin typeface="Arial"/>
                <a:cs typeface="Arial"/>
              </a:rPr>
              <a:t>Student</a:t>
            </a:r>
            <a:r>
              <a:rPr lang="es-ES" spc="165" dirty="0">
                <a:latin typeface="Arial"/>
                <a:cs typeface="Arial"/>
              </a:rPr>
              <a:t>: </a:t>
            </a:r>
            <a:endParaRPr sz="1800" dirty="0">
              <a:latin typeface="Arial"/>
              <a:cs typeface="Arial"/>
            </a:endParaRPr>
          </a:p>
        </p:txBody>
      </p:sp>
      <p:sp>
        <p:nvSpPr>
          <p:cNvPr id="5" name="object 5"/>
          <p:cNvSpPr/>
          <p:nvPr/>
        </p:nvSpPr>
        <p:spPr>
          <a:xfrm>
            <a:off x="0" y="0"/>
            <a:ext cx="12192000" cy="4189476"/>
          </a:xfrm>
          <a:prstGeom prst="rect">
            <a:avLst/>
          </a:prstGeom>
          <a:blipFill>
            <a:blip r:embed="rId2" cstate="print"/>
            <a:stretch>
              <a:fillRect/>
            </a:stretch>
          </a:blipFill>
        </p:spPr>
        <p:txBody>
          <a:bodyPr wrap="square" lIns="0" tIns="0" rIns="0" bIns="0" rtlCol="0"/>
          <a:lstStyle/>
          <a:p>
            <a:endParaRPr/>
          </a:p>
        </p:txBody>
      </p:sp>
      <p:sp>
        <p:nvSpPr>
          <p:cNvPr id="7" name="Marcador de número de diapositiva 6">
            <a:extLst>
              <a:ext uri="{FF2B5EF4-FFF2-40B4-BE49-F238E27FC236}">
                <a16:creationId xmlns:a16="http://schemas.microsoft.com/office/drawing/2014/main" id="{F6F66F51-9238-50FE-85C2-BAC3DA79D767}"/>
              </a:ext>
            </a:extLst>
          </p:cNvPr>
          <p:cNvSpPr>
            <a:spLocks noGrp="1"/>
          </p:cNvSpPr>
          <p:nvPr>
            <p:ph type="sldNum" sz="quarter" idx="7"/>
          </p:nvPr>
        </p:nvSpPr>
        <p:spPr/>
        <p:txBody>
          <a:bodyPr/>
          <a:lstStyle/>
          <a:p>
            <a:fld id="{B6F15528-21DE-4FAA-801E-634DDDAF4B2B}" type="slidenum">
              <a:rPr lang="es-ES" smtClean="0"/>
              <a:t>1</a:t>
            </a:fld>
            <a:endParaRPr lang="es-E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48A4D4-C3C4-085B-A7AD-EA04D83F480F}"/>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1B7433F1-7A0E-D925-6140-7305139D053A}"/>
              </a:ext>
            </a:extLst>
          </p:cNvPr>
          <p:cNvSpPr txBox="1">
            <a:spLocks noGrp="1"/>
          </p:cNvSpPr>
          <p:nvPr>
            <p:ph type="title"/>
          </p:nvPr>
        </p:nvSpPr>
        <p:spPr>
          <a:xfrm>
            <a:off x="685800" y="408883"/>
            <a:ext cx="6153785" cy="705321"/>
          </a:xfrm>
          <a:prstGeom prst="rect">
            <a:avLst/>
          </a:prstGeom>
        </p:spPr>
        <p:txBody>
          <a:bodyPr vert="horz" wrap="square" lIns="0" tIns="12700" rIns="0" bIns="0" rtlCol="0">
            <a:spAutoFit/>
          </a:bodyPr>
          <a:lstStyle/>
          <a:p>
            <a:pPr marL="12700">
              <a:lnSpc>
                <a:spcPct val="100000"/>
              </a:lnSpc>
              <a:spcBef>
                <a:spcPts val="100"/>
              </a:spcBef>
            </a:pPr>
            <a:r>
              <a:rPr lang="es-ES" sz="2500" u="sng" spc="-5" dirty="0" err="1">
                <a:latin typeface="+mj-lt"/>
                <a:cs typeface="Lucida Sans"/>
              </a:rPr>
              <a:t>Instructions</a:t>
            </a:r>
            <a:br>
              <a:rPr lang="es-ES" sz="2400" spc="-5" dirty="0">
                <a:latin typeface="+mj-lt"/>
                <a:cs typeface="Lucida Sans"/>
              </a:rPr>
            </a:br>
            <a:r>
              <a:rPr lang="es-ES" b="0" spc="-5" dirty="0">
                <a:latin typeface="+mj-lt"/>
                <a:cs typeface="Lucida Sans"/>
              </a:rPr>
              <a:t>General</a:t>
            </a:r>
            <a:endParaRPr sz="2400" b="0" dirty="0">
              <a:latin typeface="+mj-lt"/>
              <a:cs typeface="Lucida Sans"/>
            </a:endParaRPr>
          </a:p>
        </p:txBody>
      </p:sp>
      <p:pic>
        <p:nvPicPr>
          <p:cNvPr id="83" name="Gráfico 82">
            <a:extLst>
              <a:ext uri="{FF2B5EF4-FFF2-40B4-BE49-F238E27FC236}">
                <a16:creationId xmlns:a16="http://schemas.microsoft.com/office/drawing/2014/main" id="{E518E73B-CE22-A00C-9C86-634FB762EE6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1E163A6B-DFE4-C67D-5F3E-A56ACEF2EA4C}"/>
              </a:ext>
            </a:extLst>
          </p:cNvPr>
          <p:cNvSpPr>
            <a:spLocks noGrp="1"/>
          </p:cNvSpPr>
          <p:nvPr>
            <p:ph type="sldNum" sz="quarter" idx="7"/>
          </p:nvPr>
        </p:nvSpPr>
        <p:spPr/>
        <p:txBody>
          <a:bodyPr/>
          <a:lstStyle/>
          <a:p>
            <a:fld id="{B6F15528-21DE-4FAA-801E-634DDDAF4B2B}" type="slidenum">
              <a:rPr lang="es-ES" smtClean="0"/>
              <a:t>2</a:t>
            </a:fld>
            <a:endParaRPr lang="es-ES"/>
          </a:p>
        </p:txBody>
      </p:sp>
      <p:sp>
        <p:nvSpPr>
          <p:cNvPr id="3" name="Marcador de pie de página 2">
            <a:extLst>
              <a:ext uri="{FF2B5EF4-FFF2-40B4-BE49-F238E27FC236}">
                <a16:creationId xmlns:a16="http://schemas.microsoft.com/office/drawing/2014/main" id="{95FC84FF-30D3-FDAB-0A5A-0F07F8EE1161}"/>
              </a:ext>
            </a:extLst>
          </p:cNvPr>
          <p:cNvSpPr>
            <a:spLocks noGrp="1"/>
          </p:cNvSpPr>
          <p:nvPr>
            <p:ph type="ftr" sz="quarter" idx="5"/>
          </p:nvPr>
        </p:nvSpPr>
        <p:spPr/>
        <p:txBody>
          <a:bodyPr/>
          <a:lstStyle/>
          <a:p>
            <a:pPr marL="12700">
              <a:spcBef>
                <a:spcPts val="15"/>
              </a:spcBef>
            </a:pPr>
            <a:r>
              <a:rPr lang="es-ES" spc="-5"/>
              <a:t>LAB 3. INTERFEROMETERS I</a:t>
            </a:r>
            <a:endParaRPr lang="es-ES" spc="-5" dirty="0"/>
          </a:p>
        </p:txBody>
      </p:sp>
      <p:sp>
        <p:nvSpPr>
          <p:cNvPr id="4" name="Marcador de texto 2">
            <a:extLst>
              <a:ext uri="{FF2B5EF4-FFF2-40B4-BE49-F238E27FC236}">
                <a16:creationId xmlns:a16="http://schemas.microsoft.com/office/drawing/2014/main" id="{9F7BC140-B3D8-C3CB-55AD-9064C7CDE9CA}"/>
              </a:ext>
            </a:extLst>
          </p:cNvPr>
          <p:cNvSpPr txBox="1">
            <a:spLocks/>
          </p:cNvSpPr>
          <p:nvPr/>
        </p:nvSpPr>
        <p:spPr>
          <a:xfrm>
            <a:off x="608011" y="1163263"/>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r>
              <a:rPr lang="en-US" sz="2000" b="1" kern="0" dirty="0">
                <a:solidFill>
                  <a:sysClr val="windowText" lastClr="000000"/>
                </a:solidFill>
              </a:rPr>
              <a:t>SOFTWARE</a:t>
            </a:r>
          </a:p>
          <a:p>
            <a:pPr marL="342900" indent="-342900">
              <a:buFont typeface="Arial" panose="020B0604020202020204" pitchFamily="34" charset="0"/>
              <a:buChar char="•"/>
            </a:pPr>
            <a:r>
              <a:rPr lang="en-US" kern="0" dirty="0">
                <a:solidFill>
                  <a:sysClr val="windowText" lastClr="000000"/>
                </a:solidFill>
              </a:rPr>
              <a:t>Python notebook supplied by instructors</a:t>
            </a:r>
            <a:endParaRPr lang="en-US" kern="0" dirty="0">
              <a:solidFill>
                <a:sysClr val="windowText" lastClr="000000"/>
              </a:solidFill>
              <a:sym typeface="Wingdings" pitchFamily="2" charset="2"/>
            </a:endParaRPr>
          </a:p>
          <a:p>
            <a:pPr algn="just"/>
            <a:endParaRPr lang="en-US" sz="2000" b="1" kern="0" dirty="0">
              <a:solidFill>
                <a:sysClr val="windowText" lastClr="000000"/>
              </a:solidFill>
              <a:sym typeface="Wingdings" pitchFamily="2" charset="2"/>
            </a:endParaRPr>
          </a:p>
          <a:p>
            <a:pPr algn="just"/>
            <a:r>
              <a:rPr lang="en-US" sz="2000" b="1" kern="0" dirty="0">
                <a:solidFill>
                  <a:sysClr val="windowText" lastClr="000000"/>
                </a:solidFill>
                <a:sym typeface="Wingdings" pitchFamily="2" charset="2"/>
              </a:rPr>
              <a:t>SCRIPTS</a:t>
            </a:r>
          </a:p>
          <a:p>
            <a:pPr marL="342900" indent="-342900" algn="just">
              <a:buFont typeface="Arial" panose="020B0604020202020204" pitchFamily="34" charset="0"/>
              <a:buChar char="•"/>
            </a:pPr>
            <a:r>
              <a:rPr lang="en-US" kern="0" dirty="0">
                <a:solidFill>
                  <a:sysClr val="windowText" lastClr="000000"/>
                </a:solidFill>
                <a:sym typeface="Wingdings" pitchFamily="2" charset="2"/>
              </a:rPr>
              <a:t>From </a:t>
            </a:r>
            <a:r>
              <a:rPr lang="en-US" kern="0" dirty="0" err="1">
                <a:solidFill>
                  <a:sysClr val="windowText" lastClr="000000"/>
                </a:solidFill>
                <a:sym typeface="Wingdings" pitchFamily="2" charset="2"/>
              </a:rPr>
              <a:t>Poliformat</a:t>
            </a:r>
            <a:r>
              <a:rPr lang="en-US" kern="0" dirty="0">
                <a:solidFill>
                  <a:sysClr val="windowText" lastClr="000000"/>
                </a:solidFill>
                <a:sym typeface="Wingdings" pitchFamily="2" charset="2"/>
              </a:rPr>
              <a:t>  download the 030_INTERFEROMETERS_v2025_Student_UPDATE2.ipynb</a:t>
            </a:r>
          </a:p>
          <a:p>
            <a:pPr marL="342900" indent="-342900" algn="just">
              <a:buFont typeface="Arial" panose="020B0604020202020204" pitchFamily="34" charset="0"/>
              <a:buChar char="•"/>
            </a:pPr>
            <a:r>
              <a:rPr lang="es-ES" dirty="0">
                <a:hlinkClick r:id="rId4" tooltip="https://github.com/cccanvas-upv/pic-upv-lab3.git"/>
              </a:rPr>
              <a:t>https://github.com/cccanvas-upv/pic-upv-lab3.git</a:t>
            </a:r>
            <a:endParaRPr lang="en-US" kern="0" dirty="0">
              <a:solidFill>
                <a:sysClr val="windowText" lastClr="000000"/>
              </a:solidFill>
              <a:sym typeface="Wingdings" pitchFamily="2" charset="2"/>
            </a:endParaRPr>
          </a:p>
          <a:p>
            <a:pPr algn="just"/>
            <a:endParaRPr lang="en-US" b="1" i="1" dirty="0"/>
          </a:p>
          <a:p>
            <a:pPr algn="just"/>
            <a:r>
              <a:rPr lang="en-US" b="1" i="1" dirty="0"/>
              <a:t>COMPONENT </a:t>
            </a:r>
            <a:r>
              <a:rPr lang="en-US" i="1" dirty="0"/>
              <a:t>to be studied: Mach-</a:t>
            </a:r>
            <a:r>
              <a:rPr lang="en-US" i="1" dirty="0" err="1"/>
              <a:t>Zendher</a:t>
            </a:r>
            <a:r>
              <a:rPr lang="en-US" i="1" dirty="0"/>
              <a:t> Interferometer (MZI)</a:t>
            </a:r>
            <a:endParaRPr lang="en-US" b="1" i="1" dirty="0"/>
          </a:p>
          <a:p>
            <a:pPr algn="just"/>
            <a:endParaRPr lang="en-US" sz="2000" b="1" i="1" dirty="0"/>
          </a:p>
          <a:p>
            <a:pPr algn="just"/>
            <a:endParaRPr lang="en-US" sz="2000" kern="0" dirty="0">
              <a:solidFill>
                <a:sysClr val="windowText" lastClr="000000"/>
              </a:solidFill>
            </a:endParaRPr>
          </a:p>
        </p:txBody>
      </p:sp>
      <p:sp>
        <p:nvSpPr>
          <p:cNvPr id="6" name="Rectángulo 5">
            <a:extLst>
              <a:ext uri="{FF2B5EF4-FFF2-40B4-BE49-F238E27FC236}">
                <a16:creationId xmlns:a16="http://schemas.microsoft.com/office/drawing/2014/main" id="{35FA208B-932F-D4ED-88E9-25FD18EC7B01}"/>
              </a:ext>
            </a:extLst>
          </p:cNvPr>
          <p:cNvSpPr/>
          <p:nvPr/>
        </p:nvSpPr>
        <p:spPr>
          <a:xfrm>
            <a:off x="4561100" y="4664608"/>
            <a:ext cx="3222171" cy="47897"/>
          </a:xfrm>
          <a:prstGeom prst="rec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solidFill>
                <a:schemeClr val="bg1">
                  <a:lumMod val="65000"/>
                </a:schemeClr>
              </a:solidFill>
            </a:endParaRPr>
          </a:p>
        </p:txBody>
      </p:sp>
      <p:sp>
        <p:nvSpPr>
          <p:cNvPr id="13" name="Rectángulo 12">
            <a:extLst>
              <a:ext uri="{FF2B5EF4-FFF2-40B4-BE49-F238E27FC236}">
                <a16:creationId xmlns:a16="http://schemas.microsoft.com/office/drawing/2014/main" id="{C4EDD22A-FE36-2345-71E2-5ADFA2129F2D}"/>
              </a:ext>
            </a:extLst>
          </p:cNvPr>
          <p:cNvSpPr/>
          <p:nvPr/>
        </p:nvSpPr>
        <p:spPr>
          <a:xfrm>
            <a:off x="4561099" y="5095683"/>
            <a:ext cx="3222171" cy="47897"/>
          </a:xfrm>
          <a:prstGeom prst="rec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solidFill>
                <a:schemeClr val="bg1">
                  <a:lumMod val="65000"/>
                </a:schemeClr>
              </a:solidFill>
            </a:endParaRPr>
          </a:p>
        </p:txBody>
      </p:sp>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0D94160E-A324-6E21-DC14-0EE2D556E973}"/>
                  </a:ext>
                </a:extLst>
              </p:cNvPr>
              <p:cNvSpPr txBox="1"/>
              <p:nvPr/>
            </p:nvSpPr>
            <p:spPr>
              <a:xfrm>
                <a:off x="5634197" y="4293214"/>
                <a:ext cx="1245321" cy="369332"/>
              </a:xfrm>
              <a:prstGeom prst="rect">
                <a:avLst/>
              </a:prstGeom>
              <a:noFill/>
            </p:spPr>
            <p:txBody>
              <a:bodyPr wrap="square" rtlCol="0">
                <a:spAutoFit/>
              </a:bodyPr>
              <a:lstStyle/>
              <a:p>
                <a:pPr algn="ctr"/>
                <a14:m>
                  <m:oMath xmlns:m="http://schemas.openxmlformats.org/officeDocument/2006/math">
                    <m:sSub>
                      <m:sSubPr>
                        <m:ctrlPr>
                          <a:rPr lang="en-US" i="1" dirty="0" smtClean="0">
                            <a:solidFill>
                              <a:schemeClr val="tx1"/>
                            </a:solidFill>
                            <a:latin typeface="Cambria Math" panose="02040503050406030204" pitchFamily="18" charset="0"/>
                          </a:rPr>
                        </m:ctrlPr>
                      </m:sSubPr>
                      <m:e>
                        <m:r>
                          <a:rPr lang="es-ES" b="0" i="1" dirty="0" smtClean="0">
                            <a:solidFill>
                              <a:schemeClr val="tx1"/>
                            </a:solidFill>
                            <a:latin typeface="Cambria Math" panose="02040503050406030204" pitchFamily="18" charset="0"/>
                          </a:rPr>
                          <m:t>𝛽</m:t>
                        </m:r>
                      </m:e>
                      <m:sub>
                        <m:r>
                          <a:rPr lang="es-ES" b="0" i="1" dirty="0" smtClean="0">
                            <a:solidFill>
                              <a:schemeClr val="tx1"/>
                            </a:solidFill>
                            <a:latin typeface="Cambria Math" panose="02040503050406030204" pitchFamily="18" charset="0"/>
                          </a:rPr>
                          <m:t>𝑢</m:t>
                        </m:r>
                      </m:sub>
                    </m:sSub>
                  </m:oMath>
                </a14:m>
                <a:r>
                  <a:rPr lang="en-US" dirty="0">
                    <a:solidFill>
                      <a:schemeClr val="tx1"/>
                    </a:solidFill>
                  </a:rPr>
                  <a:t>, </a:t>
                </a:r>
                <a14:m>
                  <m:oMath xmlns:m="http://schemas.openxmlformats.org/officeDocument/2006/math">
                    <m:sSub>
                      <m:sSubPr>
                        <m:ctrlPr>
                          <a:rPr lang="en-US" i="1" dirty="0">
                            <a:solidFill>
                              <a:schemeClr val="tx1"/>
                            </a:solidFill>
                            <a:latin typeface="Cambria Math" panose="02040503050406030204" pitchFamily="18" charset="0"/>
                          </a:rPr>
                        </m:ctrlPr>
                      </m:sSubPr>
                      <m:e>
                        <m:r>
                          <a:rPr lang="es-ES" b="0" i="1" dirty="0" smtClean="0">
                            <a:solidFill>
                              <a:schemeClr val="tx1"/>
                            </a:solidFill>
                            <a:latin typeface="Cambria Math" panose="02040503050406030204" pitchFamily="18" charset="0"/>
                          </a:rPr>
                          <m:t>𝐿</m:t>
                        </m:r>
                      </m:e>
                      <m:sub>
                        <m:r>
                          <a:rPr lang="es-ES" i="1" dirty="0">
                            <a:solidFill>
                              <a:schemeClr val="tx1"/>
                            </a:solidFill>
                            <a:latin typeface="Cambria Math" panose="02040503050406030204" pitchFamily="18" charset="0"/>
                          </a:rPr>
                          <m:t>𝑢</m:t>
                        </m:r>
                      </m:sub>
                    </m:sSub>
                  </m:oMath>
                </a14:m>
                <a:r>
                  <a:rPr lang="en-US" dirty="0">
                    <a:solidFill>
                      <a:schemeClr val="tx1"/>
                    </a:solidFill>
                  </a:rPr>
                  <a:t> </a:t>
                </a:r>
              </a:p>
            </p:txBody>
          </p:sp>
        </mc:Choice>
        <mc:Fallback xmlns="">
          <p:sp>
            <p:nvSpPr>
              <p:cNvPr id="22" name="CuadroTexto 21">
                <a:extLst>
                  <a:ext uri="{FF2B5EF4-FFF2-40B4-BE49-F238E27FC236}">
                    <a16:creationId xmlns:a16="http://schemas.microsoft.com/office/drawing/2014/main" id="{0D94160E-A324-6E21-DC14-0EE2D556E973}"/>
                  </a:ext>
                </a:extLst>
              </p:cNvPr>
              <p:cNvSpPr txBox="1">
                <a:spLocks noRot="1" noChangeAspect="1" noMove="1" noResize="1" noEditPoints="1" noAdjustHandles="1" noChangeArrowheads="1" noChangeShapeType="1" noTextEdit="1"/>
              </p:cNvSpPr>
              <p:nvPr/>
            </p:nvSpPr>
            <p:spPr>
              <a:xfrm>
                <a:off x="5634197" y="4293214"/>
                <a:ext cx="1245321" cy="369332"/>
              </a:xfrm>
              <a:prstGeom prst="rect">
                <a:avLst/>
              </a:prstGeom>
              <a:blipFill>
                <a:blip r:embed="rId5"/>
                <a:stretch>
                  <a:fillRect t="-8197" b="-24590"/>
                </a:stretch>
              </a:blipFill>
            </p:spPr>
            <p:txBody>
              <a:bodyPr/>
              <a:lstStyle/>
              <a:p>
                <a:r>
                  <a:rPr lang="es-ES">
                    <a:noFill/>
                  </a:rPr>
                  <a:t> </a:t>
                </a:r>
              </a:p>
            </p:txBody>
          </p:sp>
        </mc:Fallback>
      </mc:AlternateContent>
      <p:sp>
        <p:nvSpPr>
          <p:cNvPr id="14" name="Rectángulo 13">
            <a:extLst>
              <a:ext uri="{FF2B5EF4-FFF2-40B4-BE49-F238E27FC236}">
                <a16:creationId xmlns:a16="http://schemas.microsoft.com/office/drawing/2014/main" id="{ECE69EBF-757C-A9D1-FFC8-627784359781}"/>
              </a:ext>
            </a:extLst>
          </p:cNvPr>
          <p:cNvSpPr/>
          <p:nvPr/>
        </p:nvSpPr>
        <p:spPr>
          <a:xfrm>
            <a:off x="2642165" y="4667484"/>
            <a:ext cx="1886532" cy="47897"/>
          </a:xfrm>
          <a:prstGeom prst="rec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solidFill>
                <a:schemeClr val="bg1">
                  <a:lumMod val="65000"/>
                </a:schemeClr>
              </a:solidFill>
            </a:endParaRPr>
          </a:p>
        </p:txBody>
      </p:sp>
      <p:sp>
        <p:nvSpPr>
          <p:cNvPr id="15" name="Rectángulo 14">
            <a:extLst>
              <a:ext uri="{FF2B5EF4-FFF2-40B4-BE49-F238E27FC236}">
                <a16:creationId xmlns:a16="http://schemas.microsoft.com/office/drawing/2014/main" id="{EE13A858-EE2A-8624-F13C-636DED623D27}"/>
              </a:ext>
            </a:extLst>
          </p:cNvPr>
          <p:cNvSpPr/>
          <p:nvPr/>
        </p:nvSpPr>
        <p:spPr>
          <a:xfrm>
            <a:off x="2642164" y="5098559"/>
            <a:ext cx="1886532" cy="47897"/>
          </a:xfrm>
          <a:prstGeom prst="rec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solidFill>
                <a:schemeClr val="bg1">
                  <a:lumMod val="65000"/>
                </a:schemeClr>
              </a:solidFill>
            </a:endParaRPr>
          </a:p>
        </p:txBody>
      </p:sp>
      <p:sp>
        <p:nvSpPr>
          <p:cNvPr id="19" name="Rectángulo 18">
            <a:extLst>
              <a:ext uri="{FF2B5EF4-FFF2-40B4-BE49-F238E27FC236}">
                <a16:creationId xmlns:a16="http://schemas.microsoft.com/office/drawing/2014/main" id="{C1076A0B-8DBA-DB5F-DC0F-1CF449A81D38}"/>
              </a:ext>
            </a:extLst>
          </p:cNvPr>
          <p:cNvSpPr/>
          <p:nvPr/>
        </p:nvSpPr>
        <p:spPr>
          <a:xfrm>
            <a:off x="2856086" y="4458476"/>
            <a:ext cx="1375954" cy="914400"/>
          </a:xfrm>
          <a:prstGeom prst="rect">
            <a:avLst/>
          </a:prstGeom>
        </p:spPr>
        <p:style>
          <a:lnRef idx="0">
            <a:schemeClr val="accent6"/>
          </a:lnRef>
          <a:fillRef idx="3">
            <a:schemeClr val="accent6"/>
          </a:fillRef>
          <a:effectRef idx="3">
            <a:schemeClr val="accent6"/>
          </a:effectRef>
          <a:fontRef idx="minor">
            <a:schemeClr val="lt1"/>
          </a:fontRef>
        </p:style>
        <p:txBody>
          <a:bodyPr rtlCol="0" anchor="ctr"/>
          <a:lstStyle/>
          <a:p>
            <a:pPr algn="ctr"/>
            <a:endParaRPr lang="en-US">
              <a:solidFill>
                <a:schemeClr val="bg1">
                  <a:lumMod val="65000"/>
                </a:schemeClr>
              </a:solidFill>
            </a:endParaRPr>
          </a:p>
        </p:txBody>
      </p:sp>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EF5E72A5-F125-01A3-6239-44DD988AC98A}"/>
                  </a:ext>
                </a:extLst>
              </p:cNvPr>
              <p:cNvSpPr txBox="1"/>
              <p:nvPr/>
            </p:nvSpPr>
            <p:spPr>
              <a:xfrm>
                <a:off x="2919955" y="4694053"/>
                <a:ext cx="1291674"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s-ES" b="0" i="1" smtClean="0">
                              <a:solidFill>
                                <a:schemeClr val="tx1"/>
                              </a:solidFill>
                              <a:latin typeface="Cambria Math" panose="02040503050406030204" pitchFamily="18" charset="0"/>
                            </a:rPr>
                          </m:ctrlPr>
                        </m:sSubPr>
                        <m:e>
                          <m:r>
                            <a:rPr lang="es-ES" b="0" i="1" smtClean="0">
                              <a:solidFill>
                                <a:schemeClr val="tx1"/>
                              </a:solidFill>
                              <a:latin typeface="Cambria Math" panose="02040503050406030204" pitchFamily="18" charset="0"/>
                            </a:rPr>
                            <m:t>𝑘</m:t>
                          </m:r>
                        </m:e>
                        <m:sub>
                          <m:r>
                            <a:rPr lang="es-ES" b="0" i="1" smtClean="0">
                              <a:solidFill>
                                <a:schemeClr val="tx1"/>
                              </a:solidFill>
                              <a:latin typeface="Cambria Math" panose="02040503050406030204" pitchFamily="18" charset="0"/>
                            </a:rPr>
                            <m:t>𝑎</m:t>
                          </m:r>
                        </m:sub>
                      </m:sSub>
                    </m:oMath>
                  </m:oMathPara>
                </a14:m>
                <a:endParaRPr lang="en-US" dirty="0">
                  <a:solidFill>
                    <a:schemeClr val="tx1"/>
                  </a:solidFill>
                </a:endParaRPr>
              </a:p>
            </p:txBody>
          </p:sp>
        </mc:Choice>
        <mc:Fallback xmlns="">
          <p:sp>
            <p:nvSpPr>
              <p:cNvPr id="20" name="CuadroTexto 19">
                <a:extLst>
                  <a:ext uri="{FF2B5EF4-FFF2-40B4-BE49-F238E27FC236}">
                    <a16:creationId xmlns:a16="http://schemas.microsoft.com/office/drawing/2014/main" id="{EF5E72A5-F125-01A3-6239-44DD988AC98A}"/>
                  </a:ext>
                </a:extLst>
              </p:cNvPr>
              <p:cNvSpPr txBox="1">
                <a:spLocks noRot="1" noChangeAspect="1" noMove="1" noResize="1" noEditPoints="1" noAdjustHandles="1" noChangeArrowheads="1" noChangeShapeType="1" noTextEdit="1"/>
              </p:cNvSpPr>
              <p:nvPr/>
            </p:nvSpPr>
            <p:spPr>
              <a:xfrm>
                <a:off x="2919955" y="4694053"/>
                <a:ext cx="1291674" cy="369332"/>
              </a:xfrm>
              <a:prstGeom prst="rect">
                <a:avLst/>
              </a:prstGeom>
              <a:blipFill>
                <a:blip r:embed="rId6"/>
                <a:stretch>
                  <a:fillRect/>
                </a:stretch>
              </a:blipFill>
            </p:spPr>
            <p:txBody>
              <a:bodyPr/>
              <a:lstStyle/>
              <a:p>
                <a:r>
                  <a:rPr lang="es-ES">
                    <a:noFill/>
                  </a:rPr>
                  <a:t> </a:t>
                </a:r>
              </a:p>
            </p:txBody>
          </p:sp>
        </mc:Fallback>
      </mc:AlternateContent>
      <p:sp>
        <p:nvSpPr>
          <p:cNvPr id="24" name="CuadroTexto 23">
            <a:extLst>
              <a:ext uri="{FF2B5EF4-FFF2-40B4-BE49-F238E27FC236}">
                <a16:creationId xmlns:a16="http://schemas.microsoft.com/office/drawing/2014/main" id="{E82D8A99-C12E-9B5A-D44F-DC39CF2187E7}"/>
              </a:ext>
            </a:extLst>
          </p:cNvPr>
          <p:cNvSpPr txBox="1"/>
          <p:nvPr/>
        </p:nvSpPr>
        <p:spPr>
          <a:xfrm>
            <a:off x="1422486" y="4934965"/>
            <a:ext cx="1245321" cy="369332"/>
          </a:xfrm>
          <a:prstGeom prst="rect">
            <a:avLst/>
          </a:prstGeom>
          <a:noFill/>
        </p:spPr>
        <p:txBody>
          <a:bodyPr wrap="square" rtlCol="0">
            <a:spAutoFit/>
          </a:bodyPr>
          <a:lstStyle/>
          <a:p>
            <a:pPr algn="r"/>
            <a:r>
              <a:rPr lang="en-US" dirty="0">
                <a:solidFill>
                  <a:schemeClr val="bg1">
                    <a:lumMod val="65000"/>
                  </a:schemeClr>
                </a:solidFill>
              </a:rPr>
              <a:t>In1</a:t>
            </a:r>
          </a:p>
        </p:txBody>
      </p:sp>
      <p:sp>
        <p:nvSpPr>
          <p:cNvPr id="25" name="CuadroTexto 24">
            <a:extLst>
              <a:ext uri="{FF2B5EF4-FFF2-40B4-BE49-F238E27FC236}">
                <a16:creationId xmlns:a16="http://schemas.microsoft.com/office/drawing/2014/main" id="{AF3AEF45-E8B3-D1F2-8A9B-3A0585B1DA38}"/>
              </a:ext>
            </a:extLst>
          </p:cNvPr>
          <p:cNvSpPr txBox="1"/>
          <p:nvPr/>
        </p:nvSpPr>
        <p:spPr>
          <a:xfrm>
            <a:off x="1438475" y="4491415"/>
            <a:ext cx="1245321" cy="369332"/>
          </a:xfrm>
          <a:prstGeom prst="rect">
            <a:avLst/>
          </a:prstGeom>
          <a:noFill/>
        </p:spPr>
        <p:txBody>
          <a:bodyPr wrap="square" rtlCol="0">
            <a:spAutoFit/>
          </a:bodyPr>
          <a:lstStyle/>
          <a:p>
            <a:pPr algn="r"/>
            <a:r>
              <a:rPr lang="en-US" dirty="0">
                <a:solidFill>
                  <a:schemeClr val="bg1">
                    <a:lumMod val="65000"/>
                  </a:schemeClr>
                </a:solidFill>
              </a:rPr>
              <a:t>In2</a:t>
            </a:r>
          </a:p>
        </p:txBody>
      </p:sp>
      <p:sp>
        <p:nvSpPr>
          <p:cNvPr id="17" name="Rectángulo 16">
            <a:extLst>
              <a:ext uri="{FF2B5EF4-FFF2-40B4-BE49-F238E27FC236}">
                <a16:creationId xmlns:a16="http://schemas.microsoft.com/office/drawing/2014/main" id="{6C1DD7CE-5AFF-6AAD-ABB0-7F12BBFDC181}"/>
              </a:ext>
            </a:extLst>
          </p:cNvPr>
          <p:cNvSpPr/>
          <p:nvPr/>
        </p:nvSpPr>
        <p:spPr>
          <a:xfrm>
            <a:off x="7822666" y="4652133"/>
            <a:ext cx="1818832" cy="47897"/>
          </a:xfrm>
          <a:prstGeom prst="rec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solidFill>
                <a:schemeClr val="bg1">
                  <a:lumMod val="65000"/>
                </a:schemeClr>
              </a:solidFill>
            </a:endParaRPr>
          </a:p>
        </p:txBody>
      </p:sp>
      <p:sp>
        <p:nvSpPr>
          <p:cNvPr id="18" name="Rectángulo 17">
            <a:extLst>
              <a:ext uri="{FF2B5EF4-FFF2-40B4-BE49-F238E27FC236}">
                <a16:creationId xmlns:a16="http://schemas.microsoft.com/office/drawing/2014/main" id="{BF18895E-AB87-954B-BE18-94A83ABEF83B}"/>
              </a:ext>
            </a:extLst>
          </p:cNvPr>
          <p:cNvSpPr/>
          <p:nvPr/>
        </p:nvSpPr>
        <p:spPr>
          <a:xfrm>
            <a:off x="7822665" y="5083208"/>
            <a:ext cx="1818832" cy="47897"/>
          </a:xfrm>
          <a:prstGeom prst="rec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solidFill>
                <a:schemeClr val="bg1">
                  <a:lumMod val="65000"/>
                </a:schemeClr>
              </a:solidFill>
            </a:endParaRPr>
          </a:p>
        </p:txBody>
      </p:sp>
      <p:sp>
        <p:nvSpPr>
          <p:cNvPr id="21" name="Rectángulo 20">
            <a:extLst>
              <a:ext uri="{FF2B5EF4-FFF2-40B4-BE49-F238E27FC236}">
                <a16:creationId xmlns:a16="http://schemas.microsoft.com/office/drawing/2014/main" id="{EC9EBD3D-98EF-BFF4-3EF2-FB53BDFDC1B9}"/>
              </a:ext>
            </a:extLst>
          </p:cNvPr>
          <p:cNvSpPr/>
          <p:nvPr/>
        </p:nvSpPr>
        <p:spPr>
          <a:xfrm>
            <a:off x="8037575" y="4467074"/>
            <a:ext cx="1375954" cy="914400"/>
          </a:xfrm>
          <a:prstGeom prst="rect">
            <a:avLst/>
          </a:prstGeom>
        </p:spPr>
        <p:style>
          <a:lnRef idx="0">
            <a:schemeClr val="accent6"/>
          </a:lnRef>
          <a:fillRef idx="3">
            <a:schemeClr val="accent6"/>
          </a:fillRef>
          <a:effectRef idx="3">
            <a:schemeClr val="accent6"/>
          </a:effectRef>
          <a:fontRef idx="minor">
            <a:schemeClr val="lt1"/>
          </a:fontRef>
        </p:style>
        <p:txBody>
          <a:bodyPr rtlCol="0" anchor="ctr"/>
          <a:lstStyle/>
          <a:p>
            <a:pPr algn="ctr"/>
            <a:endParaRPr lang="en-US">
              <a:solidFill>
                <a:schemeClr val="bg1">
                  <a:lumMod val="65000"/>
                </a:schemeClr>
              </a:solidFill>
            </a:endParaRPr>
          </a:p>
        </p:txBody>
      </p:sp>
      <p:sp>
        <p:nvSpPr>
          <p:cNvPr id="34" name="CuadroTexto 33">
            <a:extLst>
              <a:ext uri="{FF2B5EF4-FFF2-40B4-BE49-F238E27FC236}">
                <a16:creationId xmlns:a16="http://schemas.microsoft.com/office/drawing/2014/main" id="{1C2F6896-54D4-8706-AA99-764079F2D35D}"/>
              </a:ext>
            </a:extLst>
          </p:cNvPr>
          <p:cNvSpPr txBox="1"/>
          <p:nvPr/>
        </p:nvSpPr>
        <p:spPr>
          <a:xfrm>
            <a:off x="9659709" y="4916768"/>
            <a:ext cx="1245321" cy="369332"/>
          </a:xfrm>
          <a:prstGeom prst="rect">
            <a:avLst/>
          </a:prstGeom>
          <a:noFill/>
        </p:spPr>
        <p:txBody>
          <a:bodyPr wrap="square" rtlCol="0">
            <a:spAutoFit/>
          </a:bodyPr>
          <a:lstStyle/>
          <a:p>
            <a:r>
              <a:rPr lang="en-US" dirty="0">
                <a:solidFill>
                  <a:schemeClr val="bg1">
                    <a:lumMod val="65000"/>
                  </a:schemeClr>
                </a:solidFill>
              </a:rPr>
              <a:t>Out1</a:t>
            </a:r>
          </a:p>
        </p:txBody>
      </p:sp>
      <p:sp>
        <p:nvSpPr>
          <p:cNvPr id="36" name="CuadroTexto 35">
            <a:extLst>
              <a:ext uri="{FF2B5EF4-FFF2-40B4-BE49-F238E27FC236}">
                <a16:creationId xmlns:a16="http://schemas.microsoft.com/office/drawing/2014/main" id="{5006711D-654E-EB6C-E90D-0190AA8EE20A}"/>
              </a:ext>
            </a:extLst>
          </p:cNvPr>
          <p:cNvSpPr txBox="1"/>
          <p:nvPr/>
        </p:nvSpPr>
        <p:spPr>
          <a:xfrm>
            <a:off x="9680893" y="4458476"/>
            <a:ext cx="1245321" cy="369332"/>
          </a:xfrm>
          <a:prstGeom prst="rect">
            <a:avLst/>
          </a:prstGeom>
          <a:noFill/>
        </p:spPr>
        <p:txBody>
          <a:bodyPr wrap="square" rtlCol="0">
            <a:spAutoFit/>
          </a:bodyPr>
          <a:lstStyle/>
          <a:p>
            <a:r>
              <a:rPr lang="en-US" dirty="0">
                <a:solidFill>
                  <a:schemeClr val="bg1">
                    <a:lumMod val="65000"/>
                  </a:schemeClr>
                </a:solidFill>
              </a:rPr>
              <a:t>Out2</a:t>
            </a:r>
          </a:p>
        </p:txBody>
      </p:sp>
      <mc:AlternateContent xmlns:mc="http://schemas.openxmlformats.org/markup-compatibility/2006" xmlns:a14="http://schemas.microsoft.com/office/drawing/2010/main">
        <mc:Choice Requires="a14">
          <p:sp>
            <p:nvSpPr>
              <p:cNvPr id="39" name="CuadroTexto 38">
                <a:extLst>
                  <a:ext uri="{FF2B5EF4-FFF2-40B4-BE49-F238E27FC236}">
                    <a16:creationId xmlns:a16="http://schemas.microsoft.com/office/drawing/2014/main" id="{979C4EB3-5014-92C7-FAAB-64D3285CF6AC}"/>
                  </a:ext>
                </a:extLst>
              </p:cNvPr>
              <p:cNvSpPr txBox="1"/>
              <p:nvPr/>
            </p:nvSpPr>
            <p:spPr>
              <a:xfrm>
                <a:off x="8119322" y="4706953"/>
                <a:ext cx="1291674"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s-ES" b="0" i="1" smtClean="0">
                              <a:solidFill>
                                <a:schemeClr val="tx1"/>
                              </a:solidFill>
                              <a:latin typeface="Cambria Math" panose="02040503050406030204" pitchFamily="18" charset="0"/>
                            </a:rPr>
                          </m:ctrlPr>
                        </m:sSubPr>
                        <m:e>
                          <m:r>
                            <a:rPr lang="es-ES" b="0" i="1" smtClean="0">
                              <a:solidFill>
                                <a:schemeClr val="tx1"/>
                              </a:solidFill>
                              <a:latin typeface="Cambria Math" panose="02040503050406030204" pitchFamily="18" charset="0"/>
                            </a:rPr>
                            <m:t>𝑘</m:t>
                          </m:r>
                        </m:e>
                        <m:sub>
                          <m:r>
                            <a:rPr lang="es-ES" b="0" i="1" smtClean="0">
                              <a:solidFill>
                                <a:schemeClr val="tx1"/>
                              </a:solidFill>
                              <a:latin typeface="Cambria Math" panose="02040503050406030204" pitchFamily="18" charset="0"/>
                            </a:rPr>
                            <m:t>𝑏</m:t>
                          </m:r>
                        </m:sub>
                      </m:sSub>
                    </m:oMath>
                  </m:oMathPara>
                </a14:m>
                <a:endParaRPr lang="en-US" dirty="0">
                  <a:solidFill>
                    <a:schemeClr val="tx1"/>
                  </a:solidFill>
                </a:endParaRPr>
              </a:p>
            </p:txBody>
          </p:sp>
        </mc:Choice>
        <mc:Fallback xmlns="">
          <p:sp>
            <p:nvSpPr>
              <p:cNvPr id="39" name="CuadroTexto 38">
                <a:extLst>
                  <a:ext uri="{FF2B5EF4-FFF2-40B4-BE49-F238E27FC236}">
                    <a16:creationId xmlns:a16="http://schemas.microsoft.com/office/drawing/2014/main" id="{979C4EB3-5014-92C7-FAAB-64D3285CF6AC}"/>
                  </a:ext>
                </a:extLst>
              </p:cNvPr>
              <p:cNvSpPr txBox="1">
                <a:spLocks noRot="1" noChangeAspect="1" noMove="1" noResize="1" noEditPoints="1" noAdjustHandles="1" noChangeArrowheads="1" noChangeShapeType="1" noTextEdit="1"/>
              </p:cNvSpPr>
              <p:nvPr/>
            </p:nvSpPr>
            <p:spPr>
              <a:xfrm>
                <a:off x="8119322" y="4706953"/>
                <a:ext cx="1291674" cy="369332"/>
              </a:xfrm>
              <a:prstGeom prst="rect">
                <a:avLst/>
              </a:prstGeom>
              <a:blipFill>
                <a:blip r:embed="rId7"/>
                <a:stretch>
                  <a:fillRect/>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40" name="CuadroTexto 39">
                <a:extLst>
                  <a:ext uri="{FF2B5EF4-FFF2-40B4-BE49-F238E27FC236}">
                    <a16:creationId xmlns:a16="http://schemas.microsoft.com/office/drawing/2014/main" id="{72F4EC49-F7E4-B921-90B7-75679E5144D1}"/>
                  </a:ext>
                </a:extLst>
              </p:cNvPr>
              <p:cNvSpPr txBox="1"/>
              <p:nvPr/>
            </p:nvSpPr>
            <p:spPr>
              <a:xfrm>
                <a:off x="5653085" y="5192639"/>
                <a:ext cx="1245321" cy="369332"/>
              </a:xfrm>
              <a:prstGeom prst="rect">
                <a:avLst/>
              </a:prstGeom>
              <a:noFill/>
            </p:spPr>
            <p:txBody>
              <a:bodyPr wrap="square" rtlCol="0">
                <a:spAutoFit/>
              </a:bodyPr>
              <a:lstStyle/>
              <a:p>
                <a:pPr algn="ctr"/>
                <a14:m>
                  <m:oMath xmlns:m="http://schemas.openxmlformats.org/officeDocument/2006/math">
                    <m:sSub>
                      <m:sSubPr>
                        <m:ctrlPr>
                          <a:rPr lang="en-US" i="1" dirty="0" smtClean="0">
                            <a:solidFill>
                              <a:schemeClr val="tx1"/>
                            </a:solidFill>
                            <a:latin typeface="Cambria Math" panose="02040503050406030204" pitchFamily="18" charset="0"/>
                          </a:rPr>
                        </m:ctrlPr>
                      </m:sSubPr>
                      <m:e>
                        <m:r>
                          <a:rPr lang="es-ES" b="0" i="1" dirty="0" smtClean="0">
                            <a:solidFill>
                              <a:schemeClr val="tx1"/>
                            </a:solidFill>
                            <a:latin typeface="Cambria Math" panose="02040503050406030204" pitchFamily="18" charset="0"/>
                          </a:rPr>
                          <m:t>𝛽</m:t>
                        </m:r>
                      </m:e>
                      <m:sub>
                        <m:r>
                          <a:rPr lang="es-ES" b="0" i="1" dirty="0" smtClean="0">
                            <a:solidFill>
                              <a:schemeClr val="tx1"/>
                            </a:solidFill>
                            <a:latin typeface="Cambria Math" panose="02040503050406030204" pitchFamily="18" charset="0"/>
                          </a:rPr>
                          <m:t>𝑑</m:t>
                        </m:r>
                      </m:sub>
                    </m:sSub>
                  </m:oMath>
                </a14:m>
                <a:r>
                  <a:rPr lang="en-US" dirty="0">
                    <a:solidFill>
                      <a:schemeClr val="tx1"/>
                    </a:solidFill>
                  </a:rPr>
                  <a:t>, </a:t>
                </a:r>
                <a14:m>
                  <m:oMath xmlns:m="http://schemas.openxmlformats.org/officeDocument/2006/math">
                    <m:sSub>
                      <m:sSubPr>
                        <m:ctrlPr>
                          <a:rPr lang="en-US" i="1" dirty="0">
                            <a:solidFill>
                              <a:schemeClr val="tx1"/>
                            </a:solidFill>
                            <a:latin typeface="Cambria Math" panose="02040503050406030204" pitchFamily="18" charset="0"/>
                          </a:rPr>
                        </m:ctrlPr>
                      </m:sSubPr>
                      <m:e>
                        <m:r>
                          <a:rPr lang="es-ES" b="0" i="1" dirty="0" smtClean="0">
                            <a:solidFill>
                              <a:schemeClr val="tx1"/>
                            </a:solidFill>
                            <a:latin typeface="Cambria Math" panose="02040503050406030204" pitchFamily="18" charset="0"/>
                          </a:rPr>
                          <m:t>𝐿</m:t>
                        </m:r>
                      </m:e>
                      <m:sub>
                        <m:r>
                          <a:rPr lang="es-ES" b="0" i="1" dirty="0" smtClean="0">
                            <a:solidFill>
                              <a:schemeClr val="tx1"/>
                            </a:solidFill>
                            <a:latin typeface="Cambria Math" panose="02040503050406030204" pitchFamily="18" charset="0"/>
                          </a:rPr>
                          <m:t>𝑑</m:t>
                        </m:r>
                      </m:sub>
                    </m:sSub>
                  </m:oMath>
                </a14:m>
                <a:r>
                  <a:rPr lang="en-US" dirty="0">
                    <a:solidFill>
                      <a:schemeClr val="tx1"/>
                    </a:solidFill>
                  </a:rPr>
                  <a:t> </a:t>
                </a:r>
              </a:p>
            </p:txBody>
          </p:sp>
        </mc:Choice>
        <mc:Fallback xmlns="">
          <p:sp>
            <p:nvSpPr>
              <p:cNvPr id="40" name="CuadroTexto 39">
                <a:extLst>
                  <a:ext uri="{FF2B5EF4-FFF2-40B4-BE49-F238E27FC236}">
                    <a16:creationId xmlns:a16="http://schemas.microsoft.com/office/drawing/2014/main" id="{72F4EC49-F7E4-B921-90B7-75679E5144D1}"/>
                  </a:ext>
                </a:extLst>
              </p:cNvPr>
              <p:cNvSpPr txBox="1">
                <a:spLocks noRot="1" noChangeAspect="1" noMove="1" noResize="1" noEditPoints="1" noAdjustHandles="1" noChangeArrowheads="1" noChangeShapeType="1" noTextEdit="1"/>
              </p:cNvSpPr>
              <p:nvPr/>
            </p:nvSpPr>
            <p:spPr>
              <a:xfrm>
                <a:off x="5653085" y="5192639"/>
                <a:ext cx="1245321" cy="369332"/>
              </a:xfrm>
              <a:prstGeom prst="rect">
                <a:avLst/>
              </a:prstGeom>
              <a:blipFill>
                <a:blip r:embed="rId8"/>
                <a:stretch>
                  <a:fillRect t="-10000" b="-26667"/>
                </a:stretch>
              </a:blipFill>
            </p:spPr>
            <p:txBody>
              <a:bodyPr/>
              <a:lstStyle/>
              <a:p>
                <a:r>
                  <a:rPr lang="es-ES">
                    <a:noFill/>
                  </a:rPr>
                  <a:t> </a:t>
                </a:r>
              </a:p>
            </p:txBody>
          </p:sp>
        </mc:Fallback>
      </mc:AlternateContent>
    </p:spTree>
    <p:extLst>
      <p:ext uri="{BB962C8B-B14F-4D97-AF65-F5344CB8AC3E}">
        <p14:creationId xmlns:p14="http://schemas.microsoft.com/office/powerpoint/2010/main" val="56023462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80DA9C-35AF-A1D7-01E5-BFD9DEF1550F}"/>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471E1424-6C4B-2D9A-1352-30AFB987AD41}"/>
              </a:ext>
            </a:extLst>
          </p:cNvPr>
          <p:cNvSpPr txBox="1">
            <a:spLocks noGrp="1"/>
          </p:cNvSpPr>
          <p:nvPr>
            <p:ph type="title"/>
          </p:nvPr>
        </p:nvSpPr>
        <p:spPr>
          <a:xfrm>
            <a:off x="685800" y="408883"/>
            <a:ext cx="10994410" cy="782265"/>
          </a:xfrm>
          <a:prstGeom prst="rect">
            <a:avLst/>
          </a:prstGeom>
        </p:spPr>
        <p:txBody>
          <a:bodyPr vert="horz" wrap="square" lIns="0" tIns="12700" rIns="0" bIns="0" rtlCol="0">
            <a:spAutoFit/>
          </a:bodyPr>
          <a:lstStyle/>
          <a:p>
            <a:pPr marL="12700">
              <a:lnSpc>
                <a:spcPct val="100000"/>
              </a:lnSpc>
              <a:spcBef>
                <a:spcPts val="100"/>
              </a:spcBef>
            </a:pPr>
            <a:r>
              <a:rPr lang="en-US" sz="2400" b="1" dirty="0"/>
              <a:t>ASSESSMENT #1 </a:t>
            </a:r>
            <a:r>
              <a:rPr lang="en-US" sz="2500" dirty="0"/>
              <a:t>– Recap from theory – MZI configurations</a:t>
            </a:r>
            <a:br>
              <a:rPr lang="es-ES" sz="2500" spc="-5" dirty="0">
                <a:latin typeface="+mj-lt"/>
                <a:cs typeface="Lucida Sans"/>
              </a:rPr>
            </a:br>
            <a:endParaRPr sz="2500" b="0" dirty="0">
              <a:latin typeface="+mj-lt"/>
              <a:cs typeface="Lucida Sans"/>
            </a:endParaRPr>
          </a:p>
        </p:txBody>
      </p:sp>
      <p:pic>
        <p:nvPicPr>
          <p:cNvPr id="83" name="Gráfico 82">
            <a:extLst>
              <a:ext uri="{FF2B5EF4-FFF2-40B4-BE49-F238E27FC236}">
                <a16:creationId xmlns:a16="http://schemas.microsoft.com/office/drawing/2014/main" id="{9DCFD462-4416-65F8-5696-B0135B63276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293F5C1D-AFFF-4EA6-CA59-6503F34EBF5F}"/>
              </a:ext>
            </a:extLst>
          </p:cNvPr>
          <p:cNvSpPr>
            <a:spLocks noGrp="1"/>
          </p:cNvSpPr>
          <p:nvPr>
            <p:ph type="sldNum" sz="quarter" idx="7"/>
          </p:nvPr>
        </p:nvSpPr>
        <p:spPr/>
        <p:txBody>
          <a:bodyPr/>
          <a:lstStyle/>
          <a:p>
            <a:fld id="{B6F15528-21DE-4FAA-801E-634DDDAF4B2B}" type="slidenum">
              <a:rPr lang="es-ES" smtClean="0"/>
              <a:t>3</a:t>
            </a:fld>
            <a:endParaRPr lang="es-ES"/>
          </a:p>
        </p:txBody>
      </p:sp>
      <mc:AlternateContent xmlns:mc="http://schemas.openxmlformats.org/markup-compatibility/2006" xmlns:a14="http://schemas.microsoft.com/office/drawing/2010/main">
        <mc:Choice Requires="a14">
          <p:sp>
            <p:nvSpPr>
              <p:cNvPr id="4" name="Marcador de texto 2">
                <a:extLst>
                  <a:ext uri="{FF2B5EF4-FFF2-40B4-BE49-F238E27FC236}">
                    <a16:creationId xmlns:a16="http://schemas.microsoft.com/office/drawing/2014/main" id="{AA9E72FF-B948-6B7A-8909-97C6BE95D6FB}"/>
                  </a:ext>
                </a:extLst>
              </p:cNvPr>
              <p:cNvSpPr txBox="1">
                <a:spLocks/>
              </p:cNvSpPr>
              <p:nvPr/>
            </p:nvSpPr>
            <p:spPr>
              <a:xfrm>
                <a:off x="608012" y="1295400"/>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r>
                  <a:rPr lang="en-US" sz="2000" dirty="0"/>
                  <a:t>Provide one example of implementation for each one of the configurations studied during MZI lecture:</a:t>
                </a:r>
              </a:p>
              <a:p>
                <a:pPr lvl="1"/>
                <a:r>
                  <a:rPr lang="en-US" sz="2000" dirty="0"/>
                  <a:t>1. Balanced configuration</a:t>
                </a:r>
              </a:p>
              <a:p>
                <a:pPr lvl="1"/>
                <a:r>
                  <a:rPr lang="en-US" sz="2000" dirty="0"/>
                  <a:t>2. Unbalanced configuration:</a:t>
                </a:r>
              </a:p>
              <a:p>
                <a:pPr lvl="1"/>
                <a:r>
                  <a:rPr lang="en-US" sz="2000" dirty="0"/>
                  <a:t>  2.1.   Phase difference </a:t>
                </a:r>
              </a:p>
              <a:p>
                <a:pPr lvl="1"/>
                <a:r>
                  <a:rPr lang="en-US" sz="2000" dirty="0"/>
                  <a:t>  2.2.   Delay imbalance</a:t>
                </a:r>
              </a:p>
              <a:p>
                <a:r>
                  <a:rPr lang="en-US" sz="2000" dirty="0"/>
                  <a:t>Compute also some examples with </a:t>
                </a:r>
                <a14:m>
                  <m:oMath xmlns:m="http://schemas.openxmlformats.org/officeDocument/2006/math">
                    <m:r>
                      <m:rPr>
                        <m:sty m:val="p"/>
                      </m:rPr>
                      <a:rPr lang="es-ES" sz="2000" b="0" i="1" smtClean="0">
                        <a:latin typeface="Cambria Math" panose="02040503050406030204" pitchFamily="18" charset="0"/>
                      </a:rPr>
                      <m:t>α</m:t>
                    </m:r>
                    <m:r>
                      <a:rPr lang="es-ES" sz="2000" i="1">
                        <a:latin typeface="Cambria Math" panose="02040503050406030204" pitchFamily="18" charset="0"/>
                        <a:ea typeface="Cambria Math" panose="02040503050406030204" pitchFamily="18" charset="0"/>
                      </a:rPr>
                      <m:t>≠0</m:t>
                    </m:r>
                  </m:oMath>
                </a14:m>
                <a:r>
                  <a:rPr lang="en-US" sz="2000" kern="0" dirty="0">
                    <a:solidFill>
                      <a:sysClr val="windowText" lastClr="000000"/>
                    </a:solidFill>
                  </a:rPr>
                  <a:t> and </a:t>
                </a:r>
                <a14:m>
                  <m:oMath xmlns:m="http://schemas.openxmlformats.org/officeDocument/2006/math">
                    <m:r>
                      <m:rPr>
                        <m:sty m:val="p"/>
                      </m:rPr>
                      <a:rPr lang="es-ES" sz="2000" i="1">
                        <a:latin typeface="Cambria Math" panose="02040503050406030204" pitchFamily="18" charset="0"/>
                      </a:rPr>
                      <m:t>γ</m:t>
                    </m:r>
                    <m:r>
                      <a:rPr lang="es-ES" sz="2000" i="1">
                        <a:latin typeface="Cambria Math" panose="02040503050406030204" pitchFamily="18" charset="0"/>
                        <a:ea typeface="Cambria Math" panose="02040503050406030204" pitchFamily="18" charset="0"/>
                      </a:rPr>
                      <m:t>≠0</m:t>
                    </m:r>
                  </m:oMath>
                </a14:m>
                <a:endParaRPr lang="es-ES" sz="2000" dirty="0"/>
              </a:p>
              <a:p>
                <a:r>
                  <a:rPr lang="en-US" sz="2000" dirty="0"/>
                  <a:t> </a:t>
                </a:r>
              </a:p>
              <a:p>
                <a:pPr algn="just"/>
                <a:endParaRPr lang="en-US" sz="2000" dirty="0"/>
              </a:p>
              <a:p>
                <a:pPr algn="just"/>
                <a:endParaRPr lang="en-US" sz="2000" b="1" i="1" dirty="0"/>
              </a:p>
              <a:p>
                <a:pPr algn="just"/>
                <a:endParaRPr lang="en-US" sz="2000" kern="0" dirty="0">
                  <a:solidFill>
                    <a:sysClr val="windowText" lastClr="000000"/>
                  </a:solidFill>
                </a:endParaRPr>
              </a:p>
              <a:p>
                <a:endParaRPr lang="en-US" sz="2000" kern="0" dirty="0">
                  <a:solidFill>
                    <a:sysClr val="windowText" lastClr="000000"/>
                  </a:solidFill>
                </a:endParaRPr>
              </a:p>
            </p:txBody>
          </p:sp>
        </mc:Choice>
        <mc:Fallback xmlns="">
          <p:sp>
            <p:nvSpPr>
              <p:cNvPr id="4" name="Marcador de texto 2">
                <a:extLst>
                  <a:ext uri="{FF2B5EF4-FFF2-40B4-BE49-F238E27FC236}">
                    <a16:creationId xmlns:a16="http://schemas.microsoft.com/office/drawing/2014/main" id="{AA9E72FF-B948-6B7A-8909-97C6BE95D6FB}"/>
                  </a:ext>
                </a:extLst>
              </p:cNvPr>
              <p:cNvSpPr txBox="1">
                <a:spLocks noRot="1" noChangeAspect="1" noMove="1" noResize="1" noEditPoints="1" noAdjustHandles="1" noChangeArrowheads="1" noChangeShapeType="1" noTextEdit="1"/>
              </p:cNvSpPr>
              <p:nvPr/>
            </p:nvSpPr>
            <p:spPr>
              <a:xfrm>
                <a:off x="608012" y="1295400"/>
                <a:ext cx="11048999" cy="4958137"/>
              </a:xfrm>
              <a:prstGeom prst="rect">
                <a:avLst/>
              </a:prstGeom>
              <a:blipFill>
                <a:blip r:embed="rId5"/>
                <a:stretch>
                  <a:fillRect l="-607" t="-738"/>
                </a:stretch>
              </a:blipFill>
            </p:spPr>
            <p:txBody>
              <a:bodyPr/>
              <a:lstStyle/>
              <a:p>
                <a:r>
                  <a:rPr lang="es-ES">
                    <a:noFill/>
                  </a:rPr>
                  <a:t> </a:t>
                </a:r>
              </a:p>
            </p:txBody>
          </p:sp>
        </mc:Fallback>
      </mc:AlternateContent>
      <p:sp>
        <p:nvSpPr>
          <p:cNvPr id="2" name="CuadroTexto 1">
            <a:extLst>
              <a:ext uri="{FF2B5EF4-FFF2-40B4-BE49-F238E27FC236}">
                <a16:creationId xmlns:a16="http://schemas.microsoft.com/office/drawing/2014/main" id="{D0F8CF3B-B920-DBFC-F825-0C87B51EADA7}"/>
              </a:ext>
            </a:extLst>
          </p:cNvPr>
          <p:cNvSpPr txBox="1"/>
          <p:nvPr/>
        </p:nvSpPr>
        <p:spPr>
          <a:xfrm>
            <a:off x="609441" y="4860334"/>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Document all your results (</a:t>
            </a:r>
            <a:r>
              <a:rPr lang="en-US" sz="1200" dirty="0" err="1">
                <a:latin typeface="Arial" panose="020B0604020202020204" pitchFamily="34" charset="0"/>
                <a:cs typeface="Arial" panose="020B0604020202020204" pitchFamily="34" charset="0"/>
              </a:rPr>
              <a:t>neff</a:t>
            </a:r>
            <a:r>
              <a:rPr lang="en-US" sz="1200" dirty="0">
                <a:latin typeface="Arial" panose="020B0604020202020204" pitchFamily="34" charset="0"/>
                <a:cs typeface="Arial" panose="020B0604020202020204" pitchFamily="34" charset="0"/>
              </a:rPr>
              <a:t>, alpha, gamma, transfer function plots, etc.) and comment on the obtained results (in terms of FSR, amplitude, losses, etc.).</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5" name="Marcador de pie de página 2">
            <a:extLst>
              <a:ext uri="{FF2B5EF4-FFF2-40B4-BE49-F238E27FC236}">
                <a16:creationId xmlns:a16="http://schemas.microsoft.com/office/drawing/2014/main" id="{14E1523F-57E7-BC79-8739-6F62FB1C8B3D}"/>
              </a:ext>
            </a:extLst>
          </p:cNvPr>
          <p:cNvSpPr>
            <a:spLocks noGrp="1"/>
          </p:cNvSpPr>
          <p:nvPr>
            <p:ph type="ftr" sz="quarter" idx="5"/>
          </p:nvPr>
        </p:nvSpPr>
        <p:spPr>
          <a:xfrm>
            <a:off x="609600" y="6457057"/>
            <a:ext cx="2743200" cy="184666"/>
          </a:xfrm>
        </p:spPr>
        <p:txBody>
          <a:bodyPr/>
          <a:lstStyle/>
          <a:p>
            <a:pPr marL="12700">
              <a:spcBef>
                <a:spcPts val="15"/>
              </a:spcBef>
            </a:pPr>
            <a:r>
              <a:rPr lang="es-ES" spc="-5"/>
              <a:t>LAB 3. INTERFEROMETERS I</a:t>
            </a:r>
            <a:endParaRPr lang="es-ES" spc="-5" dirty="0"/>
          </a:p>
        </p:txBody>
      </p:sp>
    </p:spTree>
    <p:extLst>
      <p:ext uri="{BB962C8B-B14F-4D97-AF65-F5344CB8AC3E}">
        <p14:creationId xmlns:p14="http://schemas.microsoft.com/office/powerpoint/2010/main" val="73050131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ABBEC5D-83DF-49B5-BC30-A54871D1D4F9}"/>
              </a:ext>
            </a:extLst>
          </p:cNvPr>
          <p:cNvSpPr>
            <a:spLocks noGrp="1"/>
          </p:cNvSpPr>
          <p:nvPr>
            <p:ph type="title"/>
          </p:nvPr>
        </p:nvSpPr>
        <p:spPr/>
        <p:txBody>
          <a:bodyPr/>
          <a:lstStyle/>
          <a:p>
            <a:r>
              <a:rPr lang="en-US" dirty="0"/>
              <a:t>I</a:t>
            </a:r>
            <a:r>
              <a:rPr lang="en-US" sz="2000" dirty="0"/>
              <a:t>mplementation for each one of the configurations studied during MZI lecture</a:t>
            </a:r>
            <a:endParaRPr lang="es-ES" dirty="0"/>
          </a:p>
        </p:txBody>
      </p:sp>
      <p:sp>
        <p:nvSpPr>
          <p:cNvPr id="3" name="Marcador de texto 2">
            <a:extLst>
              <a:ext uri="{FF2B5EF4-FFF2-40B4-BE49-F238E27FC236}">
                <a16:creationId xmlns:a16="http://schemas.microsoft.com/office/drawing/2014/main" id="{CAAF7831-4555-450A-A8CE-008D3C87129C}"/>
              </a:ext>
            </a:extLst>
          </p:cNvPr>
          <p:cNvSpPr>
            <a:spLocks noGrp="1"/>
          </p:cNvSpPr>
          <p:nvPr>
            <p:ph type="body" idx="1"/>
          </p:nvPr>
        </p:nvSpPr>
        <p:spPr>
          <a:xfrm>
            <a:off x="770467" y="989111"/>
            <a:ext cx="2590800" cy="307777"/>
          </a:xfrm>
        </p:spPr>
        <p:txBody>
          <a:bodyPr/>
          <a:lstStyle/>
          <a:p>
            <a:r>
              <a:rPr lang="en-US" sz="1800" dirty="0"/>
              <a:t>1. Balanced configuration</a:t>
            </a:r>
          </a:p>
          <a:p>
            <a:endParaRPr lang="es-ES" dirty="0"/>
          </a:p>
        </p:txBody>
      </p:sp>
      <p:sp>
        <p:nvSpPr>
          <p:cNvPr id="4" name="Marcador de pie de página 3">
            <a:extLst>
              <a:ext uri="{FF2B5EF4-FFF2-40B4-BE49-F238E27FC236}">
                <a16:creationId xmlns:a16="http://schemas.microsoft.com/office/drawing/2014/main" id="{4ADB8334-3F80-456C-8283-72FAAFAF378A}"/>
              </a:ext>
            </a:extLst>
          </p:cNvPr>
          <p:cNvSpPr>
            <a:spLocks noGrp="1"/>
          </p:cNvSpPr>
          <p:nvPr>
            <p:ph type="ftr" sz="quarter" idx="5"/>
          </p:nvPr>
        </p:nvSpPr>
        <p:spPr/>
        <p:txBody>
          <a:bodyPr/>
          <a:lstStyle/>
          <a:p>
            <a:pPr marL="12700">
              <a:spcBef>
                <a:spcPts val="15"/>
              </a:spcBef>
            </a:pPr>
            <a:r>
              <a:rPr lang="es-ES" spc="-5"/>
              <a:t>LAB 3. INTERFEROMETERS I</a:t>
            </a:r>
            <a:endParaRPr lang="es-ES" spc="-5" dirty="0"/>
          </a:p>
        </p:txBody>
      </p:sp>
      <p:sp>
        <p:nvSpPr>
          <p:cNvPr id="5" name="Marcador de número de diapositiva 4">
            <a:extLst>
              <a:ext uri="{FF2B5EF4-FFF2-40B4-BE49-F238E27FC236}">
                <a16:creationId xmlns:a16="http://schemas.microsoft.com/office/drawing/2014/main" id="{DF28D302-4654-40DA-8469-CC4C033D6CD6}"/>
              </a:ext>
            </a:extLst>
          </p:cNvPr>
          <p:cNvSpPr>
            <a:spLocks noGrp="1"/>
          </p:cNvSpPr>
          <p:nvPr>
            <p:ph type="sldNum" sz="quarter" idx="7"/>
          </p:nvPr>
        </p:nvSpPr>
        <p:spPr/>
        <p:txBody>
          <a:bodyPr/>
          <a:lstStyle/>
          <a:p>
            <a:fld id="{B6F15528-21DE-4FAA-801E-634DDDAF4B2B}" type="slidenum">
              <a:rPr lang="es-ES" smtClean="0"/>
              <a:t>4</a:t>
            </a:fld>
            <a:endParaRPr lang="es-ES"/>
          </a:p>
        </p:txBody>
      </p:sp>
      <p:pic>
        <p:nvPicPr>
          <p:cNvPr id="7" name="Imagen 6">
            <a:extLst>
              <a:ext uri="{FF2B5EF4-FFF2-40B4-BE49-F238E27FC236}">
                <a16:creationId xmlns:a16="http://schemas.microsoft.com/office/drawing/2014/main" id="{AA24FF34-9025-4DC5-A78E-A270E346B6C5}"/>
              </a:ext>
            </a:extLst>
          </p:cNvPr>
          <p:cNvPicPr>
            <a:picLocks noChangeAspect="1"/>
          </p:cNvPicPr>
          <p:nvPr/>
        </p:nvPicPr>
        <p:blipFill>
          <a:blip r:embed="rId2"/>
          <a:stretch>
            <a:fillRect/>
          </a:stretch>
        </p:blipFill>
        <p:spPr>
          <a:xfrm>
            <a:off x="381000" y="1902526"/>
            <a:ext cx="3988190" cy="3200400"/>
          </a:xfrm>
          <a:prstGeom prst="rect">
            <a:avLst/>
          </a:prstGeom>
        </p:spPr>
      </p:pic>
      <p:sp>
        <p:nvSpPr>
          <p:cNvPr id="14" name="CuadroTexto 13">
            <a:extLst>
              <a:ext uri="{FF2B5EF4-FFF2-40B4-BE49-F238E27FC236}">
                <a16:creationId xmlns:a16="http://schemas.microsoft.com/office/drawing/2014/main" id="{7E539A9C-2056-4998-806D-73C8753C9A85}"/>
              </a:ext>
            </a:extLst>
          </p:cNvPr>
          <p:cNvSpPr txBox="1"/>
          <p:nvPr/>
        </p:nvSpPr>
        <p:spPr>
          <a:xfrm>
            <a:off x="4800600" y="2348564"/>
            <a:ext cx="6934200" cy="2308324"/>
          </a:xfrm>
          <a:prstGeom prst="rect">
            <a:avLst/>
          </a:prstGeom>
          <a:noFill/>
        </p:spPr>
        <p:txBody>
          <a:bodyPr wrap="square" rtlCol="0">
            <a:spAutoFit/>
          </a:bodyPr>
          <a:lstStyle/>
          <a:p>
            <a:r>
              <a:rPr lang="en-US" sz="1200" dirty="0"/>
              <a:t>• Why does a perfectly balanced MZI (ΔL = 0, identical arms and 50:50 couplers) not exhibit spectral periodicity? </a:t>
            </a:r>
          </a:p>
          <a:p>
            <a:endParaRPr lang="en-US" sz="1200" dirty="0"/>
          </a:p>
          <a:p>
            <a:endParaRPr lang="en-US" sz="1200" dirty="0"/>
          </a:p>
          <a:p>
            <a:endParaRPr lang="en-US" sz="1200" dirty="0"/>
          </a:p>
          <a:p>
            <a:r>
              <a:rPr lang="en-US" sz="1200" dirty="0"/>
              <a:t>• What happens to the output transmission if the coupling ratio deviates from 50:50? </a:t>
            </a:r>
          </a:p>
          <a:p>
            <a:endParaRPr lang="en-US" sz="1200" dirty="0"/>
          </a:p>
          <a:p>
            <a:endParaRPr lang="en-US" sz="1200" dirty="0"/>
          </a:p>
          <a:p>
            <a:endParaRPr lang="en-US" sz="1200" dirty="0"/>
          </a:p>
          <a:p>
            <a:r>
              <a:rPr lang="en-US" sz="1200" dirty="0"/>
              <a:t>• How does excess loss (γ ≠ 0) affect the output ports in a balanced MZI? </a:t>
            </a:r>
          </a:p>
          <a:p>
            <a:endParaRPr lang="en-US" sz="1200" dirty="0"/>
          </a:p>
          <a:p>
            <a:endParaRPr lang="es-ES" sz="1200" dirty="0"/>
          </a:p>
        </p:txBody>
      </p:sp>
    </p:spTree>
    <p:extLst>
      <p:ext uri="{BB962C8B-B14F-4D97-AF65-F5344CB8AC3E}">
        <p14:creationId xmlns:p14="http://schemas.microsoft.com/office/powerpoint/2010/main" val="283491805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9FBF3E6-DA0F-4585-80D3-56DE53871D4A}"/>
              </a:ext>
            </a:extLst>
          </p:cNvPr>
          <p:cNvSpPr>
            <a:spLocks noGrp="1"/>
          </p:cNvSpPr>
          <p:nvPr>
            <p:ph type="title"/>
          </p:nvPr>
        </p:nvSpPr>
        <p:spPr/>
        <p:txBody>
          <a:bodyPr/>
          <a:lstStyle/>
          <a:p>
            <a:r>
              <a:rPr lang="en-US" dirty="0"/>
              <a:t>I</a:t>
            </a:r>
            <a:r>
              <a:rPr lang="en-US" sz="2000" dirty="0"/>
              <a:t>mplementation for each one of the configurations studied during MZI lecture</a:t>
            </a:r>
            <a:endParaRPr lang="es-ES" dirty="0"/>
          </a:p>
        </p:txBody>
      </p:sp>
      <p:sp>
        <p:nvSpPr>
          <p:cNvPr id="3" name="Marcador de texto 2">
            <a:extLst>
              <a:ext uri="{FF2B5EF4-FFF2-40B4-BE49-F238E27FC236}">
                <a16:creationId xmlns:a16="http://schemas.microsoft.com/office/drawing/2014/main" id="{02BC32C3-529A-4E52-9133-A834239450EA}"/>
              </a:ext>
            </a:extLst>
          </p:cNvPr>
          <p:cNvSpPr>
            <a:spLocks noGrp="1"/>
          </p:cNvSpPr>
          <p:nvPr>
            <p:ph type="body" idx="1"/>
          </p:nvPr>
        </p:nvSpPr>
        <p:spPr>
          <a:xfrm>
            <a:off x="5105400" y="2133600"/>
            <a:ext cx="6477000" cy="2215991"/>
          </a:xfrm>
        </p:spPr>
        <p:txBody>
          <a:bodyPr/>
          <a:lstStyle/>
          <a:p>
            <a:r>
              <a:rPr lang="en-US" sz="1200" dirty="0"/>
              <a:t>• If both arms have the same physical length but different propagation constants (βu ≠ βd), what generates the phase difference? </a:t>
            </a:r>
          </a:p>
          <a:p>
            <a:endParaRPr lang="en-US" sz="1200" dirty="0"/>
          </a:p>
          <a:p>
            <a:endParaRPr lang="en-US" sz="1200" dirty="0"/>
          </a:p>
          <a:p>
            <a:endParaRPr lang="en-US" sz="1200" dirty="0"/>
          </a:p>
          <a:p>
            <a:r>
              <a:rPr lang="en-US" sz="1200" dirty="0"/>
              <a:t>• Why are the two output ports complementary (H21 = cos²(</a:t>
            </a:r>
            <a:r>
              <a:rPr lang="en-US" sz="1200" dirty="0" err="1"/>
              <a:t>Δφ</a:t>
            </a:r>
            <a:r>
              <a:rPr lang="en-US" sz="1200" dirty="0"/>
              <a:t>/2), H22 = sin²(</a:t>
            </a:r>
            <a:r>
              <a:rPr lang="en-US" sz="1200" dirty="0" err="1"/>
              <a:t>Δφ</a:t>
            </a:r>
            <a:r>
              <a:rPr lang="en-US" sz="1200" dirty="0"/>
              <a:t>/2))? </a:t>
            </a:r>
          </a:p>
          <a:p>
            <a:endParaRPr lang="en-US" sz="1200" dirty="0"/>
          </a:p>
          <a:p>
            <a:endParaRPr lang="en-US" sz="1200" dirty="0"/>
          </a:p>
          <a:p>
            <a:endParaRPr lang="en-US" sz="1200" dirty="0"/>
          </a:p>
          <a:p>
            <a:r>
              <a:rPr lang="en-US" sz="1200" dirty="0"/>
              <a:t>• Under what condition can the MZI behave as a tunable power coupler rather than a wavelength filter?</a:t>
            </a:r>
          </a:p>
          <a:p>
            <a:endParaRPr lang="en-US" sz="1200" dirty="0"/>
          </a:p>
          <a:p>
            <a:r>
              <a:rPr lang="en-US" sz="1200" dirty="0"/>
              <a:t> </a:t>
            </a:r>
            <a:endParaRPr lang="es-ES" sz="1200" dirty="0"/>
          </a:p>
        </p:txBody>
      </p:sp>
      <p:sp>
        <p:nvSpPr>
          <p:cNvPr id="4" name="Marcador de pie de página 3">
            <a:extLst>
              <a:ext uri="{FF2B5EF4-FFF2-40B4-BE49-F238E27FC236}">
                <a16:creationId xmlns:a16="http://schemas.microsoft.com/office/drawing/2014/main" id="{5307C851-7FB9-4403-94B0-3611DBFDE00F}"/>
              </a:ext>
            </a:extLst>
          </p:cNvPr>
          <p:cNvSpPr>
            <a:spLocks noGrp="1"/>
          </p:cNvSpPr>
          <p:nvPr>
            <p:ph type="ftr" sz="quarter" idx="5"/>
          </p:nvPr>
        </p:nvSpPr>
        <p:spPr/>
        <p:txBody>
          <a:bodyPr/>
          <a:lstStyle/>
          <a:p>
            <a:pPr marL="12700">
              <a:spcBef>
                <a:spcPts val="15"/>
              </a:spcBef>
            </a:pPr>
            <a:r>
              <a:rPr lang="es-ES" spc="-5"/>
              <a:t>LAB 3. INTERFEROMETERS I</a:t>
            </a:r>
            <a:endParaRPr lang="es-ES" spc="-5" dirty="0"/>
          </a:p>
        </p:txBody>
      </p:sp>
      <p:sp>
        <p:nvSpPr>
          <p:cNvPr id="5" name="Marcador de número de diapositiva 4">
            <a:extLst>
              <a:ext uri="{FF2B5EF4-FFF2-40B4-BE49-F238E27FC236}">
                <a16:creationId xmlns:a16="http://schemas.microsoft.com/office/drawing/2014/main" id="{A1CF9BBD-A73B-4DDA-BC69-3CD31552620A}"/>
              </a:ext>
            </a:extLst>
          </p:cNvPr>
          <p:cNvSpPr>
            <a:spLocks noGrp="1"/>
          </p:cNvSpPr>
          <p:nvPr>
            <p:ph type="sldNum" sz="quarter" idx="7"/>
          </p:nvPr>
        </p:nvSpPr>
        <p:spPr/>
        <p:txBody>
          <a:bodyPr/>
          <a:lstStyle/>
          <a:p>
            <a:fld id="{B6F15528-21DE-4FAA-801E-634DDDAF4B2B}" type="slidenum">
              <a:rPr lang="es-ES" smtClean="0"/>
              <a:t>5</a:t>
            </a:fld>
            <a:endParaRPr lang="es-ES"/>
          </a:p>
        </p:txBody>
      </p:sp>
      <p:sp>
        <p:nvSpPr>
          <p:cNvPr id="6" name="Marcador de texto 2">
            <a:extLst>
              <a:ext uri="{FF2B5EF4-FFF2-40B4-BE49-F238E27FC236}">
                <a16:creationId xmlns:a16="http://schemas.microsoft.com/office/drawing/2014/main" id="{1BAC312F-6919-4325-9A80-565BF7B9BA7C}"/>
              </a:ext>
            </a:extLst>
          </p:cNvPr>
          <p:cNvSpPr txBox="1">
            <a:spLocks/>
          </p:cNvSpPr>
          <p:nvPr/>
        </p:nvSpPr>
        <p:spPr>
          <a:xfrm>
            <a:off x="381000" y="867966"/>
            <a:ext cx="3157538" cy="553998"/>
          </a:xfrm>
          <a:prstGeom prst="rect">
            <a:avLst/>
          </a:prstGeom>
        </p:spPr>
        <p:txBody>
          <a:bodyPr wrap="square" lIns="0" tIns="0" rIns="0" bIns="0">
            <a:sp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lvl="1"/>
            <a:r>
              <a:rPr lang="en-US" sz="1800" dirty="0"/>
              <a:t>2. Unbalanced configuration:</a:t>
            </a:r>
          </a:p>
          <a:p>
            <a:pPr lvl="1"/>
            <a:r>
              <a:rPr lang="en-US" sz="1800" dirty="0"/>
              <a:t>  2.1.   Phase difference</a:t>
            </a:r>
            <a:endParaRPr lang="es-ES" kern="0" dirty="0">
              <a:solidFill>
                <a:sysClr val="windowText" lastClr="000000"/>
              </a:solidFill>
            </a:endParaRPr>
          </a:p>
        </p:txBody>
      </p:sp>
      <p:pic>
        <p:nvPicPr>
          <p:cNvPr id="9" name="Imagen 8">
            <a:extLst>
              <a:ext uri="{FF2B5EF4-FFF2-40B4-BE49-F238E27FC236}">
                <a16:creationId xmlns:a16="http://schemas.microsoft.com/office/drawing/2014/main" id="{862D94F1-FCCA-49CD-8797-4BEE165BB17C}"/>
              </a:ext>
            </a:extLst>
          </p:cNvPr>
          <p:cNvPicPr>
            <a:picLocks noChangeAspect="1"/>
          </p:cNvPicPr>
          <p:nvPr/>
        </p:nvPicPr>
        <p:blipFill>
          <a:blip r:embed="rId2"/>
          <a:stretch>
            <a:fillRect/>
          </a:stretch>
        </p:blipFill>
        <p:spPr>
          <a:xfrm>
            <a:off x="457200" y="1891710"/>
            <a:ext cx="3962401" cy="3130021"/>
          </a:xfrm>
          <a:prstGeom prst="rect">
            <a:avLst/>
          </a:prstGeom>
        </p:spPr>
      </p:pic>
    </p:spTree>
    <p:extLst>
      <p:ext uri="{BB962C8B-B14F-4D97-AF65-F5344CB8AC3E}">
        <p14:creationId xmlns:p14="http://schemas.microsoft.com/office/powerpoint/2010/main" val="24325280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621320E-38EE-4D80-A7E3-C8C97A61F7DD}"/>
              </a:ext>
            </a:extLst>
          </p:cNvPr>
          <p:cNvSpPr>
            <a:spLocks noGrp="1"/>
          </p:cNvSpPr>
          <p:nvPr>
            <p:ph type="title"/>
          </p:nvPr>
        </p:nvSpPr>
        <p:spPr/>
        <p:txBody>
          <a:bodyPr/>
          <a:lstStyle/>
          <a:p>
            <a:r>
              <a:rPr lang="en-US" dirty="0"/>
              <a:t>I</a:t>
            </a:r>
            <a:r>
              <a:rPr lang="en-US" sz="2000" dirty="0"/>
              <a:t>mplementation for each one of the configurations studied during MZI lecture</a:t>
            </a:r>
            <a:endParaRPr lang="es-ES" dirty="0"/>
          </a:p>
        </p:txBody>
      </p:sp>
      <p:sp>
        <p:nvSpPr>
          <p:cNvPr id="3" name="Marcador de texto 2">
            <a:extLst>
              <a:ext uri="{FF2B5EF4-FFF2-40B4-BE49-F238E27FC236}">
                <a16:creationId xmlns:a16="http://schemas.microsoft.com/office/drawing/2014/main" id="{757077C7-5B79-4535-82AA-5A6DF81ED587}"/>
              </a:ext>
            </a:extLst>
          </p:cNvPr>
          <p:cNvSpPr>
            <a:spLocks noGrp="1"/>
          </p:cNvSpPr>
          <p:nvPr>
            <p:ph type="body" idx="1"/>
          </p:nvPr>
        </p:nvSpPr>
        <p:spPr>
          <a:xfrm>
            <a:off x="4800600" y="2133600"/>
            <a:ext cx="6781800" cy="2031325"/>
          </a:xfrm>
        </p:spPr>
        <p:txBody>
          <a:bodyPr/>
          <a:lstStyle/>
          <a:p>
            <a:r>
              <a:rPr lang="en-US" sz="1200" dirty="0"/>
              <a:t>• How does increasing the path length difference ΔL affect the Free Spectral Range (FSR)? </a:t>
            </a:r>
          </a:p>
          <a:p>
            <a:endParaRPr lang="en-US" sz="1200" dirty="0"/>
          </a:p>
          <a:p>
            <a:endParaRPr lang="en-US" sz="1200" dirty="0"/>
          </a:p>
          <a:p>
            <a:endParaRPr lang="en-US" sz="1200" dirty="0"/>
          </a:p>
          <a:p>
            <a:r>
              <a:rPr lang="en-US" sz="1200" dirty="0"/>
              <a:t>• Why does dispersion (wavelength dependence of β) cause the interference fringes to appear chirped? </a:t>
            </a:r>
          </a:p>
          <a:p>
            <a:endParaRPr lang="en-US" sz="1200" dirty="0"/>
          </a:p>
          <a:p>
            <a:endParaRPr lang="en-US" sz="1200" dirty="0"/>
          </a:p>
          <a:p>
            <a:endParaRPr lang="en-US" sz="1200" dirty="0"/>
          </a:p>
          <a:p>
            <a:r>
              <a:rPr lang="en-US" sz="1200" dirty="0"/>
              <a:t>• What role does the group index ng play in determining the spectral period? </a:t>
            </a:r>
          </a:p>
          <a:p>
            <a:endParaRPr lang="en-US" sz="1200" dirty="0"/>
          </a:p>
          <a:p>
            <a:endParaRPr lang="es-ES" sz="1200" dirty="0"/>
          </a:p>
        </p:txBody>
      </p:sp>
      <p:sp>
        <p:nvSpPr>
          <p:cNvPr id="4" name="Marcador de pie de página 3">
            <a:extLst>
              <a:ext uri="{FF2B5EF4-FFF2-40B4-BE49-F238E27FC236}">
                <a16:creationId xmlns:a16="http://schemas.microsoft.com/office/drawing/2014/main" id="{70F8806D-49F9-4194-B765-F50FD2E2C101}"/>
              </a:ext>
            </a:extLst>
          </p:cNvPr>
          <p:cNvSpPr>
            <a:spLocks noGrp="1"/>
          </p:cNvSpPr>
          <p:nvPr>
            <p:ph type="ftr" sz="quarter" idx="5"/>
          </p:nvPr>
        </p:nvSpPr>
        <p:spPr/>
        <p:txBody>
          <a:bodyPr/>
          <a:lstStyle/>
          <a:p>
            <a:pPr marL="12700">
              <a:spcBef>
                <a:spcPts val="15"/>
              </a:spcBef>
            </a:pPr>
            <a:r>
              <a:rPr lang="es-ES" spc="-5"/>
              <a:t>LAB 3. INTERFEROMETERS I</a:t>
            </a:r>
            <a:endParaRPr lang="es-ES" spc="-5" dirty="0"/>
          </a:p>
        </p:txBody>
      </p:sp>
      <p:sp>
        <p:nvSpPr>
          <p:cNvPr id="5" name="Marcador de número de diapositiva 4">
            <a:extLst>
              <a:ext uri="{FF2B5EF4-FFF2-40B4-BE49-F238E27FC236}">
                <a16:creationId xmlns:a16="http://schemas.microsoft.com/office/drawing/2014/main" id="{6E0F7F19-FB8E-4918-96D2-BCB0EFD33E93}"/>
              </a:ext>
            </a:extLst>
          </p:cNvPr>
          <p:cNvSpPr>
            <a:spLocks noGrp="1"/>
          </p:cNvSpPr>
          <p:nvPr>
            <p:ph type="sldNum" sz="quarter" idx="7"/>
          </p:nvPr>
        </p:nvSpPr>
        <p:spPr/>
        <p:txBody>
          <a:bodyPr/>
          <a:lstStyle/>
          <a:p>
            <a:fld id="{B6F15528-21DE-4FAA-801E-634DDDAF4B2B}" type="slidenum">
              <a:rPr lang="es-ES" smtClean="0"/>
              <a:t>6</a:t>
            </a:fld>
            <a:endParaRPr lang="es-ES"/>
          </a:p>
        </p:txBody>
      </p:sp>
      <p:sp>
        <p:nvSpPr>
          <p:cNvPr id="6" name="Marcador de texto 2">
            <a:extLst>
              <a:ext uri="{FF2B5EF4-FFF2-40B4-BE49-F238E27FC236}">
                <a16:creationId xmlns:a16="http://schemas.microsoft.com/office/drawing/2014/main" id="{59C8FC7F-4438-4200-8257-803FEC768C30}"/>
              </a:ext>
            </a:extLst>
          </p:cNvPr>
          <p:cNvSpPr txBox="1">
            <a:spLocks/>
          </p:cNvSpPr>
          <p:nvPr/>
        </p:nvSpPr>
        <p:spPr>
          <a:xfrm>
            <a:off x="590550" y="867966"/>
            <a:ext cx="2590800" cy="276999"/>
          </a:xfrm>
          <a:prstGeom prst="rect">
            <a:avLst/>
          </a:prstGeom>
        </p:spPr>
        <p:txBody>
          <a:bodyPr wrap="square" lIns="0" tIns="0" rIns="0" bIns="0">
            <a:sp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lvl="1"/>
            <a:r>
              <a:rPr lang="en-US" sz="1800" dirty="0"/>
              <a:t>2.2.   Delay imbalance</a:t>
            </a:r>
          </a:p>
        </p:txBody>
      </p:sp>
      <p:pic>
        <p:nvPicPr>
          <p:cNvPr id="7" name="Imagen 6">
            <a:extLst>
              <a:ext uri="{FF2B5EF4-FFF2-40B4-BE49-F238E27FC236}">
                <a16:creationId xmlns:a16="http://schemas.microsoft.com/office/drawing/2014/main" id="{4958ABB4-BBD4-4718-832D-50FE47808E9E}"/>
              </a:ext>
            </a:extLst>
          </p:cNvPr>
          <p:cNvPicPr>
            <a:picLocks noChangeAspect="1"/>
          </p:cNvPicPr>
          <p:nvPr/>
        </p:nvPicPr>
        <p:blipFill>
          <a:blip r:embed="rId2"/>
          <a:stretch>
            <a:fillRect/>
          </a:stretch>
        </p:blipFill>
        <p:spPr>
          <a:xfrm>
            <a:off x="556683" y="1861656"/>
            <a:ext cx="3567417" cy="2862743"/>
          </a:xfrm>
          <a:prstGeom prst="rect">
            <a:avLst/>
          </a:prstGeom>
        </p:spPr>
      </p:pic>
    </p:spTree>
    <p:extLst>
      <p:ext uri="{BB962C8B-B14F-4D97-AF65-F5344CB8AC3E}">
        <p14:creationId xmlns:p14="http://schemas.microsoft.com/office/powerpoint/2010/main" val="360934260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621320E-38EE-4D80-A7E3-C8C97A61F7DD}"/>
              </a:ext>
            </a:extLst>
          </p:cNvPr>
          <p:cNvSpPr>
            <a:spLocks noGrp="1"/>
          </p:cNvSpPr>
          <p:nvPr>
            <p:ph type="title"/>
          </p:nvPr>
        </p:nvSpPr>
        <p:spPr/>
        <p:txBody>
          <a:bodyPr/>
          <a:lstStyle/>
          <a:p>
            <a:r>
              <a:rPr lang="en-US" dirty="0"/>
              <a:t>I</a:t>
            </a:r>
            <a:r>
              <a:rPr lang="en-US" sz="2000" dirty="0"/>
              <a:t>mplementation for each one of the configurations studied during MZI lecture</a:t>
            </a:r>
            <a:endParaRPr lang="es-ES" dirty="0"/>
          </a:p>
        </p:txBody>
      </p:sp>
      <p:sp>
        <p:nvSpPr>
          <p:cNvPr id="3" name="Marcador de texto 2">
            <a:extLst>
              <a:ext uri="{FF2B5EF4-FFF2-40B4-BE49-F238E27FC236}">
                <a16:creationId xmlns:a16="http://schemas.microsoft.com/office/drawing/2014/main" id="{757077C7-5B79-4535-82AA-5A6DF81ED587}"/>
              </a:ext>
            </a:extLst>
          </p:cNvPr>
          <p:cNvSpPr>
            <a:spLocks noGrp="1"/>
          </p:cNvSpPr>
          <p:nvPr>
            <p:ph type="body" idx="1"/>
          </p:nvPr>
        </p:nvSpPr>
        <p:spPr>
          <a:xfrm>
            <a:off x="4800600" y="2133600"/>
            <a:ext cx="6781800" cy="2215991"/>
          </a:xfrm>
        </p:spPr>
        <p:txBody>
          <a:bodyPr/>
          <a:lstStyle/>
          <a:p>
            <a:r>
              <a:rPr lang="en-US" sz="1200" dirty="0"/>
              <a:t>• Why does unequal power splitting (Ka ≠ </a:t>
            </a:r>
            <a:r>
              <a:rPr lang="en-US" sz="1200" dirty="0" err="1"/>
              <a:t>Kb</a:t>
            </a:r>
            <a:r>
              <a:rPr lang="en-US" sz="1200" dirty="0"/>
              <a:t>) reduce the extinction ratio? </a:t>
            </a:r>
          </a:p>
          <a:p>
            <a:endParaRPr lang="en-US" sz="1200" dirty="0"/>
          </a:p>
          <a:p>
            <a:endParaRPr lang="en-US" sz="1200" dirty="0"/>
          </a:p>
          <a:p>
            <a:endParaRPr lang="en-US" sz="1200" dirty="0"/>
          </a:p>
          <a:p>
            <a:r>
              <a:rPr lang="en-US" sz="1200" dirty="0"/>
              <a:t>• What condition between Ka and </a:t>
            </a:r>
            <a:r>
              <a:rPr lang="en-US" sz="1200" dirty="0" err="1"/>
              <a:t>Kb</a:t>
            </a:r>
            <a:r>
              <a:rPr lang="en-US" sz="1200" dirty="0"/>
              <a:t> maximizes rejection in the lossless case? </a:t>
            </a:r>
          </a:p>
          <a:p>
            <a:endParaRPr lang="en-US" sz="1200" dirty="0"/>
          </a:p>
          <a:p>
            <a:endParaRPr lang="en-US" sz="1200" dirty="0"/>
          </a:p>
          <a:p>
            <a:endParaRPr lang="en-US" sz="1200" dirty="0"/>
          </a:p>
          <a:p>
            <a:r>
              <a:rPr lang="en-US" sz="1200" dirty="0"/>
              <a:t>• How can the input coupler be designed to compensate for propagation loss imbalance between the two arms? </a:t>
            </a:r>
          </a:p>
          <a:p>
            <a:endParaRPr lang="es-ES" sz="1200" dirty="0"/>
          </a:p>
          <a:p>
            <a:endParaRPr lang="es-ES" sz="1200" dirty="0"/>
          </a:p>
        </p:txBody>
      </p:sp>
      <p:sp>
        <p:nvSpPr>
          <p:cNvPr id="4" name="Marcador de pie de página 3">
            <a:extLst>
              <a:ext uri="{FF2B5EF4-FFF2-40B4-BE49-F238E27FC236}">
                <a16:creationId xmlns:a16="http://schemas.microsoft.com/office/drawing/2014/main" id="{70F8806D-49F9-4194-B765-F50FD2E2C101}"/>
              </a:ext>
            </a:extLst>
          </p:cNvPr>
          <p:cNvSpPr>
            <a:spLocks noGrp="1"/>
          </p:cNvSpPr>
          <p:nvPr>
            <p:ph type="ftr" sz="quarter" idx="5"/>
          </p:nvPr>
        </p:nvSpPr>
        <p:spPr/>
        <p:txBody>
          <a:bodyPr/>
          <a:lstStyle/>
          <a:p>
            <a:pPr marL="12700">
              <a:spcBef>
                <a:spcPts val="15"/>
              </a:spcBef>
            </a:pPr>
            <a:r>
              <a:rPr lang="es-ES" spc="-5"/>
              <a:t>LAB 3. INTERFEROMETERS I</a:t>
            </a:r>
            <a:endParaRPr lang="es-ES" spc="-5" dirty="0"/>
          </a:p>
        </p:txBody>
      </p:sp>
      <p:sp>
        <p:nvSpPr>
          <p:cNvPr id="5" name="Marcador de número de diapositiva 4">
            <a:extLst>
              <a:ext uri="{FF2B5EF4-FFF2-40B4-BE49-F238E27FC236}">
                <a16:creationId xmlns:a16="http://schemas.microsoft.com/office/drawing/2014/main" id="{6E0F7F19-FB8E-4918-96D2-BCB0EFD33E93}"/>
              </a:ext>
            </a:extLst>
          </p:cNvPr>
          <p:cNvSpPr>
            <a:spLocks noGrp="1"/>
          </p:cNvSpPr>
          <p:nvPr>
            <p:ph type="sldNum" sz="quarter" idx="7"/>
          </p:nvPr>
        </p:nvSpPr>
        <p:spPr/>
        <p:txBody>
          <a:bodyPr/>
          <a:lstStyle/>
          <a:p>
            <a:fld id="{B6F15528-21DE-4FAA-801E-634DDDAF4B2B}" type="slidenum">
              <a:rPr lang="es-ES" smtClean="0"/>
              <a:t>7</a:t>
            </a:fld>
            <a:endParaRPr lang="es-ES"/>
          </a:p>
        </p:txBody>
      </p:sp>
      <p:sp>
        <p:nvSpPr>
          <p:cNvPr id="6" name="Marcador de texto 2">
            <a:extLst>
              <a:ext uri="{FF2B5EF4-FFF2-40B4-BE49-F238E27FC236}">
                <a16:creationId xmlns:a16="http://schemas.microsoft.com/office/drawing/2014/main" id="{59C8FC7F-4438-4200-8257-803FEC768C30}"/>
              </a:ext>
            </a:extLst>
          </p:cNvPr>
          <p:cNvSpPr txBox="1">
            <a:spLocks/>
          </p:cNvSpPr>
          <p:nvPr/>
        </p:nvSpPr>
        <p:spPr>
          <a:xfrm>
            <a:off x="590550" y="867966"/>
            <a:ext cx="2990850" cy="276999"/>
          </a:xfrm>
          <a:prstGeom prst="rect">
            <a:avLst/>
          </a:prstGeom>
        </p:spPr>
        <p:txBody>
          <a:bodyPr wrap="square" lIns="0" tIns="0" rIns="0" bIns="0">
            <a:sp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lvl="1"/>
            <a:r>
              <a:rPr lang="en-US" sz="1800" dirty="0"/>
              <a:t>2.3.   Amplitude imbalance</a:t>
            </a:r>
          </a:p>
        </p:txBody>
      </p:sp>
      <p:pic>
        <p:nvPicPr>
          <p:cNvPr id="7" name="Imagen 6">
            <a:extLst>
              <a:ext uri="{FF2B5EF4-FFF2-40B4-BE49-F238E27FC236}">
                <a16:creationId xmlns:a16="http://schemas.microsoft.com/office/drawing/2014/main" id="{4958ABB4-BBD4-4718-832D-50FE47808E9E}"/>
              </a:ext>
            </a:extLst>
          </p:cNvPr>
          <p:cNvPicPr>
            <a:picLocks noChangeAspect="1"/>
          </p:cNvPicPr>
          <p:nvPr/>
        </p:nvPicPr>
        <p:blipFill>
          <a:blip r:embed="rId2"/>
          <a:stretch>
            <a:fillRect/>
          </a:stretch>
        </p:blipFill>
        <p:spPr>
          <a:xfrm>
            <a:off x="556683" y="1861656"/>
            <a:ext cx="3567417" cy="2862743"/>
          </a:xfrm>
          <a:prstGeom prst="rect">
            <a:avLst/>
          </a:prstGeom>
        </p:spPr>
      </p:pic>
    </p:spTree>
    <p:extLst>
      <p:ext uri="{BB962C8B-B14F-4D97-AF65-F5344CB8AC3E}">
        <p14:creationId xmlns:p14="http://schemas.microsoft.com/office/powerpoint/2010/main" val="260225700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ítulo 1">
                <a:extLst>
                  <a:ext uri="{FF2B5EF4-FFF2-40B4-BE49-F238E27FC236}">
                    <a16:creationId xmlns:a16="http://schemas.microsoft.com/office/drawing/2014/main" id="{116F5391-1C14-479E-8D7A-A3CACD44891A}"/>
                  </a:ext>
                </a:extLst>
              </p:cNvPr>
              <p:cNvSpPr>
                <a:spLocks noGrp="1"/>
              </p:cNvSpPr>
              <p:nvPr>
                <p:ph type="title"/>
              </p:nvPr>
            </p:nvSpPr>
            <p:spPr>
              <a:xfrm>
                <a:off x="590550" y="206752"/>
                <a:ext cx="10991850" cy="307777"/>
              </a:xfrm>
            </p:spPr>
            <p:txBody>
              <a:bodyPr/>
              <a:lstStyle/>
              <a:p>
                <a:r>
                  <a:rPr lang="en-US" sz="2000" dirty="0"/>
                  <a:t>Compute also some examples with </a:t>
                </a:r>
                <a14:m>
                  <m:oMath xmlns:m="http://schemas.openxmlformats.org/officeDocument/2006/math">
                    <m:r>
                      <m:rPr>
                        <m:sty m:val="p"/>
                      </m:rPr>
                      <a:rPr lang="es-ES" sz="2000" b="0" i="1" smtClean="0">
                        <a:latin typeface="Cambria Math" panose="02040503050406030204" pitchFamily="18" charset="0"/>
                      </a:rPr>
                      <m:t>α</m:t>
                    </m:r>
                    <m:r>
                      <a:rPr lang="es-ES" sz="2000" i="1">
                        <a:latin typeface="Cambria Math" panose="02040503050406030204" pitchFamily="18" charset="0"/>
                        <a:ea typeface="Cambria Math" panose="02040503050406030204" pitchFamily="18" charset="0"/>
                      </a:rPr>
                      <m:t>≠0</m:t>
                    </m:r>
                  </m:oMath>
                </a14:m>
                <a:r>
                  <a:rPr lang="en-US" sz="2000" kern="0" dirty="0">
                    <a:solidFill>
                      <a:sysClr val="windowText" lastClr="000000"/>
                    </a:solidFill>
                  </a:rPr>
                  <a:t> and </a:t>
                </a:r>
                <a14:m>
                  <m:oMath xmlns:m="http://schemas.openxmlformats.org/officeDocument/2006/math">
                    <m:r>
                      <m:rPr>
                        <m:sty m:val="p"/>
                      </m:rPr>
                      <a:rPr lang="es-ES" sz="2000" i="1">
                        <a:latin typeface="Cambria Math" panose="02040503050406030204" pitchFamily="18" charset="0"/>
                      </a:rPr>
                      <m:t>γ</m:t>
                    </m:r>
                    <m:r>
                      <a:rPr lang="es-ES" sz="2000" i="1">
                        <a:latin typeface="Cambria Math" panose="02040503050406030204" pitchFamily="18" charset="0"/>
                        <a:ea typeface="Cambria Math" panose="02040503050406030204" pitchFamily="18" charset="0"/>
                      </a:rPr>
                      <m:t>≠0</m:t>
                    </m:r>
                  </m:oMath>
                </a14:m>
                <a:endParaRPr lang="es-ES" dirty="0"/>
              </a:p>
            </p:txBody>
          </p:sp>
        </mc:Choice>
        <mc:Fallback xmlns="">
          <p:sp>
            <p:nvSpPr>
              <p:cNvPr id="2" name="Título 1">
                <a:extLst>
                  <a:ext uri="{FF2B5EF4-FFF2-40B4-BE49-F238E27FC236}">
                    <a16:creationId xmlns:a16="http://schemas.microsoft.com/office/drawing/2014/main" id="{116F5391-1C14-479E-8D7A-A3CACD44891A}"/>
                  </a:ext>
                </a:extLst>
              </p:cNvPr>
              <p:cNvSpPr>
                <a:spLocks noGrp="1" noRot="1" noChangeAspect="1" noMove="1" noResize="1" noEditPoints="1" noAdjustHandles="1" noChangeArrowheads="1" noChangeShapeType="1" noTextEdit="1"/>
              </p:cNvSpPr>
              <p:nvPr>
                <p:ph type="title"/>
              </p:nvPr>
            </p:nvSpPr>
            <p:spPr>
              <a:xfrm>
                <a:off x="590550" y="206752"/>
                <a:ext cx="10991850" cy="307777"/>
              </a:xfrm>
              <a:blipFill>
                <a:blip r:embed="rId2"/>
                <a:stretch>
                  <a:fillRect l="-1442" t="-26000" b="-50000"/>
                </a:stretch>
              </a:blipFill>
            </p:spPr>
            <p:txBody>
              <a:bodyPr/>
              <a:lstStyle/>
              <a:p>
                <a:r>
                  <a:rPr lang="es-ES">
                    <a:noFill/>
                  </a:rPr>
                  <a:t> </a:t>
                </a:r>
              </a:p>
            </p:txBody>
          </p:sp>
        </mc:Fallback>
      </mc:AlternateContent>
      <mc:AlternateContent xmlns:mc="http://schemas.openxmlformats.org/markup-compatibility/2006">
        <mc:Choice xmlns:a14="http://schemas.microsoft.com/office/drawing/2010/main" Requires="a14">
          <p:sp>
            <p:nvSpPr>
              <p:cNvPr id="3" name="Marcador de texto 2">
                <a:extLst>
                  <a:ext uri="{FF2B5EF4-FFF2-40B4-BE49-F238E27FC236}">
                    <a16:creationId xmlns:a16="http://schemas.microsoft.com/office/drawing/2014/main" id="{858B9E23-6139-4532-9AF8-6207C4DAF06C}"/>
                  </a:ext>
                </a:extLst>
              </p:cNvPr>
              <p:cNvSpPr>
                <a:spLocks noGrp="1"/>
              </p:cNvSpPr>
              <p:nvPr>
                <p:ph type="body" idx="1"/>
              </p:nvPr>
            </p:nvSpPr>
            <p:spPr>
              <a:xfrm>
                <a:off x="609600" y="5257800"/>
                <a:ext cx="10972800" cy="369332"/>
              </a:xfrm>
            </p:spPr>
            <p:txBody>
              <a:bodyPr/>
              <a:lstStyle/>
              <a:p>
                <a:r>
                  <a:rPr lang="es-ES" sz="1200" dirty="0"/>
                  <a:t>En este caso se ha optado por añadir </a:t>
                </a:r>
                <a14:m>
                  <m:oMath xmlns:m="http://schemas.openxmlformats.org/officeDocument/2006/math">
                    <m:r>
                      <m:rPr>
                        <m:sty m:val="p"/>
                      </m:rPr>
                      <a:rPr lang="es-ES" sz="1200" b="0" i="1" smtClean="0">
                        <a:latin typeface="Cambria Math" panose="02040503050406030204" pitchFamily="18" charset="0"/>
                      </a:rPr>
                      <m:t>α</m:t>
                    </m:r>
                    <m:r>
                      <a:rPr lang="es-ES" sz="1200" b="0" i="1" smtClean="0">
                        <a:latin typeface="Cambria Math" panose="02040503050406030204" pitchFamily="18" charset="0"/>
                      </a:rPr>
                      <m:t>=0.01</m:t>
                    </m:r>
                  </m:oMath>
                </a14:m>
                <a:r>
                  <a:rPr lang="es-ES" sz="1200" dirty="0"/>
                  <a:t> y </a:t>
                </a:r>
                <a14:m>
                  <m:oMath xmlns:m="http://schemas.openxmlformats.org/officeDocument/2006/math">
                    <m:r>
                      <m:rPr>
                        <m:sty m:val="p"/>
                      </m:rPr>
                      <a:rPr lang="es-ES" sz="1200" i="1">
                        <a:latin typeface="Cambria Math" panose="02040503050406030204" pitchFamily="18" charset="0"/>
                      </a:rPr>
                      <m:t>γ</m:t>
                    </m:r>
                    <m:r>
                      <a:rPr lang="es-ES" sz="1200" i="1">
                        <a:latin typeface="Cambria Math" panose="02040503050406030204" pitchFamily="18" charset="0"/>
                      </a:rPr>
                      <m:t>=0.01</m:t>
                    </m:r>
                  </m:oMath>
                </a14:m>
                <a:r>
                  <a:rPr lang="es-ES" sz="1200" dirty="0"/>
                  <a:t> simétricamente en ambos brazos. Podemos observar que hay una disminución de (…) debido a las perdidas insertadas en las guías de onda. </a:t>
                </a:r>
              </a:p>
            </p:txBody>
          </p:sp>
        </mc:Choice>
        <mc:Fallback>
          <p:sp>
            <p:nvSpPr>
              <p:cNvPr id="3" name="Marcador de texto 2">
                <a:extLst>
                  <a:ext uri="{FF2B5EF4-FFF2-40B4-BE49-F238E27FC236}">
                    <a16:creationId xmlns:a16="http://schemas.microsoft.com/office/drawing/2014/main" id="{858B9E23-6139-4532-9AF8-6207C4DAF06C}"/>
                  </a:ext>
                </a:extLst>
              </p:cNvPr>
              <p:cNvSpPr>
                <a:spLocks noGrp="1" noRot="1" noChangeAspect="1" noMove="1" noResize="1" noEditPoints="1" noAdjustHandles="1" noChangeArrowheads="1" noChangeShapeType="1" noTextEdit="1"/>
              </p:cNvSpPr>
              <p:nvPr>
                <p:ph type="body" idx="1"/>
              </p:nvPr>
            </p:nvSpPr>
            <p:spPr>
              <a:xfrm>
                <a:off x="609600" y="5257800"/>
                <a:ext cx="10972800" cy="369332"/>
              </a:xfrm>
              <a:blipFill>
                <a:blip r:embed="rId3"/>
                <a:stretch>
                  <a:fillRect l="-833" t="-13333" r="-778" b="-25000"/>
                </a:stretch>
              </a:blipFill>
            </p:spPr>
            <p:txBody>
              <a:bodyPr/>
              <a:lstStyle/>
              <a:p>
                <a:r>
                  <a:rPr lang="es-ES">
                    <a:noFill/>
                  </a:rPr>
                  <a:t> </a:t>
                </a:r>
              </a:p>
            </p:txBody>
          </p:sp>
        </mc:Fallback>
      </mc:AlternateContent>
      <p:sp>
        <p:nvSpPr>
          <p:cNvPr id="4" name="Marcador de pie de página 3">
            <a:extLst>
              <a:ext uri="{FF2B5EF4-FFF2-40B4-BE49-F238E27FC236}">
                <a16:creationId xmlns:a16="http://schemas.microsoft.com/office/drawing/2014/main" id="{707C4FD9-5C8D-46FD-9563-44AFA9909127}"/>
              </a:ext>
            </a:extLst>
          </p:cNvPr>
          <p:cNvSpPr>
            <a:spLocks noGrp="1"/>
          </p:cNvSpPr>
          <p:nvPr>
            <p:ph type="ftr" sz="quarter" idx="5"/>
          </p:nvPr>
        </p:nvSpPr>
        <p:spPr/>
        <p:txBody>
          <a:bodyPr/>
          <a:lstStyle/>
          <a:p>
            <a:pPr marL="12700">
              <a:spcBef>
                <a:spcPts val="15"/>
              </a:spcBef>
            </a:pPr>
            <a:r>
              <a:rPr lang="es-ES" spc="-5"/>
              <a:t>LAB 3. INTERFEROMETERS I</a:t>
            </a:r>
            <a:endParaRPr lang="es-ES" spc="-5" dirty="0"/>
          </a:p>
        </p:txBody>
      </p:sp>
      <p:sp>
        <p:nvSpPr>
          <p:cNvPr id="5" name="Marcador de número de diapositiva 4">
            <a:extLst>
              <a:ext uri="{FF2B5EF4-FFF2-40B4-BE49-F238E27FC236}">
                <a16:creationId xmlns:a16="http://schemas.microsoft.com/office/drawing/2014/main" id="{62D45345-39EF-4410-A5EA-3FC8929E4713}"/>
              </a:ext>
            </a:extLst>
          </p:cNvPr>
          <p:cNvSpPr>
            <a:spLocks noGrp="1"/>
          </p:cNvSpPr>
          <p:nvPr>
            <p:ph type="sldNum" sz="quarter" idx="7"/>
          </p:nvPr>
        </p:nvSpPr>
        <p:spPr/>
        <p:txBody>
          <a:bodyPr/>
          <a:lstStyle/>
          <a:p>
            <a:fld id="{B6F15528-21DE-4FAA-801E-634DDDAF4B2B}" type="slidenum">
              <a:rPr lang="es-ES" smtClean="0"/>
              <a:t>8</a:t>
            </a:fld>
            <a:endParaRPr lang="es-ES" dirty="0"/>
          </a:p>
        </p:txBody>
      </p:sp>
      <p:pic>
        <p:nvPicPr>
          <p:cNvPr id="7" name="Imagen 6">
            <a:extLst>
              <a:ext uri="{FF2B5EF4-FFF2-40B4-BE49-F238E27FC236}">
                <a16:creationId xmlns:a16="http://schemas.microsoft.com/office/drawing/2014/main" id="{FFCB742A-0F25-420E-80CB-D2F46CA6BC8F}"/>
              </a:ext>
            </a:extLst>
          </p:cNvPr>
          <p:cNvPicPr>
            <a:picLocks noChangeAspect="1"/>
          </p:cNvPicPr>
          <p:nvPr/>
        </p:nvPicPr>
        <p:blipFill>
          <a:blip r:embed="rId4"/>
          <a:stretch>
            <a:fillRect/>
          </a:stretch>
        </p:blipFill>
        <p:spPr>
          <a:xfrm>
            <a:off x="885620" y="2876851"/>
            <a:ext cx="2683646" cy="2153543"/>
          </a:xfrm>
          <a:prstGeom prst="rect">
            <a:avLst/>
          </a:prstGeom>
        </p:spPr>
      </p:pic>
      <p:pic>
        <p:nvPicPr>
          <p:cNvPr id="11" name="Imagen 10">
            <a:extLst>
              <a:ext uri="{FF2B5EF4-FFF2-40B4-BE49-F238E27FC236}">
                <a16:creationId xmlns:a16="http://schemas.microsoft.com/office/drawing/2014/main" id="{8942B753-37AA-465F-B97B-332121C26AF4}"/>
              </a:ext>
            </a:extLst>
          </p:cNvPr>
          <p:cNvPicPr>
            <a:picLocks noChangeAspect="1"/>
          </p:cNvPicPr>
          <p:nvPr/>
        </p:nvPicPr>
        <p:blipFill>
          <a:blip r:embed="rId5"/>
          <a:stretch>
            <a:fillRect/>
          </a:stretch>
        </p:blipFill>
        <p:spPr>
          <a:xfrm>
            <a:off x="4374319" y="2876851"/>
            <a:ext cx="2726244" cy="2153543"/>
          </a:xfrm>
          <a:prstGeom prst="rect">
            <a:avLst/>
          </a:prstGeom>
        </p:spPr>
      </p:pic>
      <p:pic>
        <p:nvPicPr>
          <p:cNvPr id="13" name="Imagen 12">
            <a:extLst>
              <a:ext uri="{FF2B5EF4-FFF2-40B4-BE49-F238E27FC236}">
                <a16:creationId xmlns:a16="http://schemas.microsoft.com/office/drawing/2014/main" id="{FA9308C9-257C-4388-B26E-82B63301C36D}"/>
              </a:ext>
            </a:extLst>
          </p:cNvPr>
          <p:cNvPicPr>
            <a:picLocks noChangeAspect="1"/>
          </p:cNvPicPr>
          <p:nvPr/>
        </p:nvPicPr>
        <p:blipFill>
          <a:blip r:embed="rId6"/>
          <a:stretch>
            <a:fillRect/>
          </a:stretch>
        </p:blipFill>
        <p:spPr>
          <a:xfrm>
            <a:off x="7905616" y="2876851"/>
            <a:ext cx="2683646" cy="2153543"/>
          </a:xfrm>
          <a:prstGeom prst="rect">
            <a:avLst/>
          </a:prstGeom>
        </p:spPr>
      </p:pic>
      <p:pic>
        <p:nvPicPr>
          <p:cNvPr id="14" name="Imagen 13">
            <a:extLst>
              <a:ext uri="{FF2B5EF4-FFF2-40B4-BE49-F238E27FC236}">
                <a16:creationId xmlns:a16="http://schemas.microsoft.com/office/drawing/2014/main" id="{2022CAB5-DBBC-4243-8A8F-1E80EEB7C14E}"/>
              </a:ext>
            </a:extLst>
          </p:cNvPr>
          <p:cNvPicPr>
            <a:picLocks noChangeAspect="1"/>
          </p:cNvPicPr>
          <p:nvPr/>
        </p:nvPicPr>
        <p:blipFill>
          <a:blip r:embed="rId7"/>
          <a:stretch>
            <a:fillRect/>
          </a:stretch>
        </p:blipFill>
        <p:spPr>
          <a:xfrm>
            <a:off x="885620" y="618918"/>
            <a:ext cx="2683646" cy="2153543"/>
          </a:xfrm>
          <a:prstGeom prst="rect">
            <a:avLst/>
          </a:prstGeom>
        </p:spPr>
      </p:pic>
      <p:pic>
        <p:nvPicPr>
          <p:cNvPr id="15" name="Imagen 14">
            <a:extLst>
              <a:ext uri="{FF2B5EF4-FFF2-40B4-BE49-F238E27FC236}">
                <a16:creationId xmlns:a16="http://schemas.microsoft.com/office/drawing/2014/main" id="{FBDE714C-53A3-45D7-9D90-2D34E109AF2E}"/>
              </a:ext>
            </a:extLst>
          </p:cNvPr>
          <p:cNvPicPr>
            <a:picLocks noChangeAspect="1"/>
          </p:cNvPicPr>
          <p:nvPr/>
        </p:nvPicPr>
        <p:blipFill>
          <a:blip r:embed="rId8"/>
          <a:stretch>
            <a:fillRect/>
          </a:stretch>
        </p:blipFill>
        <p:spPr>
          <a:xfrm>
            <a:off x="4374319" y="618918"/>
            <a:ext cx="2726244" cy="2153543"/>
          </a:xfrm>
          <a:prstGeom prst="rect">
            <a:avLst/>
          </a:prstGeom>
        </p:spPr>
      </p:pic>
      <p:pic>
        <p:nvPicPr>
          <p:cNvPr id="16" name="Imagen 15">
            <a:extLst>
              <a:ext uri="{FF2B5EF4-FFF2-40B4-BE49-F238E27FC236}">
                <a16:creationId xmlns:a16="http://schemas.microsoft.com/office/drawing/2014/main" id="{B300B396-2B99-4D0A-A67C-8EA9D70252AA}"/>
              </a:ext>
            </a:extLst>
          </p:cNvPr>
          <p:cNvPicPr>
            <a:picLocks noChangeAspect="1"/>
          </p:cNvPicPr>
          <p:nvPr/>
        </p:nvPicPr>
        <p:blipFill>
          <a:blip r:embed="rId9"/>
          <a:stretch>
            <a:fillRect/>
          </a:stretch>
        </p:blipFill>
        <p:spPr>
          <a:xfrm>
            <a:off x="7905616" y="618917"/>
            <a:ext cx="2683646" cy="2153544"/>
          </a:xfrm>
          <a:prstGeom prst="rect">
            <a:avLst/>
          </a:prstGeom>
        </p:spPr>
      </p:pic>
    </p:spTree>
    <p:extLst>
      <p:ext uri="{BB962C8B-B14F-4D97-AF65-F5344CB8AC3E}">
        <p14:creationId xmlns:p14="http://schemas.microsoft.com/office/powerpoint/2010/main" val="361390638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25AB88-A787-2C84-3A44-2B634D87FB5B}"/>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6" name="object 16">
                <a:extLst>
                  <a:ext uri="{FF2B5EF4-FFF2-40B4-BE49-F238E27FC236}">
                    <a16:creationId xmlns:a16="http://schemas.microsoft.com/office/drawing/2014/main" id="{A153D08B-B860-A163-3940-83AD64444D01}"/>
                  </a:ext>
                </a:extLst>
              </p:cNvPr>
              <p:cNvSpPr txBox="1">
                <a:spLocks noGrp="1"/>
              </p:cNvSpPr>
              <p:nvPr>
                <p:ph type="title"/>
              </p:nvPr>
            </p:nvSpPr>
            <p:spPr>
              <a:xfrm>
                <a:off x="685800" y="408883"/>
                <a:ext cx="10994410" cy="782265"/>
              </a:xfrm>
              <a:prstGeom prst="rect">
                <a:avLst/>
              </a:prstGeom>
            </p:spPr>
            <p:txBody>
              <a:bodyPr vert="horz" wrap="square" lIns="0" tIns="12700" rIns="0" bIns="0" rtlCol="0">
                <a:spAutoFit/>
              </a:bodyPr>
              <a:lstStyle/>
              <a:p>
                <a:pPr marL="12700">
                  <a:lnSpc>
                    <a:spcPct val="100000"/>
                  </a:lnSpc>
                  <a:spcBef>
                    <a:spcPts val="100"/>
                  </a:spcBef>
                </a:pPr>
                <a:r>
                  <a:rPr lang="en-US" sz="2400" b="1" dirty="0"/>
                  <a:t>ASSESSMENT #2 </a:t>
                </a:r>
                <a:r>
                  <a:rPr lang="en-US" sz="2500" dirty="0"/>
                  <a:t>– Recap from theory – Calculation of </a:t>
                </a:r>
                <a14:m>
                  <m:oMath xmlns:m="http://schemas.openxmlformats.org/officeDocument/2006/math">
                    <m:r>
                      <a:rPr lang="es-ES" sz="2500" b="1" i="0" smtClean="0">
                        <a:latin typeface="Cambria Math" panose="02040503050406030204" pitchFamily="18" charset="0"/>
                      </a:rPr>
                      <m:t>𝚫</m:t>
                    </m:r>
                    <m:r>
                      <a:rPr lang="es-ES" sz="2500" b="1" i="0" smtClean="0">
                        <a:latin typeface="Cambria Math" panose="02040503050406030204" pitchFamily="18" charset="0"/>
                      </a:rPr>
                      <m:t>𝐋</m:t>
                    </m:r>
                  </m:oMath>
                </a14:m>
                <a:r>
                  <a:rPr lang="es-ES" sz="2500" spc="-5" dirty="0">
                    <a:latin typeface="+mj-lt"/>
                    <a:cs typeface="Lucida Sans"/>
                  </a:rPr>
                  <a:t> </a:t>
                </a:r>
                <a:br>
                  <a:rPr lang="es-ES" sz="2500" spc="-5" dirty="0">
                    <a:latin typeface="+mj-lt"/>
                    <a:cs typeface="Lucida Sans"/>
                  </a:rPr>
                </a:br>
                <a:endParaRPr sz="2500" b="0" dirty="0">
                  <a:latin typeface="+mj-lt"/>
                  <a:cs typeface="Lucida Sans"/>
                </a:endParaRPr>
              </a:p>
            </p:txBody>
          </p:sp>
        </mc:Choice>
        <mc:Fallback xmlns="">
          <p:sp>
            <p:nvSpPr>
              <p:cNvPr id="16" name="object 16">
                <a:extLst>
                  <a:ext uri="{FF2B5EF4-FFF2-40B4-BE49-F238E27FC236}">
                    <a16:creationId xmlns:a16="http://schemas.microsoft.com/office/drawing/2014/main" id="{A153D08B-B860-A163-3940-83AD64444D01}"/>
                  </a:ext>
                </a:extLst>
              </p:cNvPr>
              <p:cNvSpPr txBox="1">
                <a:spLocks noGrp="1" noRot="1" noChangeAspect="1" noMove="1" noResize="1" noEditPoints="1" noAdjustHandles="1" noChangeArrowheads="1" noChangeShapeType="1" noTextEdit="1"/>
              </p:cNvSpPr>
              <p:nvPr>
                <p:ph type="title"/>
              </p:nvPr>
            </p:nvSpPr>
            <p:spPr>
              <a:xfrm>
                <a:off x="685800" y="408883"/>
                <a:ext cx="10994410" cy="782265"/>
              </a:xfrm>
              <a:prstGeom prst="rect">
                <a:avLst/>
              </a:prstGeom>
              <a:blipFill>
                <a:blip r:embed="rId3"/>
                <a:stretch>
                  <a:fillRect l="-1608" t="-10156"/>
                </a:stretch>
              </a:blipFill>
            </p:spPr>
            <p:txBody>
              <a:bodyPr/>
              <a:lstStyle/>
              <a:p>
                <a:r>
                  <a:rPr lang="es-ES">
                    <a:noFill/>
                  </a:rPr>
                  <a:t> </a:t>
                </a:r>
              </a:p>
            </p:txBody>
          </p:sp>
        </mc:Fallback>
      </mc:AlternateContent>
      <p:pic>
        <p:nvPicPr>
          <p:cNvPr id="83" name="Gráfico 82">
            <a:extLst>
              <a:ext uri="{FF2B5EF4-FFF2-40B4-BE49-F238E27FC236}">
                <a16:creationId xmlns:a16="http://schemas.microsoft.com/office/drawing/2014/main" id="{333888A9-82BA-4688-F856-37AB661A7D43}"/>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F1891475-ED60-D0D2-1AD0-4F80E3D89439}"/>
              </a:ext>
            </a:extLst>
          </p:cNvPr>
          <p:cNvSpPr>
            <a:spLocks noGrp="1"/>
          </p:cNvSpPr>
          <p:nvPr>
            <p:ph type="sldNum" sz="quarter" idx="7"/>
          </p:nvPr>
        </p:nvSpPr>
        <p:spPr/>
        <p:txBody>
          <a:bodyPr/>
          <a:lstStyle/>
          <a:p>
            <a:fld id="{B6F15528-21DE-4FAA-801E-634DDDAF4B2B}" type="slidenum">
              <a:rPr lang="es-ES" smtClean="0"/>
              <a:t>9</a:t>
            </a:fld>
            <a:endParaRPr lang="es-ES"/>
          </a:p>
        </p:txBody>
      </p:sp>
      <mc:AlternateContent xmlns:mc="http://schemas.openxmlformats.org/markup-compatibility/2006">
        <mc:Choice xmlns:a14="http://schemas.microsoft.com/office/drawing/2010/main" Requires="a14">
          <p:sp>
            <p:nvSpPr>
              <p:cNvPr id="4" name="Marcador de texto 2">
                <a:extLst>
                  <a:ext uri="{FF2B5EF4-FFF2-40B4-BE49-F238E27FC236}">
                    <a16:creationId xmlns:a16="http://schemas.microsoft.com/office/drawing/2014/main" id="{BBBE28D8-49EC-3B49-29AC-FD2FDAF3B0AF}"/>
                  </a:ext>
                </a:extLst>
              </p:cNvPr>
              <p:cNvSpPr txBox="1">
                <a:spLocks/>
              </p:cNvSpPr>
              <p:nvPr/>
            </p:nvSpPr>
            <p:spPr>
              <a:xfrm>
                <a:off x="608012" y="1295400"/>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r>
                  <a:rPr lang="en-US" dirty="0"/>
                  <a:t>Considering the n_{eff} values for the SOI cross-section, what would be the path difference (</a:t>
                </a:r>
                <a14:m>
                  <m:oMath xmlns:m="http://schemas.openxmlformats.org/officeDocument/2006/math">
                    <m:r>
                      <m:rPr>
                        <m:sty m:val="p"/>
                      </m:rPr>
                      <a:rPr lang="es-ES" b="0" i="0" smtClean="0">
                        <a:latin typeface="Cambria Math" panose="02040503050406030204" pitchFamily="18" charset="0"/>
                      </a:rPr>
                      <m:t>ΔL</m:t>
                    </m:r>
                    <m:r>
                      <a:rPr lang="es-ES" b="0" i="1" smtClean="0">
                        <a:latin typeface="Cambria Math" panose="02040503050406030204" pitchFamily="18" charset="0"/>
                      </a:rPr>
                      <m:t>= </m:t>
                    </m:r>
                    <m:sSub>
                      <m:sSubPr>
                        <m:ctrlPr>
                          <a:rPr lang="es-ES" i="1" smtClean="0">
                            <a:latin typeface="Cambria Math" panose="02040503050406030204" pitchFamily="18" charset="0"/>
                          </a:rPr>
                        </m:ctrlPr>
                      </m:sSubPr>
                      <m:e>
                        <m:r>
                          <a:rPr lang="es-ES" b="0" i="1" smtClean="0">
                            <a:latin typeface="Cambria Math" panose="02040503050406030204" pitchFamily="18" charset="0"/>
                          </a:rPr>
                          <m:t>𝐿</m:t>
                        </m:r>
                      </m:e>
                      <m:sub>
                        <m:r>
                          <a:rPr lang="es-ES" b="0" i="1" smtClean="0">
                            <a:latin typeface="Cambria Math" panose="02040503050406030204" pitchFamily="18" charset="0"/>
                          </a:rPr>
                          <m:t>𝑢</m:t>
                        </m:r>
                      </m:sub>
                    </m:sSub>
                    <m:r>
                      <a:rPr lang="es-ES" b="0" i="1" smtClean="0">
                        <a:latin typeface="Cambria Math" panose="02040503050406030204" pitchFamily="18" charset="0"/>
                      </a:rPr>
                      <m:t> −</m:t>
                    </m:r>
                    <m:sSub>
                      <m:sSubPr>
                        <m:ctrlPr>
                          <a:rPr lang="es-ES" i="1">
                            <a:latin typeface="Cambria Math" panose="02040503050406030204" pitchFamily="18" charset="0"/>
                          </a:rPr>
                        </m:ctrlPr>
                      </m:sSubPr>
                      <m:e>
                        <m:r>
                          <a:rPr lang="es-ES" b="0" i="1">
                            <a:latin typeface="Cambria Math" panose="02040503050406030204" pitchFamily="18" charset="0"/>
                          </a:rPr>
                          <m:t>𝐿</m:t>
                        </m:r>
                      </m:e>
                      <m:sub>
                        <m:r>
                          <a:rPr lang="es-ES" b="0" i="1" smtClean="0">
                            <a:latin typeface="Cambria Math" panose="02040503050406030204" pitchFamily="18" charset="0"/>
                          </a:rPr>
                          <m:t>𝑑</m:t>
                        </m:r>
                      </m:sub>
                    </m:sSub>
                  </m:oMath>
                </a14:m>
                <a:r>
                  <a:rPr lang="en-US" dirty="0"/>
                  <a:t>) needed to obtain a Free Spectral Range of 40 nm? Introduce the obtained value in the model to check the MZI response. </a:t>
                </a:r>
              </a:p>
              <a:p>
                <a:endParaRPr lang="en-US" dirty="0"/>
              </a:p>
              <a:p>
                <a:r>
                  <a:rPr lang="en-US" dirty="0"/>
                  <a:t>Hint: We assume 1550 nm as the central design wavelength (</a:t>
                </a:r>
                <a14:m>
                  <m:oMath xmlns:m="http://schemas.openxmlformats.org/officeDocument/2006/math">
                    <m:sSub>
                      <m:sSubPr>
                        <m:ctrlPr>
                          <a:rPr lang="es-ES" i="1" smtClean="0">
                            <a:latin typeface="Cambria Math" panose="02040503050406030204" pitchFamily="18" charset="0"/>
                          </a:rPr>
                        </m:ctrlPr>
                      </m:sSubPr>
                      <m:e>
                        <m:r>
                          <a:rPr lang="es-ES" i="1">
                            <a:latin typeface="Cambria Math" panose="02040503050406030204" pitchFamily="18" charset="0"/>
                          </a:rPr>
                          <m:t>𝜆</m:t>
                        </m:r>
                      </m:e>
                      <m:sub>
                        <m:r>
                          <a:rPr lang="es-ES" b="0" i="1" smtClean="0">
                            <a:latin typeface="Cambria Math" panose="02040503050406030204" pitchFamily="18" charset="0"/>
                          </a:rPr>
                          <m:t>0</m:t>
                        </m:r>
                      </m:sub>
                    </m:sSub>
                    <m:r>
                      <a:rPr lang="es-ES" b="0" i="1" smtClean="0">
                        <a:latin typeface="Cambria Math" panose="02040503050406030204" pitchFamily="18" charset="0"/>
                      </a:rPr>
                      <m:t>= </m:t>
                    </m:r>
                  </m:oMath>
                </a14:m>
                <a:r>
                  <a:rPr lang="en-US" dirty="0"/>
                  <a:t>1550 nm).</a:t>
                </a:r>
              </a:p>
              <a:p>
                <a:endParaRPr lang="en-US" sz="2000" dirty="0"/>
              </a:p>
              <a:p>
                <a:pPr algn="just"/>
                <a:endParaRPr lang="en-US" sz="2000" dirty="0"/>
              </a:p>
              <a:p>
                <a:pPr algn="just"/>
                <a:endParaRPr lang="en-US" sz="2000" b="1" i="1" dirty="0"/>
              </a:p>
              <a:p>
                <a:pPr algn="just"/>
                <a:endParaRPr lang="en-US" sz="2000" kern="0" dirty="0">
                  <a:solidFill>
                    <a:sysClr val="windowText" lastClr="000000"/>
                  </a:solidFill>
                </a:endParaRPr>
              </a:p>
              <a:p>
                <a:endParaRPr lang="en-US" sz="2000" kern="0" dirty="0">
                  <a:solidFill>
                    <a:sysClr val="windowText" lastClr="000000"/>
                  </a:solidFill>
                </a:endParaRPr>
              </a:p>
            </p:txBody>
          </p:sp>
        </mc:Choice>
        <mc:Fallback>
          <p:sp>
            <p:nvSpPr>
              <p:cNvPr id="4" name="Marcador de texto 2">
                <a:extLst>
                  <a:ext uri="{FF2B5EF4-FFF2-40B4-BE49-F238E27FC236}">
                    <a16:creationId xmlns:a16="http://schemas.microsoft.com/office/drawing/2014/main" id="{BBBE28D8-49EC-3B49-29AC-FD2FDAF3B0AF}"/>
                  </a:ext>
                </a:extLst>
              </p:cNvPr>
              <p:cNvSpPr txBox="1">
                <a:spLocks noRot="1" noChangeAspect="1" noMove="1" noResize="1" noEditPoints="1" noAdjustHandles="1" noChangeArrowheads="1" noChangeShapeType="1" noTextEdit="1"/>
              </p:cNvSpPr>
              <p:nvPr/>
            </p:nvSpPr>
            <p:spPr>
              <a:xfrm>
                <a:off x="608012" y="1295400"/>
                <a:ext cx="11048999" cy="4958137"/>
              </a:xfrm>
              <a:prstGeom prst="rect">
                <a:avLst/>
              </a:prstGeom>
              <a:blipFill>
                <a:blip r:embed="rId6"/>
                <a:stretch>
                  <a:fillRect l="-497" t="-738" r="-221"/>
                </a:stretch>
              </a:blipFill>
            </p:spPr>
            <p:txBody>
              <a:bodyPr/>
              <a:lstStyle/>
              <a:p>
                <a:r>
                  <a:rPr lang="es-ES">
                    <a:noFill/>
                  </a:rPr>
                  <a:t> </a:t>
                </a:r>
              </a:p>
            </p:txBody>
          </p:sp>
        </mc:Fallback>
      </mc:AlternateContent>
      <p:sp>
        <p:nvSpPr>
          <p:cNvPr id="2" name="CuadroTexto 1">
            <a:extLst>
              <a:ext uri="{FF2B5EF4-FFF2-40B4-BE49-F238E27FC236}">
                <a16:creationId xmlns:a16="http://schemas.microsoft.com/office/drawing/2014/main" id="{CFDBBA6B-3646-055F-7A9C-EE01830137BE}"/>
              </a:ext>
            </a:extLst>
          </p:cNvPr>
          <p:cNvSpPr txBox="1"/>
          <p:nvPr/>
        </p:nvSpPr>
        <p:spPr>
          <a:xfrm>
            <a:off x="609441" y="4860334"/>
            <a:ext cx="11199971" cy="1384995"/>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Document all your results (copy here the code employed to obtain the corresponding value)</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5" name="Marcador de pie de página 2">
            <a:extLst>
              <a:ext uri="{FF2B5EF4-FFF2-40B4-BE49-F238E27FC236}">
                <a16:creationId xmlns:a16="http://schemas.microsoft.com/office/drawing/2014/main" id="{97B81335-0738-3406-18D4-5D88EB0C7954}"/>
              </a:ext>
            </a:extLst>
          </p:cNvPr>
          <p:cNvSpPr>
            <a:spLocks noGrp="1"/>
          </p:cNvSpPr>
          <p:nvPr>
            <p:ph type="ftr" sz="quarter" idx="5"/>
          </p:nvPr>
        </p:nvSpPr>
        <p:spPr>
          <a:xfrm>
            <a:off x="609600" y="6457057"/>
            <a:ext cx="2743200" cy="184666"/>
          </a:xfrm>
        </p:spPr>
        <p:txBody>
          <a:bodyPr/>
          <a:lstStyle/>
          <a:p>
            <a:pPr marL="12700">
              <a:spcBef>
                <a:spcPts val="15"/>
              </a:spcBef>
            </a:pPr>
            <a:r>
              <a:rPr lang="es-ES" spc="-5"/>
              <a:t>LAB 3. INTERFEROMETERS I</a:t>
            </a:r>
            <a:endParaRPr lang="es-ES" spc="-5" dirty="0"/>
          </a:p>
        </p:txBody>
      </p:sp>
      <p:pic>
        <p:nvPicPr>
          <p:cNvPr id="6" name="Imagen 5">
            <a:extLst>
              <a:ext uri="{FF2B5EF4-FFF2-40B4-BE49-F238E27FC236}">
                <a16:creationId xmlns:a16="http://schemas.microsoft.com/office/drawing/2014/main" id="{01B9E337-9272-4ABA-BD46-846CEEBE6331}"/>
              </a:ext>
            </a:extLst>
          </p:cNvPr>
          <p:cNvPicPr>
            <a:picLocks noChangeAspect="1"/>
          </p:cNvPicPr>
          <p:nvPr/>
        </p:nvPicPr>
        <p:blipFill>
          <a:blip r:embed="rId7"/>
          <a:stretch>
            <a:fillRect/>
          </a:stretch>
        </p:blipFill>
        <p:spPr>
          <a:xfrm>
            <a:off x="608012" y="3200400"/>
            <a:ext cx="7896372" cy="869882"/>
          </a:xfrm>
          <a:prstGeom prst="rect">
            <a:avLst/>
          </a:prstGeom>
        </p:spPr>
      </p:pic>
      <p:pic>
        <p:nvPicPr>
          <p:cNvPr id="8" name="Imagen 7">
            <a:extLst>
              <a:ext uri="{FF2B5EF4-FFF2-40B4-BE49-F238E27FC236}">
                <a16:creationId xmlns:a16="http://schemas.microsoft.com/office/drawing/2014/main" id="{5FDC1957-6FF4-4432-8EAB-D4A059C99E78}"/>
              </a:ext>
            </a:extLst>
          </p:cNvPr>
          <p:cNvPicPr>
            <a:picLocks noChangeAspect="1"/>
          </p:cNvPicPr>
          <p:nvPr/>
        </p:nvPicPr>
        <p:blipFill>
          <a:blip r:embed="rId8"/>
          <a:stretch>
            <a:fillRect/>
          </a:stretch>
        </p:blipFill>
        <p:spPr>
          <a:xfrm>
            <a:off x="8610600" y="2088467"/>
            <a:ext cx="3324258" cy="2667615"/>
          </a:xfrm>
          <a:prstGeom prst="rect">
            <a:avLst/>
          </a:prstGeom>
        </p:spPr>
      </p:pic>
    </p:spTree>
    <p:extLst>
      <p:ext uri="{BB962C8B-B14F-4D97-AF65-F5344CB8AC3E}">
        <p14:creationId xmlns:p14="http://schemas.microsoft.com/office/powerpoint/2010/main" val="233709819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CB9552-DF22-1310-10FA-4D2D2AF77601}"/>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B0632A48-0384-0EF1-389E-FBF3F9C3E7CE}"/>
              </a:ext>
            </a:extLst>
          </p:cNvPr>
          <p:cNvSpPr txBox="1">
            <a:spLocks noGrp="1"/>
          </p:cNvSpPr>
          <p:nvPr>
            <p:ph type="title"/>
          </p:nvPr>
        </p:nvSpPr>
        <p:spPr>
          <a:xfrm>
            <a:off x="685800" y="408883"/>
            <a:ext cx="10994410" cy="782265"/>
          </a:xfrm>
          <a:prstGeom prst="rect">
            <a:avLst/>
          </a:prstGeom>
        </p:spPr>
        <p:txBody>
          <a:bodyPr vert="horz" wrap="square" lIns="0" tIns="12700" rIns="0" bIns="0" rtlCol="0">
            <a:spAutoFit/>
          </a:bodyPr>
          <a:lstStyle/>
          <a:p>
            <a:pPr marL="12700">
              <a:lnSpc>
                <a:spcPct val="100000"/>
              </a:lnSpc>
              <a:spcBef>
                <a:spcPts val="100"/>
              </a:spcBef>
            </a:pPr>
            <a:r>
              <a:rPr lang="en-US" sz="2400" b="1" dirty="0"/>
              <a:t>ASSESSMENT #3 </a:t>
            </a:r>
            <a:r>
              <a:rPr lang="en-US" sz="2500" dirty="0"/>
              <a:t>– SAX implementation </a:t>
            </a:r>
            <a:br>
              <a:rPr lang="es-ES" sz="2500" spc="-5" dirty="0">
                <a:latin typeface="+mj-lt"/>
                <a:cs typeface="Lucida Sans"/>
              </a:rPr>
            </a:br>
            <a:endParaRPr sz="2500" b="0" dirty="0">
              <a:latin typeface="+mj-lt"/>
              <a:cs typeface="Lucida Sans"/>
            </a:endParaRPr>
          </a:p>
        </p:txBody>
      </p:sp>
      <p:pic>
        <p:nvPicPr>
          <p:cNvPr id="83" name="Gráfico 82">
            <a:extLst>
              <a:ext uri="{FF2B5EF4-FFF2-40B4-BE49-F238E27FC236}">
                <a16:creationId xmlns:a16="http://schemas.microsoft.com/office/drawing/2014/main" id="{1F43E6A6-5CC3-9B99-14AC-997478150C3D}"/>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DFC09DB6-1DF7-C8F9-7414-27BC280DEA0F}"/>
              </a:ext>
            </a:extLst>
          </p:cNvPr>
          <p:cNvSpPr>
            <a:spLocks noGrp="1"/>
          </p:cNvSpPr>
          <p:nvPr>
            <p:ph type="sldNum" sz="quarter" idx="7"/>
          </p:nvPr>
        </p:nvSpPr>
        <p:spPr/>
        <p:txBody>
          <a:bodyPr/>
          <a:lstStyle/>
          <a:p>
            <a:fld id="{B6F15528-21DE-4FAA-801E-634DDDAF4B2B}" type="slidenum">
              <a:rPr lang="es-ES" smtClean="0"/>
              <a:t>10</a:t>
            </a:fld>
            <a:endParaRPr lang="es-ES"/>
          </a:p>
        </p:txBody>
      </p:sp>
      <p:sp>
        <p:nvSpPr>
          <p:cNvPr id="4" name="Marcador de texto 2">
            <a:extLst>
              <a:ext uri="{FF2B5EF4-FFF2-40B4-BE49-F238E27FC236}">
                <a16:creationId xmlns:a16="http://schemas.microsoft.com/office/drawing/2014/main" id="{EBC8DCFA-5565-A757-1F8D-F4CCCF573A63}"/>
              </a:ext>
            </a:extLst>
          </p:cNvPr>
          <p:cNvSpPr txBox="1">
            <a:spLocks/>
          </p:cNvSpPr>
          <p:nvPr/>
        </p:nvSpPr>
        <p:spPr>
          <a:xfrm>
            <a:off x="571500" y="1066800"/>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r>
              <a:rPr lang="en-US" dirty="0"/>
              <a:t>Now, we are going to implement the design parameters in the MZI model developed in SAX and compare the response obtained with the one simulated by mathematical formulation. This will help us to identify any error in the definition of the SAX model single components. </a:t>
            </a:r>
          </a:p>
          <a:p>
            <a:br>
              <a:rPr lang="en-US" dirty="0"/>
            </a:br>
            <a:r>
              <a:rPr lang="en-US" dirty="0"/>
              <a:t>In order to implement the SAX model, take as example the following lines:</a:t>
            </a:r>
          </a:p>
          <a:p>
            <a:endParaRPr lang="en-US" dirty="0"/>
          </a:p>
          <a:p>
            <a:pPr lvl="2">
              <a:lnSpc>
                <a:spcPts val="1425"/>
              </a:lnSpc>
            </a:pPr>
            <a:r>
              <a:rPr lang="es-ES" sz="1400" b="0" dirty="0">
                <a:effectLst/>
                <a:latin typeface="Courier New" panose="02070309020205020404" pitchFamily="49" charset="0"/>
              </a:rPr>
              <a:t> </a:t>
            </a:r>
            <a:r>
              <a:rPr lang="es-ES" sz="1400" b="0" dirty="0" err="1">
                <a:effectLst/>
                <a:latin typeface="Courier New" panose="02070309020205020404" pitchFamily="49" charset="0"/>
              </a:rPr>
              <a:t>mzi_test</a:t>
            </a:r>
            <a:r>
              <a:rPr lang="es-ES" sz="1400" b="0" dirty="0">
                <a:effectLst/>
                <a:latin typeface="Courier New" panose="02070309020205020404" pitchFamily="49" charset="0"/>
              </a:rPr>
              <a:t> = </a:t>
            </a:r>
            <a:r>
              <a:rPr lang="es-ES" sz="1400" b="0" dirty="0" err="1">
                <a:effectLst/>
                <a:latin typeface="Courier New" panose="02070309020205020404" pitchFamily="49" charset="0"/>
              </a:rPr>
              <a:t>mzi</a:t>
            </a:r>
            <a:r>
              <a:rPr lang="es-ES" sz="1400" b="0" dirty="0">
                <a:effectLst/>
                <a:latin typeface="Courier New" panose="02070309020205020404" pitchFamily="49" charset="0"/>
              </a:rPr>
              <a:t>(</a:t>
            </a:r>
            <a:r>
              <a:rPr lang="es-ES" sz="1400" b="0" dirty="0" err="1">
                <a:effectLst/>
                <a:latin typeface="Courier New" panose="02070309020205020404" pitchFamily="49" charset="0"/>
              </a:rPr>
              <a:t>wl</a:t>
            </a:r>
            <a:r>
              <a:rPr lang="es-ES" sz="1400" b="0" dirty="0">
                <a:effectLst/>
                <a:latin typeface="Courier New" panose="02070309020205020404" pitchFamily="49" charset="0"/>
              </a:rPr>
              <a:t>=</a:t>
            </a:r>
            <a:r>
              <a:rPr lang="es-ES" sz="1400" b="0" dirty="0" err="1">
                <a:effectLst/>
                <a:latin typeface="Courier New" panose="02070309020205020404" pitchFamily="49" charset="0"/>
              </a:rPr>
              <a:t>wl</a:t>
            </a:r>
            <a:r>
              <a:rPr lang="es-ES" sz="1400" b="0" dirty="0">
                <a:effectLst/>
                <a:latin typeface="Courier New" panose="02070309020205020404" pitchFamily="49" charset="0"/>
              </a:rPr>
              <a:t>, </a:t>
            </a:r>
          </a:p>
          <a:p>
            <a:pPr lvl="2">
              <a:lnSpc>
                <a:spcPts val="1425"/>
              </a:lnSpc>
            </a:pPr>
            <a:r>
              <a:rPr lang="es-ES" sz="1400" b="0" dirty="0">
                <a:effectLst/>
                <a:latin typeface="Courier New" panose="02070309020205020404" pitchFamily="49" charset="0"/>
              </a:rPr>
              <a:t>    </a:t>
            </a:r>
            <a:r>
              <a:rPr lang="es-ES" sz="1400" b="0" dirty="0" err="1">
                <a:effectLst/>
                <a:latin typeface="Courier New" panose="02070309020205020404" pitchFamily="49" charset="0"/>
              </a:rPr>
              <a:t>coup_a</a:t>
            </a:r>
            <a:r>
              <a:rPr lang="es-ES" sz="1400" b="0" dirty="0">
                <a:effectLst/>
                <a:latin typeface="Courier New" panose="02070309020205020404" pitchFamily="49" charset="0"/>
              </a:rPr>
              <a:t> = ...</a:t>
            </a:r>
          </a:p>
          <a:p>
            <a:pPr lvl="2">
              <a:lnSpc>
                <a:spcPts val="1425"/>
              </a:lnSpc>
            </a:pPr>
            <a:r>
              <a:rPr lang="es-ES" sz="1400" b="0" dirty="0">
                <a:effectLst/>
                <a:latin typeface="Courier New" panose="02070309020205020404" pitchFamily="49" charset="0"/>
              </a:rPr>
              <a:t>    </a:t>
            </a:r>
            <a:r>
              <a:rPr lang="es-ES" sz="1400" b="0" dirty="0" err="1">
                <a:effectLst/>
                <a:latin typeface="Courier New" panose="02070309020205020404" pitchFamily="49" charset="0"/>
              </a:rPr>
              <a:t>wvg_d</a:t>
            </a:r>
            <a:r>
              <a:rPr lang="es-ES" sz="1400" b="0" dirty="0">
                <a:effectLst/>
                <a:latin typeface="Courier New" panose="02070309020205020404" pitchFamily="49" charset="0"/>
              </a:rPr>
              <a:t>={"</a:t>
            </a:r>
            <a:r>
              <a:rPr lang="es-ES" sz="1400" b="0" dirty="0" err="1">
                <a:effectLst/>
                <a:latin typeface="Courier New" panose="02070309020205020404" pitchFamily="49" charset="0"/>
              </a:rPr>
              <a:t>length</a:t>
            </a:r>
            <a:r>
              <a:rPr lang="es-ES" sz="1400" b="0" dirty="0">
                <a:effectLst/>
                <a:latin typeface="Courier New" panose="02070309020205020404" pitchFamily="49" charset="0"/>
              </a:rPr>
              <a:t>": </a:t>
            </a:r>
            <a:r>
              <a:rPr lang="es-ES" sz="1400" b="0" dirty="0" err="1">
                <a:effectLst/>
                <a:latin typeface="Courier New" panose="02070309020205020404" pitchFamily="49" charset="0"/>
              </a:rPr>
              <a:t>l_d</a:t>
            </a:r>
            <a:r>
              <a:rPr lang="es-ES" sz="1400" b="0" dirty="0">
                <a:effectLst/>
                <a:latin typeface="Courier New" panose="02070309020205020404" pitchFamily="49" charset="0"/>
              </a:rPr>
              <a:t>, "</a:t>
            </a:r>
            <a:r>
              <a:rPr lang="es-ES" sz="1400" b="0" dirty="0" err="1">
                <a:effectLst/>
                <a:latin typeface="Courier New" panose="02070309020205020404" pitchFamily="49" charset="0"/>
              </a:rPr>
              <a:t>neff</a:t>
            </a:r>
            <a:r>
              <a:rPr lang="es-ES" sz="1400" b="0" dirty="0">
                <a:effectLst/>
                <a:latin typeface="Courier New" panose="02070309020205020404" pitchFamily="49" charset="0"/>
              </a:rPr>
              <a:t>": ...}, </a:t>
            </a:r>
          </a:p>
          <a:p>
            <a:pPr lvl="2">
              <a:lnSpc>
                <a:spcPts val="1425"/>
              </a:lnSpc>
            </a:pPr>
            <a:r>
              <a:rPr lang="es-ES" sz="1400" b="0" dirty="0">
                <a:effectLst/>
                <a:latin typeface="Courier New" panose="02070309020205020404" pitchFamily="49" charset="0"/>
              </a:rPr>
              <a:t>    </a:t>
            </a:r>
            <a:r>
              <a:rPr lang="es-ES" sz="1400" b="0" dirty="0" err="1">
                <a:effectLst/>
                <a:latin typeface="Courier New" panose="02070309020205020404" pitchFamily="49" charset="0"/>
              </a:rPr>
              <a:t>wvg_u</a:t>
            </a:r>
            <a:r>
              <a:rPr lang="es-ES" sz="1400" b="0" dirty="0">
                <a:effectLst/>
                <a:latin typeface="Courier New" panose="02070309020205020404" pitchFamily="49" charset="0"/>
              </a:rPr>
              <a:t>={"</a:t>
            </a:r>
            <a:r>
              <a:rPr lang="es-ES" sz="1400" b="0" dirty="0" err="1">
                <a:effectLst/>
                <a:latin typeface="Courier New" panose="02070309020205020404" pitchFamily="49" charset="0"/>
              </a:rPr>
              <a:t>length</a:t>
            </a:r>
            <a:r>
              <a:rPr lang="es-ES" sz="1400" b="0" dirty="0">
                <a:effectLst/>
                <a:latin typeface="Courier New" panose="02070309020205020404" pitchFamily="49" charset="0"/>
              </a:rPr>
              <a:t>": </a:t>
            </a:r>
            <a:r>
              <a:rPr lang="es-ES" sz="1400" b="0" dirty="0" err="1">
                <a:effectLst/>
                <a:latin typeface="Courier New" panose="02070309020205020404" pitchFamily="49" charset="0"/>
              </a:rPr>
              <a:t>l_u</a:t>
            </a:r>
            <a:r>
              <a:rPr lang="es-ES" sz="1400" b="0" dirty="0">
                <a:effectLst/>
                <a:latin typeface="Courier New" panose="02070309020205020404" pitchFamily="49" charset="0"/>
              </a:rPr>
              <a:t>, "</a:t>
            </a:r>
            <a:r>
              <a:rPr lang="es-ES" sz="1400" b="0" dirty="0" err="1">
                <a:effectLst/>
                <a:latin typeface="Courier New" panose="02070309020205020404" pitchFamily="49" charset="0"/>
              </a:rPr>
              <a:t>neff</a:t>
            </a:r>
            <a:r>
              <a:rPr lang="es-ES" sz="1400" b="0" dirty="0">
                <a:effectLst/>
                <a:latin typeface="Courier New" panose="02070309020205020404" pitchFamily="49" charset="0"/>
              </a:rPr>
              <a:t>": ...},</a:t>
            </a:r>
          </a:p>
          <a:p>
            <a:pPr lvl="2">
              <a:lnSpc>
                <a:spcPts val="1425"/>
              </a:lnSpc>
            </a:pPr>
            <a:r>
              <a:rPr lang="es-ES" sz="1400" b="0" dirty="0">
                <a:effectLst/>
                <a:latin typeface="Courier New" panose="02070309020205020404" pitchFamily="49" charset="0"/>
              </a:rPr>
              <a:t>    </a:t>
            </a:r>
            <a:r>
              <a:rPr lang="es-ES" sz="1400" b="0" dirty="0" err="1">
                <a:effectLst/>
                <a:latin typeface="Courier New" panose="02070309020205020404" pitchFamily="49" charset="0"/>
              </a:rPr>
              <a:t>coup_b</a:t>
            </a:r>
            <a:r>
              <a:rPr lang="es-ES" sz="1400" b="0" dirty="0">
                <a:effectLst/>
                <a:latin typeface="Courier New" panose="02070309020205020404" pitchFamily="49" charset="0"/>
              </a:rPr>
              <a:t> = ... )</a:t>
            </a:r>
          </a:p>
          <a:p>
            <a:pPr lvl="2">
              <a:lnSpc>
                <a:spcPts val="1425"/>
              </a:lnSpc>
            </a:pPr>
            <a:br>
              <a:rPr lang="es-ES" sz="1400" b="0" dirty="0">
                <a:effectLst/>
                <a:latin typeface="Courier New" panose="02070309020205020404" pitchFamily="49" charset="0"/>
              </a:rPr>
            </a:br>
            <a:r>
              <a:rPr lang="es-ES" sz="1400" b="0" dirty="0">
                <a:effectLst/>
                <a:latin typeface="Courier New" panose="02070309020205020404" pitchFamily="49" charset="0"/>
              </a:rPr>
              <a:t>    H00 = </a:t>
            </a:r>
            <a:r>
              <a:rPr lang="es-ES" sz="1400" b="0" dirty="0" err="1">
                <a:effectLst/>
                <a:latin typeface="Courier New" panose="02070309020205020404" pitchFamily="49" charset="0"/>
              </a:rPr>
              <a:t>mzi_test</a:t>
            </a:r>
            <a:r>
              <a:rPr lang="es-ES" sz="1400" b="0" dirty="0">
                <a:effectLst/>
                <a:latin typeface="Courier New" panose="02070309020205020404" pitchFamily="49" charset="0"/>
              </a:rPr>
              <a:t>["in0", "out0"]</a:t>
            </a:r>
          </a:p>
          <a:p>
            <a:endParaRPr lang="en-US" sz="2000" dirty="0"/>
          </a:p>
          <a:p>
            <a:pPr algn="just"/>
            <a:endParaRPr lang="en-US" sz="2000" dirty="0"/>
          </a:p>
          <a:p>
            <a:pPr algn="just"/>
            <a:endParaRPr lang="en-US" sz="2000" b="1" i="1" dirty="0"/>
          </a:p>
          <a:p>
            <a:pPr algn="just"/>
            <a:endParaRPr lang="en-US" sz="2000" kern="0" dirty="0">
              <a:solidFill>
                <a:sysClr val="windowText" lastClr="000000"/>
              </a:solidFill>
            </a:endParaRPr>
          </a:p>
          <a:p>
            <a:endParaRPr lang="en-US" sz="2000" kern="0" dirty="0">
              <a:solidFill>
                <a:sysClr val="windowText" lastClr="000000"/>
              </a:solidFill>
            </a:endParaRPr>
          </a:p>
        </p:txBody>
      </p:sp>
      <p:sp>
        <p:nvSpPr>
          <p:cNvPr id="2" name="CuadroTexto 1">
            <a:extLst>
              <a:ext uri="{FF2B5EF4-FFF2-40B4-BE49-F238E27FC236}">
                <a16:creationId xmlns:a16="http://schemas.microsoft.com/office/drawing/2014/main" id="{CA4A2D6E-5993-52B3-D251-1ADF2B0C8355}"/>
              </a:ext>
            </a:extLst>
          </p:cNvPr>
          <p:cNvSpPr txBox="1"/>
          <p:nvPr/>
        </p:nvSpPr>
        <p:spPr>
          <a:xfrm>
            <a:off x="609441" y="4860334"/>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Document all your results (copy here the code employed to obtain the transfer function employing SAX modeling and include the comparative plot of the models)</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5" name="Marcador de pie de página 2">
            <a:extLst>
              <a:ext uri="{FF2B5EF4-FFF2-40B4-BE49-F238E27FC236}">
                <a16:creationId xmlns:a16="http://schemas.microsoft.com/office/drawing/2014/main" id="{ED97C9D0-256C-D4CA-42E7-79330F040B30}"/>
              </a:ext>
            </a:extLst>
          </p:cNvPr>
          <p:cNvSpPr>
            <a:spLocks noGrp="1"/>
          </p:cNvSpPr>
          <p:nvPr>
            <p:ph type="ftr" sz="quarter" idx="5"/>
          </p:nvPr>
        </p:nvSpPr>
        <p:spPr>
          <a:xfrm>
            <a:off x="609600" y="6457057"/>
            <a:ext cx="2743200" cy="184666"/>
          </a:xfrm>
        </p:spPr>
        <p:txBody>
          <a:bodyPr/>
          <a:lstStyle/>
          <a:p>
            <a:pPr marL="12700">
              <a:spcBef>
                <a:spcPts val="15"/>
              </a:spcBef>
            </a:pPr>
            <a:r>
              <a:rPr lang="es-ES" spc="-5"/>
              <a:t>LAB 3. INTERFEROMETERS I</a:t>
            </a:r>
            <a:endParaRPr lang="es-ES" spc="-5" dirty="0"/>
          </a:p>
        </p:txBody>
      </p:sp>
    </p:spTree>
    <p:extLst>
      <p:ext uri="{BB962C8B-B14F-4D97-AF65-F5344CB8AC3E}">
        <p14:creationId xmlns:p14="http://schemas.microsoft.com/office/powerpoint/2010/main" val="366643681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F1F9E76-0A59-4DB1-ADE5-55DB00742A12}"/>
              </a:ext>
            </a:extLst>
          </p:cNvPr>
          <p:cNvSpPr>
            <a:spLocks noGrp="1"/>
          </p:cNvSpPr>
          <p:nvPr>
            <p:ph type="title"/>
          </p:nvPr>
        </p:nvSpPr>
        <p:spPr>
          <a:xfrm>
            <a:off x="590550" y="206752"/>
            <a:ext cx="10991850" cy="615553"/>
          </a:xfrm>
        </p:spPr>
        <p:txBody>
          <a:bodyPr/>
          <a:lstStyle/>
          <a:p>
            <a:r>
              <a:rPr lang="en-US" sz="2000" dirty="0">
                <a:latin typeface="Arial" panose="020B0604020202020204" pitchFamily="34" charset="0"/>
                <a:cs typeface="Arial" panose="020B0604020202020204" pitchFamily="34" charset="0"/>
              </a:rPr>
              <a:t>Código </a:t>
            </a:r>
            <a:r>
              <a:rPr lang="en-US" sz="2000" dirty="0" err="1">
                <a:latin typeface="Arial" panose="020B0604020202020204" pitchFamily="34" charset="0"/>
                <a:cs typeface="Arial" panose="020B0604020202020204" pitchFamily="34" charset="0"/>
              </a:rPr>
              <a:t>empleado</a:t>
            </a:r>
            <a:r>
              <a:rPr lang="en-US" sz="2000" dirty="0">
                <a:latin typeface="Arial" panose="020B0604020202020204" pitchFamily="34" charset="0"/>
                <a:cs typeface="Arial" panose="020B0604020202020204" pitchFamily="34" charset="0"/>
              </a:rPr>
              <a:t> para </a:t>
            </a:r>
            <a:r>
              <a:rPr lang="en-US" sz="2000" dirty="0" err="1">
                <a:latin typeface="Arial" panose="020B0604020202020204" pitchFamily="34" charset="0"/>
                <a:cs typeface="Arial" panose="020B0604020202020204" pitchFamily="34" charset="0"/>
              </a:rPr>
              <a:t>obtener</a:t>
            </a:r>
            <a:r>
              <a:rPr lang="en-US" sz="2000" dirty="0">
                <a:latin typeface="Arial" panose="020B0604020202020204" pitchFamily="34" charset="0"/>
                <a:cs typeface="Arial" panose="020B0604020202020204" pitchFamily="34" charset="0"/>
              </a:rPr>
              <a:t> la </a:t>
            </a:r>
            <a:r>
              <a:rPr lang="en-US" sz="2000" dirty="0" err="1">
                <a:latin typeface="Arial" panose="020B0604020202020204" pitchFamily="34" charset="0"/>
                <a:cs typeface="Arial" panose="020B0604020202020204" pitchFamily="34" charset="0"/>
              </a:rPr>
              <a:t>función</a:t>
            </a:r>
            <a:r>
              <a:rPr lang="en-US" sz="2000" dirty="0">
                <a:latin typeface="Arial" panose="020B0604020202020204" pitchFamily="34" charset="0"/>
                <a:cs typeface="Arial" panose="020B0604020202020204" pitchFamily="34" charset="0"/>
              </a:rPr>
              <a:t> de </a:t>
            </a:r>
            <a:r>
              <a:rPr lang="en-US" sz="2000" dirty="0" err="1">
                <a:latin typeface="Arial" panose="020B0604020202020204" pitchFamily="34" charset="0"/>
                <a:cs typeface="Arial" panose="020B0604020202020204" pitchFamily="34" charset="0"/>
              </a:rPr>
              <a:t>transferencia</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empleando</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el</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modelado</a:t>
            </a:r>
            <a:r>
              <a:rPr lang="en-US" sz="2000" dirty="0">
                <a:latin typeface="Arial" panose="020B0604020202020204" pitchFamily="34" charset="0"/>
                <a:cs typeface="Arial" panose="020B0604020202020204" pitchFamily="34" charset="0"/>
              </a:rPr>
              <a:t> SAX </a:t>
            </a:r>
            <a:br>
              <a:rPr lang="en-US" sz="2000" dirty="0">
                <a:latin typeface="Arial" panose="020B0604020202020204" pitchFamily="34" charset="0"/>
                <a:cs typeface="Arial" panose="020B0604020202020204" pitchFamily="34" charset="0"/>
              </a:rPr>
            </a:br>
            <a:endParaRPr lang="es-ES" dirty="0"/>
          </a:p>
        </p:txBody>
      </p:sp>
      <p:sp>
        <p:nvSpPr>
          <p:cNvPr id="4" name="Marcador de pie de página 3">
            <a:extLst>
              <a:ext uri="{FF2B5EF4-FFF2-40B4-BE49-F238E27FC236}">
                <a16:creationId xmlns:a16="http://schemas.microsoft.com/office/drawing/2014/main" id="{4F48F81C-C9A3-4DCF-B656-32575F0769FD}"/>
              </a:ext>
            </a:extLst>
          </p:cNvPr>
          <p:cNvSpPr>
            <a:spLocks noGrp="1"/>
          </p:cNvSpPr>
          <p:nvPr>
            <p:ph type="ftr" sz="quarter" idx="5"/>
          </p:nvPr>
        </p:nvSpPr>
        <p:spPr/>
        <p:txBody>
          <a:bodyPr/>
          <a:lstStyle/>
          <a:p>
            <a:pPr marL="12700">
              <a:spcBef>
                <a:spcPts val="15"/>
              </a:spcBef>
            </a:pPr>
            <a:r>
              <a:rPr lang="es-ES" spc="-5"/>
              <a:t>LAB 3. INTERFEROMETERS I</a:t>
            </a:r>
            <a:endParaRPr lang="es-ES" spc="-5" dirty="0"/>
          </a:p>
        </p:txBody>
      </p:sp>
      <p:sp>
        <p:nvSpPr>
          <p:cNvPr id="5" name="Marcador de número de diapositiva 4">
            <a:extLst>
              <a:ext uri="{FF2B5EF4-FFF2-40B4-BE49-F238E27FC236}">
                <a16:creationId xmlns:a16="http://schemas.microsoft.com/office/drawing/2014/main" id="{070D72EA-B3BF-4745-9518-E131893B00A9}"/>
              </a:ext>
            </a:extLst>
          </p:cNvPr>
          <p:cNvSpPr>
            <a:spLocks noGrp="1"/>
          </p:cNvSpPr>
          <p:nvPr>
            <p:ph type="sldNum" sz="quarter" idx="7"/>
          </p:nvPr>
        </p:nvSpPr>
        <p:spPr/>
        <p:txBody>
          <a:bodyPr/>
          <a:lstStyle/>
          <a:p>
            <a:fld id="{B6F15528-21DE-4FAA-801E-634DDDAF4B2B}" type="slidenum">
              <a:rPr lang="es-ES" smtClean="0"/>
              <a:t>11</a:t>
            </a:fld>
            <a:endParaRPr lang="es-ES"/>
          </a:p>
        </p:txBody>
      </p:sp>
      <p:pic>
        <p:nvPicPr>
          <p:cNvPr id="7" name="Imagen 6">
            <a:extLst>
              <a:ext uri="{FF2B5EF4-FFF2-40B4-BE49-F238E27FC236}">
                <a16:creationId xmlns:a16="http://schemas.microsoft.com/office/drawing/2014/main" id="{434CC26C-57BF-4978-9727-32181DCE955A}"/>
              </a:ext>
            </a:extLst>
          </p:cNvPr>
          <p:cNvPicPr>
            <a:picLocks noChangeAspect="1"/>
          </p:cNvPicPr>
          <p:nvPr/>
        </p:nvPicPr>
        <p:blipFill>
          <a:blip r:embed="rId2"/>
          <a:stretch>
            <a:fillRect/>
          </a:stretch>
        </p:blipFill>
        <p:spPr>
          <a:xfrm>
            <a:off x="3110108" y="762000"/>
            <a:ext cx="5971784" cy="5498630"/>
          </a:xfrm>
          <a:prstGeom prst="rect">
            <a:avLst/>
          </a:prstGeom>
        </p:spPr>
      </p:pic>
    </p:spTree>
    <p:extLst>
      <p:ext uri="{BB962C8B-B14F-4D97-AF65-F5344CB8AC3E}">
        <p14:creationId xmlns:p14="http://schemas.microsoft.com/office/powerpoint/2010/main" val="356774517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428B43E-006E-4259-A9C5-BDE38764AFDB}"/>
              </a:ext>
            </a:extLst>
          </p:cNvPr>
          <p:cNvSpPr>
            <a:spLocks noGrp="1"/>
          </p:cNvSpPr>
          <p:nvPr>
            <p:ph type="title"/>
          </p:nvPr>
        </p:nvSpPr>
        <p:spPr/>
        <p:txBody>
          <a:bodyPr/>
          <a:lstStyle/>
          <a:p>
            <a:r>
              <a:rPr lang="es-ES" dirty="0"/>
              <a:t>Comparative </a:t>
            </a:r>
            <a:r>
              <a:rPr lang="es-ES" dirty="0" err="1"/>
              <a:t>plot</a:t>
            </a:r>
            <a:r>
              <a:rPr lang="es-ES" dirty="0"/>
              <a:t> </a:t>
            </a:r>
            <a:r>
              <a:rPr lang="es-ES" dirty="0" err="1"/>
              <a:t>of</a:t>
            </a:r>
            <a:r>
              <a:rPr lang="es-ES" dirty="0"/>
              <a:t> </a:t>
            </a:r>
            <a:r>
              <a:rPr lang="es-ES" dirty="0" err="1"/>
              <a:t>the</a:t>
            </a:r>
            <a:r>
              <a:rPr lang="es-ES" dirty="0"/>
              <a:t> </a:t>
            </a:r>
            <a:r>
              <a:rPr lang="es-ES" dirty="0" err="1"/>
              <a:t>models</a:t>
            </a:r>
            <a:endParaRPr lang="es-ES" dirty="0"/>
          </a:p>
        </p:txBody>
      </p:sp>
      <p:sp>
        <p:nvSpPr>
          <p:cNvPr id="3" name="Marcador de texto 2">
            <a:extLst>
              <a:ext uri="{FF2B5EF4-FFF2-40B4-BE49-F238E27FC236}">
                <a16:creationId xmlns:a16="http://schemas.microsoft.com/office/drawing/2014/main" id="{E3D5506D-31DF-49E8-A9F9-47379892D638}"/>
              </a:ext>
            </a:extLst>
          </p:cNvPr>
          <p:cNvSpPr>
            <a:spLocks noGrp="1"/>
          </p:cNvSpPr>
          <p:nvPr>
            <p:ph type="body" idx="1"/>
          </p:nvPr>
        </p:nvSpPr>
        <p:spPr>
          <a:xfrm>
            <a:off x="590550" y="5399737"/>
            <a:ext cx="10972800" cy="369332"/>
          </a:xfrm>
        </p:spPr>
        <p:txBody>
          <a:bodyPr/>
          <a:lstStyle/>
          <a:p>
            <a:r>
              <a:rPr lang="es-ES" sz="1200" dirty="0"/>
              <a:t>Podemos observar que los resultados obtenidos mediante el modelado SAX son exactamente los mismos que en las simulaciones anteriores. En este caso se puede observar un cambio en la numeración de los subíndices de los elementos de la matriz de transferencia, pero es simple notación.</a:t>
            </a:r>
          </a:p>
        </p:txBody>
      </p:sp>
      <p:sp>
        <p:nvSpPr>
          <p:cNvPr id="4" name="Marcador de pie de página 3">
            <a:extLst>
              <a:ext uri="{FF2B5EF4-FFF2-40B4-BE49-F238E27FC236}">
                <a16:creationId xmlns:a16="http://schemas.microsoft.com/office/drawing/2014/main" id="{15F11405-36B1-48D9-986F-F988B5A8CCD9}"/>
              </a:ext>
            </a:extLst>
          </p:cNvPr>
          <p:cNvSpPr>
            <a:spLocks noGrp="1"/>
          </p:cNvSpPr>
          <p:nvPr>
            <p:ph type="ftr" sz="quarter" idx="5"/>
          </p:nvPr>
        </p:nvSpPr>
        <p:spPr/>
        <p:txBody>
          <a:bodyPr/>
          <a:lstStyle/>
          <a:p>
            <a:pPr marL="12700">
              <a:spcBef>
                <a:spcPts val="15"/>
              </a:spcBef>
            </a:pPr>
            <a:r>
              <a:rPr lang="es-ES" spc="-5"/>
              <a:t>LAB 3. INTERFEROMETERS I</a:t>
            </a:r>
            <a:endParaRPr lang="es-ES" spc="-5" dirty="0"/>
          </a:p>
        </p:txBody>
      </p:sp>
      <p:sp>
        <p:nvSpPr>
          <p:cNvPr id="5" name="Marcador de número de diapositiva 4">
            <a:extLst>
              <a:ext uri="{FF2B5EF4-FFF2-40B4-BE49-F238E27FC236}">
                <a16:creationId xmlns:a16="http://schemas.microsoft.com/office/drawing/2014/main" id="{850FFED3-A027-468B-812F-4B4F066B876D}"/>
              </a:ext>
            </a:extLst>
          </p:cNvPr>
          <p:cNvSpPr>
            <a:spLocks noGrp="1"/>
          </p:cNvSpPr>
          <p:nvPr>
            <p:ph type="sldNum" sz="quarter" idx="7"/>
          </p:nvPr>
        </p:nvSpPr>
        <p:spPr/>
        <p:txBody>
          <a:bodyPr/>
          <a:lstStyle/>
          <a:p>
            <a:fld id="{B6F15528-21DE-4FAA-801E-634DDDAF4B2B}" type="slidenum">
              <a:rPr lang="es-ES" smtClean="0"/>
              <a:t>12</a:t>
            </a:fld>
            <a:endParaRPr lang="es-ES"/>
          </a:p>
        </p:txBody>
      </p:sp>
      <p:pic>
        <p:nvPicPr>
          <p:cNvPr id="6" name="Imagen 5">
            <a:extLst>
              <a:ext uri="{FF2B5EF4-FFF2-40B4-BE49-F238E27FC236}">
                <a16:creationId xmlns:a16="http://schemas.microsoft.com/office/drawing/2014/main" id="{B537B6E4-E1D5-4904-AA8B-FD09EFE6840B}"/>
              </a:ext>
            </a:extLst>
          </p:cNvPr>
          <p:cNvPicPr>
            <a:picLocks noChangeAspect="1"/>
          </p:cNvPicPr>
          <p:nvPr/>
        </p:nvPicPr>
        <p:blipFill>
          <a:blip r:embed="rId2"/>
          <a:stretch>
            <a:fillRect/>
          </a:stretch>
        </p:blipFill>
        <p:spPr>
          <a:xfrm>
            <a:off x="885620" y="618918"/>
            <a:ext cx="2683646" cy="2153543"/>
          </a:xfrm>
          <a:prstGeom prst="rect">
            <a:avLst/>
          </a:prstGeom>
        </p:spPr>
      </p:pic>
      <p:pic>
        <p:nvPicPr>
          <p:cNvPr id="7" name="Imagen 6">
            <a:extLst>
              <a:ext uri="{FF2B5EF4-FFF2-40B4-BE49-F238E27FC236}">
                <a16:creationId xmlns:a16="http://schemas.microsoft.com/office/drawing/2014/main" id="{A3E60F30-0602-4933-809A-2730700DC680}"/>
              </a:ext>
            </a:extLst>
          </p:cNvPr>
          <p:cNvPicPr>
            <a:picLocks noChangeAspect="1"/>
          </p:cNvPicPr>
          <p:nvPr/>
        </p:nvPicPr>
        <p:blipFill>
          <a:blip r:embed="rId3"/>
          <a:stretch>
            <a:fillRect/>
          </a:stretch>
        </p:blipFill>
        <p:spPr>
          <a:xfrm>
            <a:off x="4374319" y="618918"/>
            <a:ext cx="2726244" cy="2153543"/>
          </a:xfrm>
          <a:prstGeom prst="rect">
            <a:avLst/>
          </a:prstGeom>
        </p:spPr>
      </p:pic>
      <p:pic>
        <p:nvPicPr>
          <p:cNvPr id="8" name="Imagen 7">
            <a:extLst>
              <a:ext uri="{FF2B5EF4-FFF2-40B4-BE49-F238E27FC236}">
                <a16:creationId xmlns:a16="http://schemas.microsoft.com/office/drawing/2014/main" id="{73B99E19-E6F3-4248-B70C-F70CBD0706B1}"/>
              </a:ext>
            </a:extLst>
          </p:cNvPr>
          <p:cNvPicPr>
            <a:picLocks noChangeAspect="1"/>
          </p:cNvPicPr>
          <p:nvPr/>
        </p:nvPicPr>
        <p:blipFill>
          <a:blip r:embed="rId4"/>
          <a:stretch>
            <a:fillRect/>
          </a:stretch>
        </p:blipFill>
        <p:spPr>
          <a:xfrm>
            <a:off x="7905616" y="618917"/>
            <a:ext cx="2683646" cy="2153544"/>
          </a:xfrm>
          <a:prstGeom prst="rect">
            <a:avLst/>
          </a:prstGeom>
        </p:spPr>
      </p:pic>
      <p:pic>
        <p:nvPicPr>
          <p:cNvPr id="10" name="Imagen 9">
            <a:extLst>
              <a:ext uri="{FF2B5EF4-FFF2-40B4-BE49-F238E27FC236}">
                <a16:creationId xmlns:a16="http://schemas.microsoft.com/office/drawing/2014/main" id="{BA63953C-B58C-4F2D-AB0D-D8A2D13A27C5}"/>
              </a:ext>
            </a:extLst>
          </p:cNvPr>
          <p:cNvPicPr>
            <a:picLocks noChangeAspect="1"/>
          </p:cNvPicPr>
          <p:nvPr/>
        </p:nvPicPr>
        <p:blipFill>
          <a:blip r:embed="rId5"/>
          <a:stretch>
            <a:fillRect/>
          </a:stretch>
        </p:blipFill>
        <p:spPr>
          <a:xfrm>
            <a:off x="4374319" y="2931664"/>
            <a:ext cx="2726245" cy="2153545"/>
          </a:xfrm>
          <a:prstGeom prst="rect">
            <a:avLst/>
          </a:prstGeom>
        </p:spPr>
      </p:pic>
      <p:pic>
        <p:nvPicPr>
          <p:cNvPr id="12" name="Imagen 11">
            <a:extLst>
              <a:ext uri="{FF2B5EF4-FFF2-40B4-BE49-F238E27FC236}">
                <a16:creationId xmlns:a16="http://schemas.microsoft.com/office/drawing/2014/main" id="{4F8333A6-FEB4-4227-B9DC-DF694700C98A}"/>
              </a:ext>
            </a:extLst>
          </p:cNvPr>
          <p:cNvPicPr>
            <a:picLocks noChangeAspect="1"/>
          </p:cNvPicPr>
          <p:nvPr/>
        </p:nvPicPr>
        <p:blipFill>
          <a:blip r:embed="rId6"/>
          <a:stretch>
            <a:fillRect/>
          </a:stretch>
        </p:blipFill>
        <p:spPr>
          <a:xfrm>
            <a:off x="885620" y="2927538"/>
            <a:ext cx="2683646" cy="2153543"/>
          </a:xfrm>
          <a:prstGeom prst="rect">
            <a:avLst/>
          </a:prstGeom>
        </p:spPr>
      </p:pic>
      <p:pic>
        <p:nvPicPr>
          <p:cNvPr id="14" name="Imagen 13">
            <a:extLst>
              <a:ext uri="{FF2B5EF4-FFF2-40B4-BE49-F238E27FC236}">
                <a16:creationId xmlns:a16="http://schemas.microsoft.com/office/drawing/2014/main" id="{D8BB6DC5-17F1-4C11-9453-E441234B8E77}"/>
              </a:ext>
            </a:extLst>
          </p:cNvPr>
          <p:cNvPicPr>
            <a:picLocks noChangeAspect="1"/>
          </p:cNvPicPr>
          <p:nvPr/>
        </p:nvPicPr>
        <p:blipFill>
          <a:blip r:embed="rId7"/>
          <a:stretch>
            <a:fillRect/>
          </a:stretch>
        </p:blipFill>
        <p:spPr>
          <a:xfrm>
            <a:off x="7905616" y="2927538"/>
            <a:ext cx="2683646" cy="2153543"/>
          </a:xfrm>
          <a:prstGeom prst="rect">
            <a:avLst/>
          </a:prstGeom>
        </p:spPr>
      </p:pic>
    </p:spTree>
    <p:extLst>
      <p:ext uri="{BB962C8B-B14F-4D97-AF65-F5344CB8AC3E}">
        <p14:creationId xmlns:p14="http://schemas.microsoft.com/office/powerpoint/2010/main" val="364610233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434E70-43B1-3881-1771-20FB4358471D}"/>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742C31CE-19F0-B995-0997-9A2D6A879BF7}"/>
              </a:ext>
            </a:extLst>
          </p:cNvPr>
          <p:cNvSpPr txBox="1">
            <a:spLocks noGrp="1"/>
          </p:cNvSpPr>
          <p:nvPr>
            <p:ph type="title"/>
          </p:nvPr>
        </p:nvSpPr>
        <p:spPr>
          <a:xfrm>
            <a:off x="685800" y="408883"/>
            <a:ext cx="10994410" cy="397545"/>
          </a:xfrm>
          <a:prstGeom prst="rect">
            <a:avLst/>
          </a:prstGeom>
        </p:spPr>
        <p:txBody>
          <a:bodyPr vert="horz" wrap="square" lIns="0" tIns="12700" rIns="0" bIns="0" rtlCol="0">
            <a:spAutoFit/>
          </a:bodyPr>
          <a:lstStyle/>
          <a:p>
            <a:pPr marL="12700">
              <a:lnSpc>
                <a:spcPct val="100000"/>
              </a:lnSpc>
              <a:spcBef>
                <a:spcPts val="100"/>
              </a:spcBef>
            </a:pPr>
            <a:r>
              <a:rPr lang="en-US" sz="2500" dirty="0"/>
              <a:t>Extra assessments </a:t>
            </a:r>
            <a:endParaRPr lang="en-US" sz="2500" b="0" dirty="0">
              <a:latin typeface="+mj-lt"/>
              <a:cs typeface="Lucida Sans"/>
            </a:endParaRPr>
          </a:p>
        </p:txBody>
      </p:sp>
      <p:pic>
        <p:nvPicPr>
          <p:cNvPr id="83" name="Gráfico 82">
            <a:extLst>
              <a:ext uri="{FF2B5EF4-FFF2-40B4-BE49-F238E27FC236}">
                <a16:creationId xmlns:a16="http://schemas.microsoft.com/office/drawing/2014/main" id="{D688A609-F3DC-EE34-C536-683E70F32EA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B6C672C6-89D4-7E67-2B94-811D081786A7}"/>
              </a:ext>
            </a:extLst>
          </p:cNvPr>
          <p:cNvSpPr>
            <a:spLocks noGrp="1"/>
          </p:cNvSpPr>
          <p:nvPr>
            <p:ph type="sldNum" sz="quarter" idx="7"/>
          </p:nvPr>
        </p:nvSpPr>
        <p:spPr/>
        <p:txBody>
          <a:bodyPr/>
          <a:lstStyle/>
          <a:p>
            <a:fld id="{B6F15528-21DE-4FAA-801E-634DDDAF4B2B}" type="slidenum">
              <a:rPr lang="es-ES" smtClean="0"/>
              <a:t>13</a:t>
            </a:fld>
            <a:endParaRPr lang="es-ES"/>
          </a:p>
        </p:txBody>
      </p:sp>
      <p:sp>
        <p:nvSpPr>
          <p:cNvPr id="4" name="Marcador de texto 2">
            <a:extLst>
              <a:ext uri="{FF2B5EF4-FFF2-40B4-BE49-F238E27FC236}">
                <a16:creationId xmlns:a16="http://schemas.microsoft.com/office/drawing/2014/main" id="{D838A93A-BFC8-0124-93CE-FDC193435A0C}"/>
              </a:ext>
            </a:extLst>
          </p:cNvPr>
          <p:cNvSpPr txBox="1">
            <a:spLocks/>
          </p:cNvSpPr>
          <p:nvPr/>
        </p:nvSpPr>
        <p:spPr>
          <a:xfrm>
            <a:off x="608012" y="1295400"/>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marL="0" indent="0">
              <a:buNone/>
            </a:pPr>
            <a:r>
              <a:rPr lang="en-US" b="1" dirty="0"/>
              <a:t>Assessment 4</a:t>
            </a:r>
            <a:r>
              <a:rPr lang="en-US" dirty="0"/>
              <a:t>. Design an MZI for filtering at a specific wavelength. Calculate and adjust the arm lengths to configure the MZI to have a maximum transmission at 1550 nm.</a:t>
            </a:r>
          </a:p>
          <a:p>
            <a:endParaRPr lang="en-US" b="1" dirty="0"/>
          </a:p>
          <a:p>
            <a:r>
              <a:rPr lang="en-US" b="1" dirty="0"/>
              <a:t>Assessment 5. </a:t>
            </a:r>
            <a:r>
              <a:rPr lang="en-US" dirty="0"/>
              <a:t>Let's see how the response of the MZI varies with the effective index. Vary the effective index of one of the arms and analyze how the spectrum shifts. To do this, you can use the data provided in the .txt files entitled ‘</a:t>
            </a:r>
            <a:r>
              <a:rPr lang="en-US" dirty="0" err="1"/>
              <a:t>SiN</a:t>
            </a:r>
            <a:r>
              <a:rPr lang="en-US" dirty="0"/>
              <a:t>’. Can you give an example of an application where this configuration is used?</a:t>
            </a:r>
          </a:p>
          <a:p>
            <a:pPr marL="0" indent="0">
              <a:buNone/>
            </a:pPr>
            <a:endParaRPr lang="en-US" dirty="0"/>
          </a:p>
          <a:p>
            <a:r>
              <a:rPr lang="en-US" b="1" dirty="0"/>
              <a:t>Advanced level assessment.</a:t>
            </a:r>
            <a:r>
              <a:rPr lang="en-US" dirty="0"/>
              <a:t> Explore how cascading two MZIs affects the transmission spectrum. To do so, design a system in which two MZIs are cascaded. Simulate and observe the spectrum, explaining how the transmission peaks behave</a:t>
            </a:r>
            <a:r>
              <a:rPr lang="en-US" b="1" dirty="0"/>
              <a:t>.</a:t>
            </a:r>
          </a:p>
          <a:p>
            <a:pPr algn="just"/>
            <a:endParaRPr lang="en-US" sz="2000" kern="0" dirty="0">
              <a:solidFill>
                <a:sysClr val="windowText" lastClr="000000"/>
              </a:solidFill>
            </a:endParaRPr>
          </a:p>
        </p:txBody>
      </p:sp>
      <p:sp>
        <p:nvSpPr>
          <p:cNvPr id="2" name="CuadroTexto 1">
            <a:extLst>
              <a:ext uri="{FF2B5EF4-FFF2-40B4-BE49-F238E27FC236}">
                <a16:creationId xmlns:a16="http://schemas.microsoft.com/office/drawing/2014/main" id="{FDE3A197-9508-F9F1-1FEB-FF883D78C151}"/>
              </a:ext>
            </a:extLst>
          </p:cNvPr>
          <p:cNvSpPr txBox="1"/>
          <p:nvPr/>
        </p:nvSpPr>
        <p:spPr>
          <a:xfrm>
            <a:off x="609441" y="4860334"/>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Document all your results</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6" name="Marcador de pie de página 2">
            <a:extLst>
              <a:ext uri="{FF2B5EF4-FFF2-40B4-BE49-F238E27FC236}">
                <a16:creationId xmlns:a16="http://schemas.microsoft.com/office/drawing/2014/main" id="{04C1A7E9-6C33-172D-E7B9-CCF643221E6A}"/>
              </a:ext>
            </a:extLst>
          </p:cNvPr>
          <p:cNvSpPr>
            <a:spLocks noGrp="1"/>
          </p:cNvSpPr>
          <p:nvPr>
            <p:ph type="ftr" sz="quarter" idx="5"/>
          </p:nvPr>
        </p:nvSpPr>
        <p:spPr>
          <a:xfrm>
            <a:off x="609600" y="6457057"/>
            <a:ext cx="2743200" cy="184666"/>
          </a:xfrm>
        </p:spPr>
        <p:txBody>
          <a:bodyPr/>
          <a:lstStyle/>
          <a:p>
            <a:pPr marL="12700">
              <a:spcBef>
                <a:spcPts val="15"/>
              </a:spcBef>
            </a:pPr>
            <a:r>
              <a:rPr lang="es-ES" spc="-5"/>
              <a:t>LAB 3. INTERFEROMETERS I</a:t>
            </a:r>
            <a:endParaRPr lang="es-ES" spc="-5" dirty="0"/>
          </a:p>
        </p:txBody>
      </p:sp>
    </p:spTree>
    <p:extLst>
      <p:ext uri="{BB962C8B-B14F-4D97-AF65-F5344CB8AC3E}">
        <p14:creationId xmlns:p14="http://schemas.microsoft.com/office/powerpoint/2010/main" val="366043824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3565FE7-19F0-450F-8F6F-55D2FDAE90A6}"/>
              </a:ext>
            </a:extLst>
          </p:cNvPr>
          <p:cNvSpPr>
            <a:spLocks noGrp="1"/>
          </p:cNvSpPr>
          <p:nvPr>
            <p:ph type="title"/>
          </p:nvPr>
        </p:nvSpPr>
        <p:spPr/>
        <p:txBody>
          <a:bodyPr/>
          <a:lstStyle/>
          <a:p>
            <a:r>
              <a:rPr lang="en-US" b="1" dirty="0"/>
              <a:t>Assessment 4</a:t>
            </a:r>
            <a:endParaRPr lang="es-ES" dirty="0"/>
          </a:p>
        </p:txBody>
      </p:sp>
      <p:sp>
        <p:nvSpPr>
          <p:cNvPr id="3" name="Marcador de texto 2">
            <a:extLst>
              <a:ext uri="{FF2B5EF4-FFF2-40B4-BE49-F238E27FC236}">
                <a16:creationId xmlns:a16="http://schemas.microsoft.com/office/drawing/2014/main" id="{27F228D4-A51C-40EE-9098-B14537BC079F}"/>
              </a:ext>
            </a:extLst>
          </p:cNvPr>
          <p:cNvSpPr>
            <a:spLocks noGrp="1"/>
          </p:cNvSpPr>
          <p:nvPr>
            <p:ph type="body" idx="1"/>
          </p:nvPr>
        </p:nvSpPr>
        <p:spPr>
          <a:xfrm>
            <a:off x="565150" y="609600"/>
            <a:ext cx="10972800" cy="492443"/>
          </a:xfrm>
        </p:spPr>
        <p:txBody>
          <a:bodyPr/>
          <a:lstStyle/>
          <a:p>
            <a:r>
              <a:rPr lang="en-US" sz="1600" dirty="0"/>
              <a:t>Design an MZI for filtering at a specific wavelength. Calculate and adjust the arm lengths to configure the MZI to have a maximum transmission at 1550 nm.</a:t>
            </a:r>
          </a:p>
        </p:txBody>
      </p:sp>
      <p:sp>
        <p:nvSpPr>
          <p:cNvPr id="4" name="Marcador de pie de página 3">
            <a:extLst>
              <a:ext uri="{FF2B5EF4-FFF2-40B4-BE49-F238E27FC236}">
                <a16:creationId xmlns:a16="http://schemas.microsoft.com/office/drawing/2014/main" id="{338FF05A-ED09-4CC0-8362-6B9CD58E325D}"/>
              </a:ext>
            </a:extLst>
          </p:cNvPr>
          <p:cNvSpPr>
            <a:spLocks noGrp="1"/>
          </p:cNvSpPr>
          <p:nvPr>
            <p:ph type="ftr" sz="quarter" idx="5"/>
          </p:nvPr>
        </p:nvSpPr>
        <p:spPr/>
        <p:txBody>
          <a:bodyPr/>
          <a:lstStyle/>
          <a:p>
            <a:pPr marL="12700">
              <a:spcBef>
                <a:spcPts val="15"/>
              </a:spcBef>
            </a:pPr>
            <a:r>
              <a:rPr lang="es-ES" spc="-5"/>
              <a:t>LAB 3. INTERFEROMETERS I</a:t>
            </a:r>
            <a:endParaRPr lang="es-ES" spc="-5" dirty="0"/>
          </a:p>
        </p:txBody>
      </p:sp>
      <p:sp>
        <p:nvSpPr>
          <p:cNvPr id="5" name="Marcador de número de diapositiva 4">
            <a:extLst>
              <a:ext uri="{FF2B5EF4-FFF2-40B4-BE49-F238E27FC236}">
                <a16:creationId xmlns:a16="http://schemas.microsoft.com/office/drawing/2014/main" id="{9FE9DDCA-CE34-4D86-A0DA-89371ADD78E4}"/>
              </a:ext>
            </a:extLst>
          </p:cNvPr>
          <p:cNvSpPr>
            <a:spLocks noGrp="1"/>
          </p:cNvSpPr>
          <p:nvPr>
            <p:ph type="sldNum" sz="quarter" idx="7"/>
          </p:nvPr>
        </p:nvSpPr>
        <p:spPr/>
        <p:txBody>
          <a:bodyPr/>
          <a:lstStyle/>
          <a:p>
            <a:fld id="{B6F15528-21DE-4FAA-801E-634DDDAF4B2B}" type="slidenum">
              <a:rPr lang="es-ES" smtClean="0"/>
              <a:t>14</a:t>
            </a:fld>
            <a:endParaRPr lang="es-ES"/>
          </a:p>
        </p:txBody>
      </p:sp>
    </p:spTree>
    <p:extLst>
      <p:ext uri="{BB962C8B-B14F-4D97-AF65-F5344CB8AC3E}">
        <p14:creationId xmlns:p14="http://schemas.microsoft.com/office/powerpoint/2010/main" val="388589612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3565FE7-19F0-450F-8F6F-55D2FDAE90A6}"/>
              </a:ext>
            </a:extLst>
          </p:cNvPr>
          <p:cNvSpPr>
            <a:spLocks noGrp="1"/>
          </p:cNvSpPr>
          <p:nvPr>
            <p:ph type="title"/>
          </p:nvPr>
        </p:nvSpPr>
        <p:spPr/>
        <p:txBody>
          <a:bodyPr/>
          <a:lstStyle/>
          <a:p>
            <a:r>
              <a:rPr lang="en-US" b="1" dirty="0"/>
              <a:t>Assessment 5</a:t>
            </a:r>
            <a:endParaRPr lang="es-ES" dirty="0"/>
          </a:p>
        </p:txBody>
      </p:sp>
      <p:sp>
        <p:nvSpPr>
          <p:cNvPr id="3" name="Marcador de texto 2">
            <a:extLst>
              <a:ext uri="{FF2B5EF4-FFF2-40B4-BE49-F238E27FC236}">
                <a16:creationId xmlns:a16="http://schemas.microsoft.com/office/drawing/2014/main" id="{27F228D4-A51C-40EE-9098-B14537BC079F}"/>
              </a:ext>
            </a:extLst>
          </p:cNvPr>
          <p:cNvSpPr>
            <a:spLocks noGrp="1"/>
          </p:cNvSpPr>
          <p:nvPr>
            <p:ph type="body" idx="1"/>
          </p:nvPr>
        </p:nvSpPr>
        <p:spPr>
          <a:xfrm>
            <a:off x="565150" y="609600"/>
            <a:ext cx="10972800" cy="738664"/>
          </a:xfrm>
        </p:spPr>
        <p:txBody>
          <a:bodyPr/>
          <a:lstStyle/>
          <a:p>
            <a:r>
              <a:rPr lang="en-US" sz="1600" dirty="0"/>
              <a:t>Let's see how the response of the MZI varies with the effective index. Vary the effective index of one of the arms and analyze how the spectrum shifts. To do this, you can use the data provided in the .txt files entitled ‘</a:t>
            </a:r>
            <a:r>
              <a:rPr lang="en-US" sz="1600" dirty="0" err="1"/>
              <a:t>SiN</a:t>
            </a:r>
            <a:r>
              <a:rPr lang="en-US" sz="1600" dirty="0"/>
              <a:t>’. Can you give an example of an application where this configuration is used?</a:t>
            </a:r>
          </a:p>
        </p:txBody>
      </p:sp>
      <p:sp>
        <p:nvSpPr>
          <p:cNvPr id="4" name="Marcador de pie de página 3">
            <a:extLst>
              <a:ext uri="{FF2B5EF4-FFF2-40B4-BE49-F238E27FC236}">
                <a16:creationId xmlns:a16="http://schemas.microsoft.com/office/drawing/2014/main" id="{338FF05A-ED09-4CC0-8362-6B9CD58E325D}"/>
              </a:ext>
            </a:extLst>
          </p:cNvPr>
          <p:cNvSpPr>
            <a:spLocks noGrp="1"/>
          </p:cNvSpPr>
          <p:nvPr>
            <p:ph type="ftr" sz="quarter" idx="5"/>
          </p:nvPr>
        </p:nvSpPr>
        <p:spPr/>
        <p:txBody>
          <a:bodyPr/>
          <a:lstStyle/>
          <a:p>
            <a:pPr marL="12700">
              <a:spcBef>
                <a:spcPts val="15"/>
              </a:spcBef>
            </a:pPr>
            <a:r>
              <a:rPr lang="es-ES" spc="-5"/>
              <a:t>LAB 3. INTERFEROMETERS I</a:t>
            </a:r>
            <a:endParaRPr lang="es-ES" spc="-5" dirty="0"/>
          </a:p>
        </p:txBody>
      </p:sp>
      <p:sp>
        <p:nvSpPr>
          <p:cNvPr id="5" name="Marcador de número de diapositiva 4">
            <a:extLst>
              <a:ext uri="{FF2B5EF4-FFF2-40B4-BE49-F238E27FC236}">
                <a16:creationId xmlns:a16="http://schemas.microsoft.com/office/drawing/2014/main" id="{9FE9DDCA-CE34-4D86-A0DA-89371ADD78E4}"/>
              </a:ext>
            </a:extLst>
          </p:cNvPr>
          <p:cNvSpPr>
            <a:spLocks noGrp="1"/>
          </p:cNvSpPr>
          <p:nvPr>
            <p:ph type="sldNum" sz="quarter" idx="7"/>
          </p:nvPr>
        </p:nvSpPr>
        <p:spPr/>
        <p:txBody>
          <a:bodyPr/>
          <a:lstStyle/>
          <a:p>
            <a:fld id="{B6F15528-21DE-4FAA-801E-634DDDAF4B2B}" type="slidenum">
              <a:rPr lang="es-ES" smtClean="0"/>
              <a:t>15</a:t>
            </a:fld>
            <a:endParaRPr lang="es-ES"/>
          </a:p>
        </p:txBody>
      </p:sp>
    </p:spTree>
    <p:extLst>
      <p:ext uri="{BB962C8B-B14F-4D97-AF65-F5344CB8AC3E}">
        <p14:creationId xmlns:p14="http://schemas.microsoft.com/office/powerpoint/2010/main" val="123714550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3565FE7-19F0-450F-8F6F-55D2FDAE90A6}"/>
              </a:ext>
            </a:extLst>
          </p:cNvPr>
          <p:cNvSpPr>
            <a:spLocks noGrp="1"/>
          </p:cNvSpPr>
          <p:nvPr>
            <p:ph type="title"/>
          </p:nvPr>
        </p:nvSpPr>
        <p:spPr/>
        <p:txBody>
          <a:bodyPr/>
          <a:lstStyle/>
          <a:p>
            <a:r>
              <a:rPr lang="en-US" b="1" dirty="0"/>
              <a:t>Assessment 6</a:t>
            </a:r>
            <a:endParaRPr lang="es-ES" dirty="0"/>
          </a:p>
        </p:txBody>
      </p:sp>
      <p:sp>
        <p:nvSpPr>
          <p:cNvPr id="3" name="Marcador de texto 2">
            <a:extLst>
              <a:ext uri="{FF2B5EF4-FFF2-40B4-BE49-F238E27FC236}">
                <a16:creationId xmlns:a16="http://schemas.microsoft.com/office/drawing/2014/main" id="{27F228D4-A51C-40EE-9098-B14537BC079F}"/>
              </a:ext>
            </a:extLst>
          </p:cNvPr>
          <p:cNvSpPr>
            <a:spLocks noGrp="1"/>
          </p:cNvSpPr>
          <p:nvPr>
            <p:ph type="body" idx="1"/>
          </p:nvPr>
        </p:nvSpPr>
        <p:spPr>
          <a:xfrm>
            <a:off x="565150" y="609600"/>
            <a:ext cx="10972800" cy="492443"/>
          </a:xfrm>
        </p:spPr>
        <p:txBody>
          <a:bodyPr/>
          <a:lstStyle/>
          <a:p>
            <a:r>
              <a:rPr lang="en-US" sz="1600" dirty="0"/>
              <a:t>Explore how cascading two MZIs affects the transmission spectrum. To do so, design a system in which two MZIs are cascaded. Simulate and observe the spectrum, explaining how the transmission peaks behave</a:t>
            </a:r>
            <a:r>
              <a:rPr lang="en-US" sz="1600" b="1" dirty="0"/>
              <a:t>.</a:t>
            </a:r>
            <a:endParaRPr lang="es-ES" dirty="0"/>
          </a:p>
        </p:txBody>
      </p:sp>
      <p:sp>
        <p:nvSpPr>
          <p:cNvPr id="4" name="Marcador de pie de página 3">
            <a:extLst>
              <a:ext uri="{FF2B5EF4-FFF2-40B4-BE49-F238E27FC236}">
                <a16:creationId xmlns:a16="http://schemas.microsoft.com/office/drawing/2014/main" id="{338FF05A-ED09-4CC0-8362-6B9CD58E325D}"/>
              </a:ext>
            </a:extLst>
          </p:cNvPr>
          <p:cNvSpPr>
            <a:spLocks noGrp="1"/>
          </p:cNvSpPr>
          <p:nvPr>
            <p:ph type="ftr" sz="quarter" idx="5"/>
          </p:nvPr>
        </p:nvSpPr>
        <p:spPr/>
        <p:txBody>
          <a:bodyPr/>
          <a:lstStyle/>
          <a:p>
            <a:pPr marL="12700">
              <a:spcBef>
                <a:spcPts val="15"/>
              </a:spcBef>
            </a:pPr>
            <a:r>
              <a:rPr lang="es-ES" spc="-5"/>
              <a:t>LAB 3. INTERFEROMETERS I</a:t>
            </a:r>
            <a:endParaRPr lang="es-ES" spc="-5" dirty="0"/>
          </a:p>
        </p:txBody>
      </p:sp>
      <p:sp>
        <p:nvSpPr>
          <p:cNvPr id="5" name="Marcador de número de diapositiva 4">
            <a:extLst>
              <a:ext uri="{FF2B5EF4-FFF2-40B4-BE49-F238E27FC236}">
                <a16:creationId xmlns:a16="http://schemas.microsoft.com/office/drawing/2014/main" id="{9FE9DDCA-CE34-4D86-A0DA-89371ADD78E4}"/>
              </a:ext>
            </a:extLst>
          </p:cNvPr>
          <p:cNvSpPr>
            <a:spLocks noGrp="1"/>
          </p:cNvSpPr>
          <p:nvPr>
            <p:ph type="sldNum" sz="quarter" idx="7"/>
          </p:nvPr>
        </p:nvSpPr>
        <p:spPr/>
        <p:txBody>
          <a:bodyPr/>
          <a:lstStyle/>
          <a:p>
            <a:fld id="{B6F15528-21DE-4FAA-801E-634DDDAF4B2B}" type="slidenum">
              <a:rPr lang="es-ES" smtClean="0"/>
              <a:t>16</a:t>
            </a:fld>
            <a:endParaRPr lang="es-ES"/>
          </a:p>
        </p:txBody>
      </p:sp>
    </p:spTree>
    <p:extLst>
      <p:ext uri="{BB962C8B-B14F-4D97-AF65-F5344CB8AC3E}">
        <p14:creationId xmlns:p14="http://schemas.microsoft.com/office/powerpoint/2010/main" val="293881773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p:nvPr/>
        </p:nvSpPr>
        <p:spPr>
          <a:xfrm>
            <a:off x="3945635" y="2636520"/>
            <a:ext cx="8246363" cy="1584959"/>
          </a:xfrm>
          <a:prstGeom prst="rect">
            <a:avLst/>
          </a:prstGeom>
          <a:blipFill>
            <a:blip r:embed="rId2" cstate="print"/>
            <a:stretch>
              <a:fillRect/>
            </a:stretch>
          </a:blipFill>
        </p:spPr>
        <p:txBody>
          <a:bodyPr wrap="square" lIns="0" tIns="0" rIns="0" bIns="0" rtlCol="0"/>
          <a:lstStyle/>
          <a:p>
            <a:endParaRPr/>
          </a:p>
        </p:txBody>
      </p:sp>
      <p:sp>
        <p:nvSpPr>
          <p:cNvPr id="4" name="object 4"/>
          <p:cNvSpPr txBox="1">
            <a:spLocks noGrp="1"/>
          </p:cNvSpPr>
          <p:nvPr>
            <p:ph type="title"/>
          </p:nvPr>
        </p:nvSpPr>
        <p:spPr>
          <a:xfrm>
            <a:off x="4513326" y="3165729"/>
            <a:ext cx="2233295" cy="513715"/>
          </a:xfrm>
          <a:prstGeom prst="rect">
            <a:avLst/>
          </a:prstGeom>
        </p:spPr>
        <p:txBody>
          <a:bodyPr vert="horz" wrap="square" lIns="0" tIns="13335" rIns="0" bIns="0" rtlCol="0">
            <a:spAutoFit/>
          </a:bodyPr>
          <a:lstStyle/>
          <a:p>
            <a:pPr marL="12700">
              <a:lnSpc>
                <a:spcPct val="100000"/>
              </a:lnSpc>
              <a:spcBef>
                <a:spcPts val="105"/>
              </a:spcBef>
            </a:pPr>
            <a:r>
              <a:rPr sz="3200" b="1" spc="-5" dirty="0">
                <a:solidFill>
                  <a:srgbClr val="FFFFFF"/>
                </a:solidFill>
                <a:latin typeface="Lucida Sans"/>
                <a:cs typeface="Lucida Sans"/>
              </a:rPr>
              <a:t>Thank</a:t>
            </a:r>
            <a:r>
              <a:rPr sz="3200" b="1" spc="-55" dirty="0">
                <a:solidFill>
                  <a:srgbClr val="FFFFFF"/>
                </a:solidFill>
                <a:latin typeface="Lucida Sans"/>
                <a:cs typeface="Lucida Sans"/>
              </a:rPr>
              <a:t> </a:t>
            </a:r>
            <a:r>
              <a:rPr sz="3200" b="1" dirty="0">
                <a:solidFill>
                  <a:srgbClr val="FFFFFF"/>
                </a:solidFill>
                <a:latin typeface="Lucida Sans"/>
                <a:cs typeface="Lucida Sans"/>
              </a:rPr>
              <a:t>you</a:t>
            </a:r>
            <a:endParaRPr sz="3200">
              <a:latin typeface="Lucida Sans"/>
              <a:cs typeface="Lucida Sans"/>
            </a:endParaRPr>
          </a:p>
        </p:txBody>
      </p:sp>
      <p:sp>
        <p:nvSpPr>
          <p:cNvPr id="5" name="Marcador de número de diapositiva 4">
            <a:extLst>
              <a:ext uri="{FF2B5EF4-FFF2-40B4-BE49-F238E27FC236}">
                <a16:creationId xmlns:a16="http://schemas.microsoft.com/office/drawing/2014/main" id="{B052DA19-AD24-7D24-2AE9-51F8F5A7F5E0}"/>
              </a:ext>
            </a:extLst>
          </p:cNvPr>
          <p:cNvSpPr>
            <a:spLocks noGrp="1"/>
          </p:cNvSpPr>
          <p:nvPr>
            <p:ph type="sldNum" sz="quarter" idx="7"/>
          </p:nvPr>
        </p:nvSpPr>
        <p:spPr/>
        <p:txBody>
          <a:bodyPr/>
          <a:lstStyle/>
          <a:p>
            <a:fld id="{B6F15528-21DE-4FAA-801E-634DDDAF4B2B}" type="slidenum">
              <a:rPr lang="es-ES" smtClean="0"/>
              <a:t>17</a:t>
            </a:fld>
            <a:endParaRPr lang="es-E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00"/>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1375</TotalTime>
  <Words>1226</Words>
  <Application>Microsoft Office PowerPoint</Application>
  <PresentationFormat>Panorámica</PresentationFormat>
  <Paragraphs>167</Paragraphs>
  <Slides>17</Slides>
  <Notes>4</Notes>
  <HiddenSlides>0</HiddenSlides>
  <MMClips>0</MMClips>
  <ScaleCrop>false</ScaleCrop>
  <HeadingPairs>
    <vt:vector size="6" baseType="variant">
      <vt:variant>
        <vt:lpstr>Fuentes usadas</vt:lpstr>
      </vt:variant>
      <vt:variant>
        <vt:i4>6</vt:i4>
      </vt:variant>
      <vt:variant>
        <vt:lpstr>Tema</vt:lpstr>
      </vt:variant>
      <vt:variant>
        <vt:i4>1</vt:i4>
      </vt:variant>
      <vt:variant>
        <vt:lpstr>Títulos de diapositiva</vt:lpstr>
      </vt:variant>
      <vt:variant>
        <vt:i4>17</vt:i4>
      </vt:variant>
    </vt:vector>
  </HeadingPairs>
  <TitlesOfParts>
    <vt:vector size="24" baseType="lpstr">
      <vt:lpstr>Aptos</vt:lpstr>
      <vt:lpstr>Arial</vt:lpstr>
      <vt:lpstr>Calibri</vt:lpstr>
      <vt:lpstr>Cambria Math</vt:lpstr>
      <vt:lpstr>Courier New</vt:lpstr>
      <vt:lpstr>Lucida Sans</vt:lpstr>
      <vt:lpstr>Office Theme</vt:lpstr>
      <vt:lpstr>Presentación de PowerPoint</vt:lpstr>
      <vt:lpstr>Instructions General</vt:lpstr>
      <vt:lpstr>ASSESSMENT #1 – Recap from theory – MZI configurations </vt:lpstr>
      <vt:lpstr>Implementation for each one of the configurations studied during MZI lecture</vt:lpstr>
      <vt:lpstr>Implementation for each one of the configurations studied during MZI lecture</vt:lpstr>
      <vt:lpstr>Implementation for each one of the configurations studied during MZI lecture</vt:lpstr>
      <vt:lpstr>Implementation for each one of the configurations studied during MZI lecture</vt:lpstr>
      <vt:lpstr>Compute also some examples with α≠0 and γ≠0</vt:lpstr>
      <vt:lpstr>ASSESSMENT #2 – Recap from theory – Calculation of ΔL  </vt:lpstr>
      <vt:lpstr>ASSESSMENT #3 – SAX implementation  </vt:lpstr>
      <vt:lpstr>Código empleado para obtener la función de transferencia empleando el modelado SAX  </vt:lpstr>
      <vt:lpstr>Comparative plot of the models</vt:lpstr>
      <vt:lpstr>Extra assessments </vt:lpstr>
      <vt:lpstr>Assessment 4</vt:lpstr>
      <vt:lpstr>Assessment 5</vt:lpstr>
      <vt:lpstr>Assessment 6</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creator>Mª Ester Calataytud</dc:creator>
  <cp:lastModifiedBy>cfp</cp:lastModifiedBy>
  <cp:revision>34</cp:revision>
  <dcterms:created xsi:type="dcterms:W3CDTF">2025-01-27T02:46:57Z</dcterms:created>
  <dcterms:modified xsi:type="dcterms:W3CDTF">2026-03-09T12:42:59Z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2024-09-16T00:00:00Z</vt:filetime>
  </property>
  <property fmtid="{D5CDD505-2E9C-101B-9397-08002B2CF9AE}" pid="3" name="Creator">
    <vt:lpwstr>Microsoft® PowerPoint® 2016</vt:lpwstr>
  </property>
  <property fmtid="{D5CDD505-2E9C-101B-9397-08002B2CF9AE}" pid="4" name="LastSaved">
    <vt:filetime>2025-01-27T00:00:00Z</vt:filetime>
  </property>
</Properties>
</file>