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256" r:id="rId2"/>
    <p:sldId id="289" r:id="rId3"/>
    <p:sldId id="290" r:id="rId4"/>
    <p:sldId id="297" r:id="rId5"/>
    <p:sldId id="298" r:id="rId6"/>
    <p:sldId id="299" r:id="rId7"/>
    <p:sldId id="301" r:id="rId8"/>
    <p:sldId id="295" r:id="rId9"/>
    <p:sldId id="296" r:id="rId10"/>
    <p:sldId id="302" r:id="rId11"/>
    <p:sldId id="303" r:id="rId12"/>
    <p:sldId id="293" r:id="rId13"/>
    <p:sldId id="304" r:id="rId14"/>
    <p:sldId id="305" r:id="rId15"/>
    <p:sldId id="306" r:id="rId16"/>
    <p:sldId id="288" r:id="rId1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113" d="100"/>
          <a:sy n="113" d="100"/>
        </p:scale>
        <p:origin x="1056"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23/03/2026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23/03/2026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B2A21-C6A2-C5B9-2DCA-3754617037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C95D30-E081-8AAE-817B-40A03306A7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6FC665-BCC5-C316-DC0F-D9DFBC4440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DB17553-B500-6323-E98B-E84BE727295F}"/>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53767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DDBC6-7EB2-AE62-0F4B-A0A0672ADD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8084C1-6F54-16C8-7D2F-21346675C8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869975-D523-6D26-7FF4-105B030357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561EB6-B461-33D1-E122-96F4761D22F7}"/>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073773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291738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4A8576ED-D269-3C6B-30E8-402BA30F4741}"/>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 INTERFEROMETERS I</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
        <p:nvSpPr>
          <p:cNvPr id="8" name="Holder 4">
            <a:extLst>
              <a:ext uri="{FF2B5EF4-FFF2-40B4-BE49-F238E27FC236}">
                <a16:creationId xmlns:a16="http://schemas.microsoft.com/office/drawing/2014/main" id="{085B3A29-7AE1-3DAD-3BD8-A0E9707EE888}"/>
              </a:ext>
            </a:extLst>
          </p:cNvPr>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486400" y="6465069"/>
            <a:ext cx="1676400" cy="138499"/>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 INTERFEROMETERS I</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github.com/cccanvas-upv/pic-upv-lab3.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60.png"/><Relationship Id="rId7" Type="http://schemas.openxmlformats.org/officeDocument/2006/relationships/image" Target="../media/image12.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0.png"/><Relationship Id="rId7"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8299324" cy="1010533"/>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3. </a:t>
            </a:r>
            <a:r>
              <a:rPr lang="es-ES" sz="3200" b="1" dirty="0" err="1">
                <a:latin typeface="Lucida Sans"/>
                <a:cs typeface="Lucida Sans"/>
              </a:rPr>
              <a:t>Interferometers</a:t>
            </a:r>
            <a:r>
              <a:rPr lang="es-ES" sz="3200" b="1" dirty="0">
                <a:latin typeface="Lucida Sans"/>
                <a:cs typeface="Lucida Sans"/>
              </a:rPr>
              <a:t> I – MZI</a:t>
            </a:r>
          </a:p>
          <a:p>
            <a:pPr marL="12700">
              <a:lnSpc>
                <a:spcPct val="100000"/>
              </a:lnSpc>
              <a:spcBef>
                <a:spcPts val="100"/>
              </a:spcBef>
            </a:pP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Sergi </a:t>
            </a:r>
            <a:r>
              <a:rPr lang="es-ES" spc="165" dirty="0" err="1">
                <a:latin typeface="Arial"/>
                <a:cs typeface="Arial"/>
              </a:rPr>
              <a:t>Nàcher</a:t>
            </a:r>
            <a:r>
              <a:rPr lang="es-ES" spc="165" dirty="0">
                <a:latin typeface="Arial"/>
                <a:cs typeface="Arial"/>
              </a:rPr>
              <a:t> Muñoz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b="1" kern="0" dirty="0">
                <a:solidFill>
                  <a:sysClr val="windowText" lastClr="000000"/>
                </a:solidFill>
              </a:rPr>
              <a:t>SOFTWARE</a:t>
            </a:r>
          </a:p>
          <a:p>
            <a:pPr marL="342900" indent="-342900">
              <a:buFont typeface="Arial" panose="020B0604020202020204" pitchFamily="34" charset="0"/>
              <a:buChar char="•"/>
            </a:pPr>
            <a:r>
              <a:rPr lang="en-US" kern="0" dirty="0">
                <a:solidFill>
                  <a:sysClr val="windowText" lastClr="000000"/>
                </a:solidFill>
              </a:rPr>
              <a:t>Python notebook supplied by instructors</a:t>
            </a:r>
            <a:endParaRPr lang="en-US" kern="0" dirty="0">
              <a:solidFill>
                <a:sysClr val="windowText" lastClr="000000"/>
              </a:solidFill>
              <a:sym typeface="Wingdings" pitchFamily="2" charset="2"/>
            </a:endParaRPr>
          </a:p>
          <a:p>
            <a:pPr algn="just"/>
            <a:endParaRPr lang="en-US" sz="2000" b="1" kern="0" dirty="0">
              <a:solidFill>
                <a:sysClr val="windowText" lastClr="000000"/>
              </a:solidFill>
              <a:sym typeface="Wingdings" pitchFamily="2" charset="2"/>
            </a:endParaRPr>
          </a:p>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a:t>
            </a:r>
            <a:r>
              <a:rPr lang="en-US" kern="0" dirty="0" err="1">
                <a:solidFill>
                  <a:sysClr val="windowText" lastClr="000000"/>
                </a:solidFill>
                <a:sym typeface="Wingdings" pitchFamily="2" charset="2"/>
              </a:rPr>
              <a:t>Poliformat</a:t>
            </a:r>
            <a:r>
              <a:rPr lang="en-US" kern="0" dirty="0">
                <a:solidFill>
                  <a:sysClr val="windowText" lastClr="000000"/>
                </a:solidFill>
                <a:sym typeface="Wingdings" pitchFamily="2" charset="2"/>
              </a:rPr>
              <a:t>  download the 030_INTERFEROMETERS_v2025_Student_UPDATE2.ipynb</a:t>
            </a:r>
          </a:p>
          <a:p>
            <a:pPr marL="342900" indent="-342900" algn="just">
              <a:buFont typeface="Arial" panose="020B0604020202020204" pitchFamily="34" charset="0"/>
              <a:buChar char="•"/>
            </a:pPr>
            <a:r>
              <a:rPr lang="es-ES" dirty="0">
                <a:hlinkClick r:id="rId4" tooltip="https://github.com/cccanvas-upv/pic-upv-lab3.git"/>
              </a:rPr>
              <a:t>https://github.com/cccanvas-upv/pic-upv-lab3.git</a:t>
            </a:r>
            <a:endParaRPr lang="en-US" kern="0" dirty="0">
              <a:solidFill>
                <a:sysClr val="windowText" lastClr="000000"/>
              </a:solidFill>
              <a:sym typeface="Wingdings" pitchFamily="2" charset="2"/>
            </a:endParaRPr>
          </a:p>
          <a:p>
            <a:pPr algn="just"/>
            <a:endParaRPr lang="en-US" b="1" i="1" dirty="0"/>
          </a:p>
          <a:p>
            <a:pPr algn="just"/>
            <a:r>
              <a:rPr lang="en-US" b="1" i="1" dirty="0"/>
              <a:t>COMPONENT </a:t>
            </a:r>
            <a:r>
              <a:rPr lang="en-US" i="1" dirty="0"/>
              <a:t>to be studied: Mach-</a:t>
            </a:r>
            <a:r>
              <a:rPr lang="en-US" i="1" dirty="0" err="1"/>
              <a:t>Zendher</a:t>
            </a:r>
            <a:r>
              <a:rPr lang="en-US" i="1" dirty="0"/>
              <a:t> Interferometer (MZI)</a:t>
            </a:r>
            <a:endParaRPr lang="en-US" b="1" i="1" dirty="0"/>
          </a:p>
          <a:p>
            <a:pPr algn="just"/>
            <a:endParaRPr lang="en-US" sz="2000" b="1" i="1" dirty="0"/>
          </a:p>
          <a:p>
            <a:pPr algn="just"/>
            <a:endParaRPr lang="en-US" sz="2000" kern="0" dirty="0">
              <a:solidFill>
                <a:sysClr val="windowText" lastClr="000000"/>
              </a:solidFill>
            </a:endParaRPr>
          </a:p>
        </p:txBody>
      </p:sp>
      <p:sp>
        <p:nvSpPr>
          <p:cNvPr id="6" name="Rectángulo 5">
            <a:extLst>
              <a:ext uri="{FF2B5EF4-FFF2-40B4-BE49-F238E27FC236}">
                <a16:creationId xmlns:a16="http://schemas.microsoft.com/office/drawing/2014/main" id="{35FA208B-932F-D4ED-88E9-25FD18EC7B01}"/>
              </a:ext>
            </a:extLst>
          </p:cNvPr>
          <p:cNvSpPr/>
          <p:nvPr/>
        </p:nvSpPr>
        <p:spPr>
          <a:xfrm>
            <a:off x="4561100" y="4664608"/>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3" name="Rectángulo 12">
            <a:extLst>
              <a:ext uri="{FF2B5EF4-FFF2-40B4-BE49-F238E27FC236}">
                <a16:creationId xmlns:a16="http://schemas.microsoft.com/office/drawing/2014/main" id="{C4EDD22A-FE36-2345-71E2-5ADFA2129F2D}"/>
              </a:ext>
            </a:extLst>
          </p:cNvPr>
          <p:cNvSpPr/>
          <p:nvPr/>
        </p:nvSpPr>
        <p:spPr>
          <a:xfrm>
            <a:off x="4561099" y="5095683"/>
            <a:ext cx="3222171"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D94160E-A324-6E21-DC14-0EE2D556E973}"/>
                  </a:ext>
                </a:extLst>
              </p:cNvPr>
              <p:cNvSpPr txBox="1"/>
              <p:nvPr/>
            </p:nvSpPr>
            <p:spPr>
              <a:xfrm>
                <a:off x="5634197" y="4293214"/>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𝑢</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i="1" dirty="0">
                            <a:solidFill>
                              <a:schemeClr val="tx1"/>
                            </a:solidFill>
                            <a:latin typeface="Cambria Math" panose="02040503050406030204" pitchFamily="18" charset="0"/>
                          </a:rPr>
                          <m:t>𝑢</m:t>
                        </m:r>
                      </m:sub>
                    </m:sSub>
                  </m:oMath>
                </a14:m>
                <a:r>
                  <a:rPr lang="en-US" dirty="0">
                    <a:solidFill>
                      <a:schemeClr val="tx1"/>
                    </a:solidFill>
                  </a:rPr>
                  <a:t> </a:t>
                </a:r>
              </a:p>
            </p:txBody>
          </p:sp>
        </mc:Choice>
        <mc:Fallback xmlns="">
          <p:sp>
            <p:nvSpPr>
              <p:cNvPr id="22" name="CuadroTexto 21">
                <a:extLst>
                  <a:ext uri="{FF2B5EF4-FFF2-40B4-BE49-F238E27FC236}">
                    <a16:creationId xmlns:a16="http://schemas.microsoft.com/office/drawing/2014/main" id="{0D94160E-A324-6E21-DC14-0EE2D556E973}"/>
                  </a:ext>
                </a:extLst>
              </p:cNvPr>
              <p:cNvSpPr txBox="1">
                <a:spLocks noRot="1" noChangeAspect="1" noMove="1" noResize="1" noEditPoints="1" noAdjustHandles="1" noChangeArrowheads="1" noChangeShapeType="1" noTextEdit="1"/>
              </p:cNvSpPr>
              <p:nvPr/>
            </p:nvSpPr>
            <p:spPr>
              <a:xfrm>
                <a:off x="5634197" y="4293214"/>
                <a:ext cx="1245321" cy="369332"/>
              </a:xfrm>
              <a:prstGeom prst="rect">
                <a:avLst/>
              </a:prstGeom>
              <a:blipFill>
                <a:blip r:embed="rId5"/>
                <a:stretch>
                  <a:fillRect t="-8197" b="-24590"/>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ECE69EBF-757C-A9D1-FFC8-627784359781}"/>
              </a:ext>
            </a:extLst>
          </p:cNvPr>
          <p:cNvSpPr/>
          <p:nvPr/>
        </p:nvSpPr>
        <p:spPr>
          <a:xfrm>
            <a:off x="2642165" y="4667484"/>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5" name="Rectángulo 14">
            <a:extLst>
              <a:ext uri="{FF2B5EF4-FFF2-40B4-BE49-F238E27FC236}">
                <a16:creationId xmlns:a16="http://schemas.microsoft.com/office/drawing/2014/main" id="{EE13A858-EE2A-8624-F13C-636DED623D27}"/>
              </a:ext>
            </a:extLst>
          </p:cNvPr>
          <p:cNvSpPr/>
          <p:nvPr/>
        </p:nvSpPr>
        <p:spPr>
          <a:xfrm>
            <a:off x="2642164" y="5098559"/>
            <a:ext cx="18865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9" name="Rectángulo 18">
            <a:extLst>
              <a:ext uri="{FF2B5EF4-FFF2-40B4-BE49-F238E27FC236}">
                <a16:creationId xmlns:a16="http://schemas.microsoft.com/office/drawing/2014/main" id="{C1076A0B-8DBA-DB5F-DC0F-1CF449A81D38}"/>
              </a:ext>
            </a:extLst>
          </p:cNvPr>
          <p:cNvSpPr/>
          <p:nvPr/>
        </p:nvSpPr>
        <p:spPr>
          <a:xfrm>
            <a:off x="2856086" y="4458476"/>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F5E72A5-F125-01A3-6239-44DD988AC98A}"/>
                  </a:ext>
                </a:extLst>
              </p:cNvPr>
              <p:cNvSpPr txBox="1"/>
              <p:nvPr/>
            </p:nvSpPr>
            <p:spPr>
              <a:xfrm>
                <a:off x="2919955" y="46940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𝑎</m:t>
                          </m:r>
                        </m:sub>
                      </m:sSub>
                    </m:oMath>
                  </m:oMathPara>
                </a14:m>
                <a:endParaRPr lang="en-US" dirty="0">
                  <a:solidFill>
                    <a:schemeClr val="tx1"/>
                  </a:solidFill>
                </a:endParaRPr>
              </a:p>
            </p:txBody>
          </p:sp>
        </mc:Choice>
        <mc:Fallback xmlns="">
          <p:sp>
            <p:nvSpPr>
              <p:cNvPr id="20" name="CuadroTexto 19">
                <a:extLst>
                  <a:ext uri="{FF2B5EF4-FFF2-40B4-BE49-F238E27FC236}">
                    <a16:creationId xmlns:a16="http://schemas.microsoft.com/office/drawing/2014/main" id="{EF5E72A5-F125-01A3-6239-44DD988AC98A}"/>
                  </a:ext>
                </a:extLst>
              </p:cNvPr>
              <p:cNvSpPr txBox="1">
                <a:spLocks noRot="1" noChangeAspect="1" noMove="1" noResize="1" noEditPoints="1" noAdjustHandles="1" noChangeArrowheads="1" noChangeShapeType="1" noTextEdit="1"/>
              </p:cNvSpPr>
              <p:nvPr/>
            </p:nvSpPr>
            <p:spPr>
              <a:xfrm>
                <a:off x="2919955" y="4694053"/>
                <a:ext cx="1291674" cy="369332"/>
              </a:xfrm>
              <a:prstGeom prst="rect">
                <a:avLst/>
              </a:prstGeom>
              <a:blipFill>
                <a:blip r:embed="rId6"/>
                <a:stretch>
                  <a:fillRect/>
                </a:stretch>
              </a:blipFill>
            </p:spPr>
            <p:txBody>
              <a:bodyPr/>
              <a:lstStyle/>
              <a:p>
                <a:r>
                  <a:rPr lang="es-ES">
                    <a:noFill/>
                  </a:rPr>
                  <a:t> </a:t>
                </a:r>
              </a:p>
            </p:txBody>
          </p:sp>
        </mc:Fallback>
      </mc:AlternateContent>
      <p:sp>
        <p:nvSpPr>
          <p:cNvPr id="24" name="CuadroTexto 23">
            <a:extLst>
              <a:ext uri="{FF2B5EF4-FFF2-40B4-BE49-F238E27FC236}">
                <a16:creationId xmlns:a16="http://schemas.microsoft.com/office/drawing/2014/main" id="{E82D8A99-C12E-9B5A-D44F-DC39CF2187E7}"/>
              </a:ext>
            </a:extLst>
          </p:cNvPr>
          <p:cNvSpPr txBox="1"/>
          <p:nvPr/>
        </p:nvSpPr>
        <p:spPr>
          <a:xfrm>
            <a:off x="1422486" y="4934965"/>
            <a:ext cx="1245321" cy="369332"/>
          </a:xfrm>
          <a:prstGeom prst="rect">
            <a:avLst/>
          </a:prstGeom>
          <a:noFill/>
        </p:spPr>
        <p:txBody>
          <a:bodyPr wrap="square" rtlCol="0">
            <a:spAutoFit/>
          </a:bodyPr>
          <a:lstStyle/>
          <a:p>
            <a:pPr algn="r"/>
            <a:r>
              <a:rPr lang="en-US" dirty="0">
                <a:solidFill>
                  <a:schemeClr val="bg1">
                    <a:lumMod val="65000"/>
                  </a:schemeClr>
                </a:solidFill>
              </a:rPr>
              <a:t>In1</a:t>
            </a:r>
          </a:p>
        </p:txBody>
      </p:sp>
      <p:sp>
        <p:nvSpPr>
          <p:cNvPr id="25" name="CuadroTexto 24">
            <a:extLst>
              <a:ext uri="{FF2B5EF4-FFF2-40B4-BE49-F238E27FC236}">
                <a16:creationId xmlns:a16="http://schemas.microsoft.com/office/drawing/2014/main" id="{AF3AEF45-E8B3-D1F2-8A9B-3A0585B1DA38}"/>
              </a:ext>
            </a:extLst>
          </p:cNvPr>
          <p:cNvSpPr txBox="1"/>
          <p:nvPr/>
        </p:nvSpPr>
        <p:spPr>
          <a:xfrm>
            <a:off x="1438475" y="4491415"/>
            <a:ext cx="1245321" cy="369332"/>
          </a:xfrm>
          <a:prstGeom prst="rect">
            <a:avLst/>
          </a:prstGeom>
          <a:noFill/>
        </p:spPr>
        <p:txBody>
          <a:bodyPr wrap="square" rtlCol="0">
            <a:spAutoFit/>
          </a:bodyPr>
          <a:lstStyle/>
          <a:p>
            <a:pPr algn="r"/>
            <a:r>
              <a:rPr lang="en-US" dirty="0">
                <a:solidFill>
                  <a:schemeClr val="bg1">
                    <a:lumMod val="65000"/>
                  </a:schemeClr>
                </a:solidFill>
              </a:rPr>
              <a:t>In2</a:t>
            </a:r>
          </a:p>
        </p:txBody>
      </p:sp>
      <p:sp>
        <p:nvSpPr>
          <p:cNvPr id="17" name="Rectángulo 16">
            <a:extLst>
              <a:ext uri="{FF2B5EF4-FFF2-40B4-BE49-F238E27FC236}">
                <a16:creationId xmlns:a16="http://schemas.microsoft.com/office/drawing/2014/main" id="{6C1DD7CE-5AFF-6AAD-ABB0-7F12BBFDC181}"/>
              </a:ext>
            </a:extLst>
          </p:cNvPr>
          <p:cNvSpPr/>
          <p:nvPr/>
        </p:nvSpPr>
        <p:spPr>
          <a:xfrm>
            <a:off x="7822666" y="4652133"/>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18" name="Rectángulo 17">
            <a:extLst>
              <a:ext uri="{FF2B5EF4-FFF2-40B4-BE49-F238E27FC236}">
                <a16:creationId xmlns:a16="http://schemas.microsoft.com/office/drawing/2014/main" id="{BF18895E-AB87-954B-BE18-94A83ABEF83B}"/>
              </a:ext>
            </a:extLst>
          </p:cNvPr>
          <p:cNvSpPr/>
          <p:nvPr/>
        </p:nvSpPr>
        <p:spPr>
          <a:xfrm>
            <a:off x="7822665" y="5083208"/>
            <a:ext cx="1818832" cy="47897"/>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21" name="Rectángulo 20">
            <a:extLst>
              <a:ext uri="{FF2B5EF4-FFF2-40B4-BE49-F238E27FC236}">
                <a16:creationId xmlns:a16="http://schemas.microsoft.com/office/drawing/2014/main" id="{EC9EBD3D-98EF-BFF4-3EF2-FB53BDFDC1B9}"/>
              </a:ext>
            </a:extLst>
          </p:cNvPr>
          <p:cNvSpPr/>
          <p:nvPr/>
        </p:nvSpPr>
        <p:spPr>
          <a:xfrm>
            <a:off x="8037575" y="4467074"/>
            <a:ext cx="1375954" cy="914400"/>
          </a:xfrm>
          <a:prstGeom prst="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solidFill>
                <a:schemeClr val="bg1">
                  <a:lumMod val="65000"/>
                </a:schemeClr>
              </a:solidFill>
            </a:endParaRPr>
          </a:p>
        </p:txBody>
      </p:sp>
      <p:sp>
        <p:nvSpPr>
          <p:cNvPr id="34" name="CuadroTexto 33">
            <a:extLst>
              <a:ext uri="{FF2B5EF4-FFF2-40B4-BE49-F238E27FC236}">
                <a16:creationId xmlns:a16="http://schemas.microsoft.com/office/drawing/2014/main" id="{1C2F6896-54D4-8706-AA99-764079F2D35D}"/>
              </a:ext>
            </a:extLst>
          </p:cNvPr>
          <p:cNvSpPr txBox="1"/>
          <p:nvPr/>
        </p:nvSpPr>
        <p:spPr>
          <a:xfrm>
            <a:off x="9659709" y="4916768"/>
            <a:ext cx="1245321" cy="369332"/>
          </a:xfrm>
          <a:prstGeom prst="rect">
            <a:avLst/>
          </a:prstGeom>
          <a:noFill/>
        </p:spPr>
        <p:txBody>
          <a:bodyPr wrap="square" rtlCol="0">
            <a:spAutoFit/>
          </a:bodyPr>
          <a:lstStyle/>
          <a:p>
            <a:r>
              <a:rPr lang="en-US" dirty="0">
                <a:solidFill>
                  <a:schemeClr val="bg1">
                    <a:lumMod val="65000"/>
                  </a:schemeClr>
                </a:solidFill>
              </a:rPr>
              <a:t>Out1</a:t>
            </a:r>
          </a:p>
        </p:txBody>
      </p:sp>
      <p:sp>
        <p:nvSpPr>
          <p:cNvPr id="36" name="CuadroTexto 35">
            <a:extLst>
              <a:ext uri="{FF2B5EF4-FFF2-40B4-BE49-F238E27FC236}">
                <a16:creationId xmlns:a16="http://schemas.microsoft.com/office/drawing/2014/main" id="{5006711D-654E-EB6C-E90D-0190AA8EE20A}"/>
              </a:ext>
            </a:extLst>
          </p:cNvPr>
          <p:cNvSpPr txBox="1"/>
          <p:nvPr/>
        </p:nvSpPr>
        <p:spPr>
          <a:xfrm>
            <a:off x="9680893" y="4458476"/>
            <a:ext cx="1245321" cy="369332"/>
          </a:xfrm>
          <a:prstGeom prst="rect">
            <a:avLst/>
          </a:prstGeom>
          <a:noFill/>
        </p:spPr>
        <p:txBody>
          <a:bodyPr wrap="square" rtlCol="0">
            <a:spAutoFit/>
          </a:bodyPr>
          <a:lstStyle/>
          <a:p>
            <a:r>
              <a:rPr lang="en-US" dirty="0">
                <a:solidFill>
                  <a:schemeClr val="bg1">
                    <a:lumMod val="65000"/>
                  </a:schemeClr>
                </a:solidFill>
              </a:rPr>
              <a:t>Out2</a:t>
            </a:r>
          </a:p>
        </p:txBody>
      </p:sp>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979C4EB3-5014-92C7-FAAB-64D3285CF6AC}"/>
                  </a:ext>
                </a:extLst>
              </p:cNvPr>
              <p:cNvSpPr txBox="1"/>
              <p:nvPr/>
            </p:nvSpPr>
            <p:spPr>
              <a:xfrm>
                <a:off x="8119322" y="4706953"/>
                <a:ext cx="129167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s-ES" b="0" i="1" smtClean="0">
                              <a:solidFill>
                                <a:schemeClr val="tx1"/>
                              </a:solidFill>
                              <a:latin typeface="Cambria Math" panose="02040503050406030204" pitchFamily="18" charset="0"/>
                            </a:rPr>
                          </m:ctrlPr>
                        </m:sSubPr>
                        <m:e>
                          <m:r>
                            <a:rPr lang="es-ES" b="0" i="1" smtClean="0">
                              <a:solidFill>
                                <a:schemeClr val="tx1"/>
                              </a:solidFill>
                              <a:latin typeface="Cambria Math" panose="02040503050406030204" pitchFamily="18" charset="0"/>
                            </a:rPr>
                            <m:t>𝑘</m:t>
                          </m:r>
                        </m:e>
                        <m:sub>
                          <m:r>
                            <a:rPr lang="es-ES" b="0" i="1" smtClean="0">
                              <a:solidFill>
                                <a:schemeClr val="tx1"/>
                              </a:solidFill>
                              <a:latin typeface="Cambria Math" panose="02040503050406030204" pitchFamily="18" charset="0"/>
                            </a:rPr>
                            <m:t>𝑏</m:t>
                          </m:r>
                        </m:sub>
                      </m:sSub>
                    </m:oMath>
                  </m:oMathPara>
                </a14:m>
                <a:endParaRPr lang="en-US" dirty="0">
                  <a:solidFill>
                    <a:schemeClr val="tx1"/>
                  </a:solidFill>
                </a:endParaRPr>
              </a:p>
            </p:txBody>
          </p:sp>
        </mc:Choice>
        <mc:Fallback xmlns="">
          <p:sp>
            <p:nvSpPr>
              <p:cNvPr id="39" name="CuadroTexto 38">
                <a:extLst>
                  <a:ext uri="{FF2B5EF4-FFF2-40B4-BE49-F238E27FC236}">
                    <a16:creationId xmlns:a16="http://schemas.microsoft.com/office/drawing/2014/main" id="{979C4EB3-5014-92C7-FAAB-64D3285CF6AC}"/>
                  </a:ext>
                </a:extLst>
              </p:cNvPr>
              <p:cNvSpPr txBox="1">
                <a:spLocks noRot="1" noChangeAspect="1" noMove="1" noResize="1" noEditPoints="1" noAdjustHandles="1" noChangeArrowheads="1" noChangeShapeType="1" noTextEdit="1"/>
              </p:cNvSpPr>
              <p:nvPr/>
            </p:nvSpPr>
            <p:spPr>
              <a:xfrm>
                <a:off x="8119322" y="4706953"/>
                <a:ext cx="1291674" cy="369332"/>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2F4EC49-F7E4-B921-90B7-75679E5144D1}"/>
                  </a:ext>
                </a:extLst>
              </p:cNvPr>
              <p:cNvSpPr txBox="1"/>
              <p:nvPr/>
            </p:nvSpPr>
            <p:spPr>
              <a:xfrm>
                <a:off x="5653085" y="5192639"/>
                <a:ext cx="1245321" cy="369332"/>
              </a:xfrm>
              <a:prstGeom prst="rect">
                <a:avLst/>
              </a:prstGeom>
              <a:noFill/>
            </p:spPr>
            <p:txBody>
              <a:bodyPr wrap="square" rtlCol="0">
                <a:spAutoFit/>
              </a:bodyPr>
              <a:lstStyle/>
              <a:p>
                <a:pPr algn="ctr"/>
                <a14:m>
                  <m:oMath xmlns:m="http://schemas.openxmlformats.org/officeDocument/2006/math">
                    <m:sSub>
                      <m:sSubPr>
                        <m:ctrlPr>
                          <a:rPr lang="en-US" i="1" dirty="0" smtClean="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𝛽</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14:m>
                  <m:oMath xmlns:m="http://schemas.openxmlformats.org/officeDocument/2006/math">
                    <m:sSub>
                      <m:sSubPr>
                        <m:ctrlPr>
                          <a:rPr lang="en-US" i="1" dirty="0">
                            <a:solidFill>
                              <a:schemeClr val="tx1"/>
                            </a:solidFill>
                            <a:latin typeface="Cambria Math" panose="02040503050406030204" pitchFamily="18" charset="0"/>
                          </a:rPr>
                        </m:ctrlPr>
                      </m:sSubPr>
                      <m:e>
                        <m:r>
                          <a:rPr lang="es-ES" b="0" i="1" dirty="0" smtClean="0">
                            <a:solidFill>
                              <a:schemeClr val="tx1"/>
                            </a:solidFill>
                            <a:latin typeface="Cambria Math" panose="02040503050406030204" pitchFamily="18" charset="0"/>
                          </a:rPr>
                          <m:t>𝐿</m:t>
                        </m:r>
                      </m:e>
                      <m:sub>
                        <m:r>
                          <a:rPr lang="es-ES" b="0" i="1" dirty="0" smtClean="0">
                            <a:solidFill>
                              <a:schemeClr val="tx1"/>
                            </a:solidFill>
                            <a:latin typeface="Cambria Math" panose="02040503050406030204" pitchFamily="18" charset="0"/>
                          </a:rPr>
                          <m:t>𝑑</m:t>
                        </m:r>
                      </m:sub>
                    </m:sSub>
                  </m:oMath>
                </a14:m>
                <a:r>
                  <a:rPr lang="en-US" dirty="0">
                    <a:solidFill>
                      <a:schemeClr val="tx1"/>
                    </a:solidFill>
                  </a:rPr>
                  <a:t> </a:t>
                </a:r>
              </a:p>
            </p:txBody>
          </p:sp>
        </mc:Choice>
        <mc:Fallback xmlns="">
          <p:sp>
            <p:nvSpPr>
              <p:cNvPr id="40" name="CuadroTexto 39">
                <a:extLst>
                  <a:ext uri="{FF2B5EF4-FFF2-40B4-BE49-F238E27FC236}">
                    <a16:creationId xmlns:a16="http://schemas.microsoft.com/office/drawing/2014/main" id="{72F4EC49-F7E4-B921-90B7-75679E5144D1}"/>
                  </a:ext>
                </a:extLst>
              </p:cNvPr>
              <p:cNvSpPr txBox="1">
                <a:spLocks noRot="1" noChangeAspect="1" noMove="1" noResize="1" noEditPoints="1" noAdjustHandles="1" noChangeArrowheads="1" noChangeShapeType="1" noTextEdit="1"/>
              </p:cNvSpPr>
              <p:nvPr/>
            </p:nvSpPr>
            <p:spPr>
              <a:xfrm>
                <a:off x="5653085" y="5192639"/>
                <a:ext cx="1245321" cy="369332"/>
              </a:xfrm>
              <a:prstGeom prst="rect">
                <a:avLst/>
              </a:prstGeom>
              <a:blipFill>
                <a:blip r:embed="rId8"/>
                <a:stretch>
                  <a:fillRect t="-10000" b="-26667"/>
                </a:stretch>
              </a:blipFill>
            </p:spPr>
            <p:txBody>
              <a:bodyPr/>
              <a:lstStyle/>
              <a:p>
                <a:r>
                  <a:rPr lang="es-ES">
                    <a:noFill/>
                  </a:rPr>
                  <a:t> </a:t>
                </a:r>
              </a:p>
            </p:txBody>
          </p:sp>
        </mc:Fallback>
      </mc:AlternateContent>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#1 </a:t>
            </a:r>
            <a:r>
              <a:rPr lang="en-US" sz="2500" dirty="0"/>
              <a:t>– Recap from theory – MZI configurations</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sz="2000" dirty="0"/>
                  <a:t>Provide one example of implementation for each one of the configurations studied during MZI lecture:</a:t>
                </a:r>
              </a:p>
              <a:p>
                <a:pPr lvl="1"/>
                <a:r>
                  <a:rPr lang="en-US" sz="2000" dirty="0"/>
                  <a:t>1. Balanced configuration</a:t>
                </a:r>
              </a:p>
              <a:p>
                <a:pPr lvl="1"/>
                <a:r>
                  <a:rPr lang="en-US" sz="2000" dirty="0"/>
                  <a:t>2. Unbalanced configuration:</a:t>
                </a:r>
              </a:p>
              <a:p>
                <a:pPr lvl="1"/>
                <a:r>
                  <a:rPr lang="en-US" sz="2000" dirty="0"/>
                  <a:t>  2.1.   Phase difference </a:t>
                </a:r>
              </a:p>
              <a:p>
                <a:pPr lvl="1"/>
                <a:r>
                  <a:rPr lang="en-US" sz="2000" dirty="0"/>
                  <a:t>  2.2.   Delay imbalance</a:t>
                </a:r>
              </a:p>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sz="2000" dirty="0"/>
              </a:p>
              <a:p>
                <a:r>
                  <a:rPr lang="en-US" sz="2000" dirty="0"/>
                  <a:t> </a:t>
                </a:r>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a:t>
            </a:r>
            <a:r>
              <a:rPr lang="en-US" sz="1200" dirty="0" err="1">
                <a:latin typeface="Arial" panose="020B0604020202020204" pitchFamily="34" charset="0"/>
                <a:cs typeface="Arial" panose="020B0604020202020204" pitchFamily="34" charset="0"/>
              </a:rPr>
              <a:t>neff</a:t>
            </a:r>
            <a:r>
              <a:rPr lang="en-US" sz="1200" dirty="0">
                <a:latin typeface="Arial" panose="020B0604020202020204" pitchFamily="34" charset="0"/>
                <a:cs typeface="Arial" panose="020B0604020202020204" pitchFamily="34" charset="0"/>
              </a:rPr>
              <a:t>, alpha, gamma, transfer function plots, etc.) and comment on the obtained results (in terms of FSR, amplitude, losses, etc.).</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14E1523F-57E7-BC79-8739-6F62FB1C8B3D}"/>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BEC5D-83DF-49B5-BC30-A54871D1D4F9}"/>
              </a:ext>
            </a:extLst>
          </p:cNvPr>
          <p:cNvSpPr>
            <a:spLocks noGrp="1"/>
          </p:cNvSpPr>
          <p:nvPr>
            <p:ph type="title"/>
          </p:nvPr>
        </p:nvSpPr>
        <p:spPr/>
        <p:txBody>
          <a:bodyPr/>
          <a:lstStyle/>
          <a:p>
            <a:r>
              <a:rPr lang="en-US" dirty="0"/>
              <a:t>I</a:t>
            </a:r>
            <a:r>
              <a:rPr lang="en-US" sz="2000" dirty="0"/>
              <a:t>mplementation for each one of the configurations studied during MZI lecture</a:t>
            </a:r>
            <a:endParaRPr lang="es-ES" dirty="0"/>
          </a:p>
        </p:txBody>
      </p:sp>
      <p:sp>
        <p:nvSpPr>
          <p:cNvPr id="3" name="Marcador de texto 2">
            <a:extLst>
              <a:ext uri="{FF2B5EF4-FFF2-40B4-BE49-F238E27FC236}">
                <a16:creationId xmlns:a16="http://schemas.microsoft.com/office/drawing/2014/main" id="{CAAF7831-4555-450A-A8CE-008D3C87129C}"/>
              </a:ext>
            </a:extLst>
          </p:cNvPr>
          <p:cNvSpPr>
            <a:spLocks noGrp="1"/>
          </p:cNvSpPr>
          <p:nvPr>
            <p:ph type="body" idx="1"/>
          </p:nvPr>
        </p:nvSpPr>
        <p:spPr>
          <a:xfrm>
            <a:off x="770467" y="989111"/>
            <a:ext cx="2590800" cy="307777"/>
          </a:xfrm>
        </p:spPr>
        <p:txBody>
          <a:bodyPr/>
          <a:lstStyle/>
          <a:p>
            <a:r>
              <a:rPr lang="en-US" sz="1800" dirty="0"/>
              <a:t>1. Balanced configuration</a:t>
            </a:r>
          </a:p>
          <a:p>
            <a:endParaRPr lang="es-ES" dirty="0"/>
          </a:p>
        </p:txBody>
      </p:sp>
      <p:sp>
        <p:nvSpPr>
          <p:cNvPr id="4" name="Marcador de pie de página 3">
            <a:extLst>
              <a:ext uri="{FF2B5EF4-FFF2-40B4-BE49-F238E27FC236}">
                <a16:creationId xmlns:a16="http://schemas.microsoft.com/office/drawing/2014/main" id="{4ADB8334-3F80-456C-8283-72FAAFAF378A}"/>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DF28D302-4654-40DA-8469-CC4C033D6CD6}"/>
              </a:ext>
            </a:extLst>
          </p:cNvPr>
          <p:cNvSpPr>
            <a:spLocks noGrp="1"/>
          </p:cNvSpPr>
          <p:nvPr>
            <p:ph type="sldNum" sz="quarter" idx="7"/>
          </p:nvPr>
        </p:nvSpPr>
        <p:spPr/>
        <p:txBody>
          <a:bodyPr/>
          <a:lstStyle/>
          <a:p>
            <a:fld id="{B6F15528-21DE-4FAA-801E-634DDDAF4B2B}" type="slidenum">
              <a:rPr lang="es-ES" smtClean="0"/>
              <a:t>4</a:t>
            </a:fld>
            <a:endParaRPr lang="es-ES"/>
          </a:p>
        </p:txBody>
      </p:sp>
      <p:pic>
        <p:nvPicPr>
          <p:cNvPr id="7" name="Imagen 6">
            <a:extLst>
              <a:ext uri="{FF2B5EF4-FFF2-40B4-BE49-F238E27FC236}">
                <a16:creationId xmlns:a16="http://schemas.microsoft.com/office/drawing/2014/main" id="{AA24FF34-9025-4DC5-A78E-A270E346B6C5}"/>
              </a:ext>
            </a:extLst>
          </p:cNvPr>
          <p:cNvPicPr>
            <a:picLocks noChangeAspect="1"/>
          </p:cNvPicPr>
          <p:nvPr/>
        </p:nvPicPr>
        <p:blipFill>
          <a:blip r:embed="rId2"/>
          <a:stretch>
            <a:fillRect/>
          </a:stretch>
        </p:blipFill>
        <p:spPr>
          <a:xfrm>
            <a:off x="381000" y="1902526"/>
            <a:ext cx="3988190" cy="3200400"/>
          </a:xfrm>
          <a:prstGeom prst="rect">
            <a:avLst/>
          </a:prstGeom>
        </p:spPr>
      </p:pic>
      <p:sp>
        <p:nvSpPr>
          <p:cNvPr id="14" name="CuadroTexto 13">
            <a:extLst>
              <a:ext uri="{FF2B5EF4-FFF2-40B4-BE49-F238E27FC236}">
                <a16:creationId xmlns:a16="http://schemas.microsoft.com/office/drawing/2014/main" id="{7E539A9C-2056-4998-806D-73C8753C9A85}"/>
              </a:ext>
            </a:extLst>
          </p:cNvPr>
          <p:cNvSpPr txBox="1"/>
          <p:nvPr/>
        </p:nvSpPr>
        <p:spPr>
          <a:xfrm>
            <a:off x="4800600" y="2348564"/>
            <a:ext cx="6934200" cy="2308324"/>
          </a:xfrm>
          <a:prstGeom prst="rect">
            <a:avLst/>
          </a:prstGeom>
          <a:noFill/>
        </p:spPr>
        <p:txBody>
          <a:bodyPr wrap="square" rtlCol="0">
            <a:spAutoFit/>
          </a:bodyPr>
          <a:lstStyle/>
          <a:p>
            <a:r>
              <a:rPr lang="en-US" sz="1200" dirty="0"/>
              <a:t>• Why does a perfectly balanced MZI (ΔL = 0, identical arms and 50:50 couplers) not exhibit spectral periodicity? </a:t>
            </a:r>
          </a:p>
          <a:p>
            <a:endParaRPr lang="en-US" sz="1200" dirty="0"/>
          </a:p>
          <a:p>
            <a:endParaRPr lang="en-US" sz="1200" dirty="0"/>
          </a:p>
          <a:p>
            <a:endParaRPr lang="en-US" sz="1200" dirty="0"/>
          </a:p>
          <a:p>
            <a:r>
              <a:rPr lang="en-US" sz="1200" dirty="0"/>
              <a:t>• What happens to the output transmission if the coupling ratio deviates from 50:50? </a:t>
            </a:r>
          </a:p>
          <a:p>
            <a:endParaRPr lang="en-US" sz="1200" dirty="0"/>
          </a:p>
          <a:p>
            <a:endParaRPr lang="en-US" sz="1200" dirty="0"/>
          </a:p>
          <a:p>
            <a:endParaRPr lang="en-US" sz="1200" dirty="0"/>
          </a:p>
          <a:p>
            <a:r>
              <a:rPr lang="en-US" sz="1200" dirty="0"/>
              <a:t>• How does excess loss (γ ≠ 0) affect the output ports in a balanced MZI? </a:t>
            </a:r>
          </a:p>
          <a:p>
            <a:endParaRPr lang="en-US" sz="1200" dirty="0"/>
          </a:p>
          <a:p>
            <a:endParaRPr lang="es-ES" sz="1200" dirty="0"/>
          </a:p>
        </p:txBody>
      </p:sp>
    </p:spTree>
    <p:extLst>
      <p:ext uri="{BB962C8B-B14F-4D97-AF65-F5344CB8AC3E}">
        <p14:creationId xmlns:p14="http://schemas.microsoft.com/office/powerpoint/2010/main" val="2834918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FBF3E6-DA0F-4585-80D3-56DE53871D4A}"/>
              </a:ext>
            </a:extLst>
          </p:cNvPr>
          <p:cNvSpPr>
            <a:spLocks noGrp="1"/>
          </p:cNvSpPr>
          <p:nvPr>
            <p:ph type="title"/>
          </p:nvPr>
        </p:nvSpPr>
        <p:spPr/>
        <p:txBody>
          <a:bodyPr/>
          <a:lstStyle/>
          <a:p>
            <a:r>
              <a:rPr lang="en-US" dirty="0"/>
              <a:t>I</a:t>
            </a:r>
            <a:r>
              <a:rPr lang="en-US" sz="2000" dirty="0"/>
              <a:t>mplementation for each one of the configurations studied during MZI lecture</a:t>
            </a:r>
            <a:endParaRPr lang="es-ES" dirty="0"/>
          </a:p>
        </p:txBody>
      </p:sp>
      <mc:AlternateContent xmlns:mc="http://schemas.openxmlformats.org/markup-compatibility/2006">
        <mc:Choice xmlns:a14="http://schemas.microsoft.com/office/drawing/2010/main" Requires="a14">
          <p:sp>
            <p:nvSpPr>
              <p:cNvPr id="3" name="Marcador de texto 2">
                <a:extLst>
                  <a:ext uri="{FF2B5EF4-FFF2-40B4-BE49-F238E27FC236}">
                    <a16:creationId xmlns:a16="http://schemas.microsoft.com/office/drawing/2014/main" id="{02BC32C3-529A-4E52-9133-A834239450EA}"/>
                  </a:ext>
                </a:extLst>
              </p:cNvPr>
              <p:cNvSpPr>
                <a:spLocks noGrp="1"/>
              </p:cNvSpPr>
              <p:nvPr>
                <p:ph type="body" idx="1"/>
              </p:nvPr>
            </p:nvSpPr>
            <p:spPr>
              <a:xfrm>
                <a:off x="5105400" y="1794726"/>
                <a:ext cx="6477000" cy="3323987"/>
              </a:xfrm>
            </p:spPr>
            <p:txBody>
              <a:bodyPr/>
              <a:lstStyle/>
              <a:p>
                <a:pPr algn="just"/>
                <a:r>
                  <a:rPr lang="en-US" sz="1200" dirty="0"/>
                  <a:t>• If both arms have the same physical length but different propagation constants (βu ≠ βd), what generates the phase difference? </a:t>
                </a:r>
              </a:p>
              <a:p>
                <a:pPr algn="just"/>
                <a:endParaRPr lang="en-US" sz="1200" dirty="0"/>
              </a:p>
              <a:p>
                <a:pPr algn="just"/>
                <a:r>
                  <a:rPr lang="es-ES" sz="1200" dirty="0"/>
                  <a:t>Se genera por la diferencia en el índice efectivo de los modos en cada brazo. Al tener distintas constantes de propagación, la luz viaja a diferente velocidad de fase en cada camino, acumulando un desfase a pesar de recorrer la misma distancia física.</a:t>
                </a:r>
                <a:endParaRPr lang="en-US" sz="1200" dirty="0"/>
              </a:p>
              <a:p>
                <a:pPr algn="just"/>
                <a:endParaRPr lang="en-US" sz="1200" dirty="0"/>
              </a:p>
              <a:p>
                <a:pPr algn="just"/>
                <a:r>
                  <a:rPr lang="en-US" sz="1200" dirty="0"/>
                  <a:t>• Why are the two output ports complementary (H21 = cos²(</a:t>
                </a:r>
                <a:r>
                  <a:rPr lang="en-US" sz="1200" dirty="0" err="1"/>
                  <a:t>Δφ</a:t>
                </a:r>
                <a:r>
                  <a:rPr lang="en-US" sz="1200" dirty="0"/>
                  <a:t>/2), H22 = sin²(</a:t>
                </a:r>
                <a:r>
                  <a:rPr lang="en-US" sz="1200" dirty="0" err="1"/>
                  <a:t>Δφ</a:t>
                </a:r>
                <a:r>
                  <a:rPr lang="en-US" sz="1200" dirty="0"/>
                  <a:t>/2))? </a:t>
                </a:r>
              </a:p>
              <a:p>
                <a:pPr algn="just"/>
                <a:endParaRPr lang="en-US" sz="1200" dirty="0"/>
              </a:p>
              <a:p>
                <a:pPr algn="just"/>
                <a:r>
                  <a:rPr lang="es-ES" sz="1200" dirty="0"/>
                  <a:t>Son complementarios debido al principio fundamental de conservación de la energía en un sistema ideal y al desfase intrínseco de 90° que introducen los acopladores divisores 50/50 al cruzar la luz.</a:t>
                </a:r>
                <a:endParaRPr lang="en-US" sz="1200" dirty="0"/>
              </a:p>
              <a:p>
                <a:pPr algn="just"/>
                <a:endParaRPr lang="en-US" sz="1200" dirty="0"/>
              </a:p>
              <a:p>
                <a:pPr algn="just"/>
                <a:r>
                  <a:rPr lang="en-US" sz="1200" dirty="0"/>
                  <a:t>• Under what condition can the MZI behave as a tunable power coupler rather than a wavelength filter?</a:t>
                </a:r>
              </a:p>
              <a:p>
                <a:pPr algn="just"/>
                <a:endParaRPr lang="en-US" sz="1200" dirty="0"/>
              </a:p>
              <a:p>
                <a:pPr algn="just"/>
                <a:r>
                  <a:rPr lang="en-US" sz="1200" dirty="0"/>
                  <a:t> </a:t>
                </a:r>
                <a:r>
                  <a:rPr lang="es-ES" sz="1200" dirty="0"/>
                  <a:t>Actúa como acoplador sintonizable de potencia cuando ambos brazos tienen exactamente la misma longitud física (</a:t>
                </a:r>
                <a14:m>
                  <m:oMath xmlns:m="http://schemas.openxmlformats.org/officeDocument/2006/math">
                    <m:r>
                      <m:rPr>
                        <m:sty m:val="p"/>
                      </m:rPr>
                      <a:rPr lang="es-ES" sz="1200" i="0" dirty="0" smtClean="0">
                        <a:latin typeface="Cambria Math" panose="02040503050406030204" pitchFamily="18" charset="0"/>
                      </a:rPr>
                      <m:t>Δ</m:t>
                    </m:r>
                    <m:r>
                      <a:rPr lang="es-ES" sz="1200" i="1" dirty="0" smtClean="0">
                        <a:latin typeface="Cambria Math" panose="02040503050406030204" pitchFamily="18" charset="0"/>
                      </a:rPr>
                      <m:t>𝐿</m:t>
                    </m:r>
                    <m:r>
                      <a:rPr lang="es-ES" sz="1200" i="1" dirty="0" smtClean="0">
                        <a:latin typeface="Cambria Math" panose="02040503050406030204" pitchFamily="18" charset="0"/>
                      </a:rPr>
                      <m:t> = 0</m:t>
                    </m:r>
                  </m:oMath>
                </a14:m>
                <a:r>
                  <a:rPr lang="es-ES" sz="1200" dirty="0"/>
                  <a:t>). Al no haber asimetría, pierde su dependencia con la longitud de onda (no filtra) y la división de potencia se controla alterando activamente la fase de un brazo (por ejemplo, usando calentadores termo-ópticos).</a:t>
                </a:r>
              </a:p>
            </p:txBody>
          </p:sp>
        </mc:Choice>
        <mc:Fallback>
          <p:sp>
            <p:nvSpPr>
              <p:cNvPr id="3" name="Marcador de texto 2">
                <a:extLst>
                  <a:ext uri="{FF2B5EF4-FFF2-40B4-BE49-F238E27FC236}">
                    <a16:creationId xmlns:a16="http://schemas.microsoft.com/office/drawing/2014/main" id="{02BC32C3-529A-4E52-9133-A834239450EA}"/>
                  </a:ext>
                </a:extLst>
              </p:cNvPr>
              <p:cNvSpPr>
                <a:spLocks noGrp="1" noRot="1" noChangeAspect="1" noMove="1" noResize="1" noEditPoints="1" noAdjustHandles="1" noChangeArrowheads="1" noChangeShapeType="1" noTextEdit="1"/>
              </p:cNvSpPr>
              <p:nvPr>
                <p:ph type="body" idx="1"/>
              </p:nvPr>
            </p:nvSpPr>
            <p:spPr>
              <a:xfrm>
                <a:off x="5105400" y="1794726"/>
                <a:ext cx="6477000" cy="3323987"/>
              </a:xfrm>
              <a:blipFill>
                <a:blip r:embed="rId2"/>
                <a:stretch>
                  <a:fillRect l="-1507" t="-1465" r="-1507" b="-1832"/>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5307C851-7FB9-4403-94B0-3611DBFDE00F}"/>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A1CF9BBD-A73B-4DDA-BC69-3CD31552620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6" name="Marcador de texto 2">
            <a:extLst>
              <a:ext uri="{FF2B5EF4-FFF2-40B4-BE49-F238E27FC236}">
                <a16:creationId xmlns:a16="http://schemas.microsoft.com/office/drawing/2014/main" id="{1BAC312F-6919-4325-9A80-565BF7B9BA7C}"/>
              </a:ext>
            </a:extLst>
          </p:cNvPr>
          <p:cNvSpPr txBox="1">
            <a:spLocks/>
          </p:cNvSpPr>
          <p:nvPr/>
        </p:nvSpPr>
        <p:spPr>
          <a:xfrm>
            <a:off x="381000" y="867966"/>
            <a:ext cx="3157538" cy="553998"/>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1800" dirty="0"/>
              <a:t>2. Unbalanced configuration:</a:t>
            </a:r>
          </a:p>
          <a:p>
            <a:pPr lvl="1"/>
            <a:r>
              <a:rPr lang="en-US" sz="1800" dirty="0"/>
              <a:t>  2.1.   Phase difference</a:t>
            </a:r>
            <a:endParaRPr lang="es-ES" kern="0" dirty="0">
              <a:solidFill>
                <a:sysClr val="windowText" lastClr="000000"/>
              </a:solidFill>
            </a:endParaRPr>
          </a:p>
        </p:txBody>
      </p:sp>
      <p:pic>
        <p:nvPicPr>
          <p:cNvPr id="9" name="Imagen 8">
            <a:extLst>
              <a:ext uri="{FF2B5EF4-FFF2-40B4-BE49-F238E27FC236}">
                <a16:creationId xmlns:a16="http://schemas.microsoft.com/office/drawing/2014/main" id="{862D94F1-FCCA-49CD-8797-4BEE165BB17C}"/>
              </a:ext>
            </a:extLst>
          </p:cNvPr>
          <p:cNvPicPr>
            <a:picLocks noChangeAspect="1"/>
          </p:cNvPicPr>
          <p:nvPr/>
        </p:nvPicPr>
        <p:blipFill>
          <a:blip r:embed="rId3"/>
          <a:stretch>
            <a:fillRect/>
          </a:stretch>
        </p:blipFill>
        <p:spPr>
          <a:xfrm>
            <a:off x="457200" y="1891710"/>
            <a:ext cx="3962401" cy="3130021"/>
          </a:xfrm>
          <a:prstGeom prst="rect">
            <a:avLst/>
          </a:prstGeom>
        </p:spPr>
      </p:pic>
    </p:spTree>
    <p:extLst>
      <p:ext uri="{BB962C8B-B14F-4D97-AF65-F5344CB8AC3E}">
        <p14:creationId xmlns:p14="http://schemas.microsoft.com/office/powerpoint/2010/main" val="24325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21320E-38EE-4D80-A7E3-C8C97A61F7DD}"/>
              </a:ext>
            </a:extLst>
          </p:cNvPr>
          <p:cNvSpPr>
            <a:spLocks noGrp="1"/>
          </p:cNvSpPr>
          <p:nvPr>
            <p:ph type="title"/>
          </p:nvPr>
        </p:nvSpPr>
        <p:spPr/>
        <p:txBody>
          <a:bodyPr/>
          <a:lstStyle/>
          <a:p>
            <a:r>
              <a:rPr lang="en-US" dirty="0"/>
              <a:t>I</a:t>
            </a:r>
            <a:r>
              <a:rPr lang="en-US" sz="2000" dirty="0"/>
              <a:t>mplementation for each one of the configurations studied during MZI lecture</a:t>
            </a:r>
            <a:endParaRPr lang="es-ES" dirty="0"/>
          </a:p>
        </p:txBody>
      </p:sp>
      <mc:AlternateContent xmlns:mc="http://schemas.openxmlformats.org/markup-compatibility/2006">
        <mc:Choice xmlns:a14="http://schemas.microsoft.com/office/drawing/2010/main" Requires="a14">
          <p:sp>
            <p:nvSpPr>
              <p:cNvPr id="3" name="Marcador de texto 2">
                <a:extLst>
                  <a:ext uri="{FF2B5EF4-FFF2-40B4-BE49-F238E27FC236}">
                    <a16:creationId xmlns:a16="http://schemas.microsoft.com/office/drawing/2014/main" id="{757077C7-5B79-4535-82AA-5A6DF81ED587}"/>
                  </a:ext>
                </a:extLst>
              </p:cNvPr>
              <p:cNvSpPr>
                <a:spLocks noGrp="1"/>
              </p:cNvSpPr>
              <p:nvPr>
                <p:ph type="body" idx="1"/>
              </p:nvPr>
            </p:nvSpPr>
            <p:spPr>
              <a:xfrm>
                <a:off x="4800600" y="1743147"/>
                <a:ext cx="6781800" cy="3099759"/>
              </a:xfrm>
            </p:spPr>
            <p:txBody>
              <a:bodyPr/>
              <a:lstStyle/>
              <a:p>
                <a:pPr algn="just"/>
                <a:r>
                  <a:rPr lang="en-US" sz="1200" dirty="0"/>
                  <a:t>• How does increasing the path length difference ΔL affect the Free Spectral Range (FSR)? </a:t>
                </a:r>
              </a:p>
              <a:p>
                <a:pPr algn="just"/>
                <a:endParaRPr lang="en-US" sz="1200" dirty="0"/>
              </a:p>
              <a:p>
                <a:pPr algn="just"/>
                <a:r>
                  <a:rPr lang="es-ES" sz="1200" dirty="0"/>
                  <a:t>Al aumentar la diferencia de caminos ópticos, el FSR disminuye. Esto significa que los picos de interferencia estarán más juntos en el espectro, haciendo que el MZI sea más sensible a pequeños cambios de longitud de onda.</a:t>
                </a:r>
                <a:endParaRPr lang="en-US" sz="1200" dirty="0"/>
              </a:p>
              <a:p>
                <a:pPr algn="just"/>
                <a:endParaRPr lang="en-US" sz="1200" dirty="0"/>
              </a:p>
              <a:p>
                <a:pPr algn="just"/>
                <a:r>
                  <a:rPr lang="en-US" sz="1200" dirty="0"/>
                  <a:t>• Why does dispersion (wavelength dependence of β) cause the interference fringes to appear chirped? </a:t>
                </a:r>
              </a:p>
              <a:p>
                <a:pPr algn="just"/>
                <a:endParaRPr lang="en-US" sz="1200" dirty="0"/>
              </a:p>
              <a:p>
                <a:pPr algn="just"/>
                <a:r>
                  <a:rPr lang="es-ES" sz="1200" dirty="0"/>
                  <a:t>La dispersión provoca que el índice efectivo cambie con la longitud de onda. Al no ser constante, la diferencia de fase acumulada no escala linealmente, lo que hace que la separación entre las franjas (FSR local) varíe a lo largo del espectro, creando ese efecto de compresión o expansión, también llamado  "</a:t>
                </a:r>
                <a:r>
                  <a:rPr lang="es-ES" sz="1200" dirty="0" err="1"/>
                  <a:t>chirp</a:t>
                </a:r>
                <a:r>
                  <a:rPr lang="es-ES" sz="1200" dirty="0"/>
                  <a:t>".</a:t>
                </a:r>
                <a:endParaRPr lang="en-US" sz="1200" dirty="0"/>
              </a:p>
              <a:p>
                <a:pPr algn="just"/>
                <a:endParaRPr lang="en-US" sz="1200" dirty="0"/>
              </a:p>
              <a:p>
                <a:pPr algn="just"/>
                <a:r>
                  <a:rPr lang="en-US" sz="1200" dirty="0"/>
                  <a:t>• What role does the group index ng play in determining the spectral period? </a:t>
                </a:r>
              </a:p>
              <a:p>
                <a:pPr algn="just"/>
                <a:endParaRPr lang="en-US" sz="1200" dirty="0"/>
              </a:p>
              <a:p>
                <a:pPr algn="just"/>
                <a:r>
                  <a:rPr lang="es-ES" sz="1200" dirty="0"/>
                  <a:t>El índice de grupo tiene en cuenta tanto el índice efectivo como su dispersión con la longitud de onda. Es el parámetro clave para calcular el FSR real (</a:t>
                </a:r>
                <a14:m>
                  <m:oMath xmlns:m="http://schemas.openxmlformats.org/officeDocument/2006/math">
                    <m:r>
                      <a:rPr lang="es-ES" sz="1200" i="1" dirty="0" smtClean="0">
                        <a:latin typeface="Cambria Math" panose="02040503050406030204" pitchFamily="18" charset="0"/>
                      </a:rPr>
                      <m:t>𝐹𝑆𝑅</m:t>
                    </m:r>
                    <m:r>
                      <a:rPr lang="es-ES" sz="1200" b="0" i="1" dirty="0" smtClean="0">
                        <a:latin typeface="Cambria Math" panose="02040503050406030204" pitchFamily="18" charset="0"/>
                      </a:rPr>
                      <m:t>=</m:t>
                    </m:r>
                    <m:f>
                      <m:fPr>
                        <m:ctrlPr>
                          <a:rPr lang="es-ES" sz="1200" i="1" dirty="0" smtClean="0">
                            <a:latin typeface="Cambria Math" panose="02040503050406030204" pitchFamily="18" charset="0"/>
                          </a:rPr>
                        </m:ctrlPr>
                      </m:fPr>
                      <m:num>
                        <m:sSup>
                          <m:sSupPr>
                            <m:ctrlPr>
                              <a:rPr lang="es-ES" sz="1200" i="1" dirty="0" smtClean="0">
                                <a:latin typeface="Cambria Math" panose="02040503050406030204" pitchFamily="18" charset="0"/>
                              </a:rPr>
                            </m:ctrlPr>
                          </m:sSupPr>
                          <m:e>
                            <m:r>
                              <a:rPr lang="es-ES" sz="1200" i="1" dirty="0" smtClean="0">
                                <a:latin typeface="Cambria Math" panose="02040503050406030204" pitchFamily="18" charset="0"/>
                              </a:rPr>
                              <m:t>𝜆</m:t>
                            </m:r>
                          </m:e>
                          <m:sup>
                            <m:r>
                              <a:rPr lang="es-ES" sz="1200" i="1" dirty="0" smtClean="0">
                                <a:latin typeface="Cambria Math" panose="02040503050406030204" pitchFamily="18" charset="0"/>
                              </a:rPr>
                              <m:t>2</m:t>
                            </m:r>
                          </m:sup>
                        </m:sSup>
                      </m:num>
                      <m:den>
                        <m:sSub>
                          <m:sSubPr>
                            <m:ctrlPr>
                              <a:rPr lang="es-ES" sz="1200" i="1" dirty="0">
                                <a:latin typeface="Cambria Math" panose="02040503050406030204" pitchFamily="18" charset="0"/>
                              </a:rPr>
                            </m:ctrlPr>
                          </m:sSubPr>
                          <m:e>
                            <m:r>
                              <a:rPr lang="es-ES" sz="1200" i="1" dirty="0" err="1">
                                <a:latin typeface="Cambria Math" panose="02040503050406030204" pitchFamily="18" charset="0"/>
                              </a:rPr>
                              <m:t>𝑛</m:t>
                            </m:r>
                          </m:e>
                          <m:sub>
                            <m:r>
                              <a:rPr lang="es-ES" sz="1200" i="1" dirty="0" err="1">
                                <a:latin typeface="Cambria Math" panose="02040503050406030204" pitchFamily="18" charset="0"/>
                              </a:rPr>
                              <m:t>𝑔</m:t>
                            </m:r>
                          </m:sub>
                        </m:sSub>
                        <m:r>
                          <a:rPr lang="es-ES" sz="1200" i="1" dirty="0">
                            <a:latin typeface="Cambria Math" panose="02040503050406030204" pitchFamily="18" charset="0"/>
                          </a:rPr>
                          <m:t>⋅</m:t>
                        </m:r>
                        <m:r>
                          <m:rPr>
                            <m:sty m:val="p"/>
                          </m:rPr>
                          <a:rPr lang="es-ES" sz="1200" dirty="0">
                            <a:latin typeface="Cambria Math" panose="02040503050406030204" pitchFamily="18" charset="0"/>
                          </a:rPr>
                          <m:t>Δ</m:t>
                        </m:r>
                        <m:r>
                          <a:rPr lang="es-ES" sz="1200" i="1" dirty="0">
                            <a:latin typeface="Cambria Math" panose="02040503050406030204" pitchFamily="18" charset="0"/>
                          </a:rPr>
                          <m:t>𝐿</m:t>
                        </m:r>
                      </m:den>
                    </m:f>
                  </m:oMath>
                </a14:m>
                <a:r>
                  <a:rPr lang="es-ES" sz="1200" dirty="0"/>
                  <a:t>), el cual nos dice la distancia entre franjas adyacentes.</a:t>
                </a:r>
              </a:p>
            </p:txBody>
          </p:sp>
        </mc:Choice>
        <mc:Fallback>
          <p:sp>
            <p:nvSpPr>
              <p:cNvPr id="3" name="Marcador de texto 2">
                <a:extLst>
                  <a:ext uri="{FF2B5EF4-FFF2-40B4-BE49-F238E27FC236}">
                    <a16:creationId xmlns:a16="http://schemas.microsoft.com/office/drawing/2014/main" id="{757077C7-5B79-4535-82AA-5A6DF81ED587}"/>
                  </a:ext>
                </a:extLst>
              </p:cNvPr>
              <p:cNvSpPr>
                <a:spLocks noGrp="1" noRot="1" noChangeAspect="1" noMove="1" noResize="1" noEditPoints="1" noAdjustHandles="1" noChangeArrowheads="1" noChangeShapeType="1" noTextEdit="1"/>
              </p:cNvSpPr>
              <p:nvPr>
                <p:ph type="body" idx="1"/>
              </p:nvPr>
            </p:nvSpPr>
            <p:spPr>
              <a:xfrm>
                <a:off x="4800600" y="1743147"/>
                <a:ext cx="6781800" cy="3099759"/>
              </a:xfrm>
              <a:blipFill>
                <a:blip r:embed="rId2"/>
                <a:stretch>
                  <a:fillRect l="-1439" t="-1575" r="-1439" b="-394"/>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70F8806D-49F9-4194-B765-F50FD2E2C101}"/>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6E0F7F19-FB8E-4918-96D2-BCB0EFD33E93}"/>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6" name="Marcador de texto 2">
            <a:extLst>
              <a:ext uri="{FF2B5EF4-FFF2-40B4-BE49-F238E27FC236}">
                <a16:creationId xmlns:a16="http://schemas.microsoft.com/office/drawing/2014/main" id="{59C8FC7F-4438-4200-8257-803FEC768C30}"/>
              </a:ext>
            </a:extLst>
          </p:cNvPr>
          <p:cNvSpPr txBox="1">
            <a:spLocks/>
          </p:cNvSpPr>
          <p:nvPr/>
        </p:nvSpPr>
        <p:spPr>
          <a:xfrm>
            <a:off x="590550" y="867966"/>
            <a:ext cx="2590800" cy="276999"/>
          </a:xfrm>
          <a:prstGeom prst="rect">
            <a:avLst/>
          </a:prstGeom>
        </p:spPr>
        <p:txBody>
          <a:bodyPr wrap="square" lIns="0" tIns="0" rIns="0" bIns="0">
            <a:sp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lvl="1"/>
            <a:r>
              <a:rPr lang="en-US" sz="1800" dirty="0"/>
              <a:t>2.2.   Delay imbalance</a:t>
            </a:r>
          </a:p>
        </p:txBody>
      </p:sp>
      <p:pic>
        <p:nvPicPr>
          <p:cNvPr id="7" name="Imagen 6">
            <a:extLst>
              <a:ext uri="{FF2B5EF4-FFF2-40B4-BE49-F238E27FC236}">
                <a16:creationId xmlns:a16="http://schemas.microsoft.com/office/drawing/2014/main" id="{4958ABB4-BBD4-4718-832D-50FE47808E9E}"/>
              </a:ext>
            </a:extLst>
          </p:cNvPr>
          <p:cNvPicPr>
            <a:picLocks noChangeAspect="1"/>
          </p:cNvPicPr>
          <p:nvPr/>
        </p:nvPicPr>
        <p:blipFill>
          <a:blip r:embed="rId3"/>
          <a:stretch>
            <a:fillRect/>
          </a:stretch>
        </p:blipFill>
        <p:spPr>
          <a:xfrm>
            <a:off x="409007" y="1743150"/>
            <a:ext cx="3862770" cy="3099756"/>
          </a:xfrm>
          <a:prstGeom prst="rect">
            <a:avLst/>
          </a:prstGeom>
        </p:spPr>
      </p:pic>
    </p:spTree>
    <p:extLst>
      <p:ext uri="{BB962C8B-B14F-4D97-AF65-F5344CB8AC3E}">
        <p14:creationId xmlns:p14="http://schemas.microsoft.com/office/powerpoint/2010/main" val="3609342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116F5391-1C14-479E-8D7A-A3CACD44891A}"/>
                  </a:ext>
                </a:extLst>
              </p:cNvPr>
              <p:cNvSpPr>
                <a:spLocks noGrp="1"/>
              </p:cNvSpPr>
              <p:nvPr>
                <p:ph type="title"/>
              </p:nvPr>
            </p:nvSpPr>
            <p:spPr>
              <a:xfrm>
                <a:off x="590550" y="206752"/>
                <a:ext cx="10991850" cy="307777"/>
              </a:xfrm>
            </p:spPr>
            <p:txBody>
              <a:bodyPr/>
              <a:lstStyle/>
              <a:p>
                <a:r>
                  <a:rPr lang="en-US" sz="2000" dirty="0"/>
                  <a:t>Compute also some examples with </a:t>
                </a:r>
                <a14:m>
                  <m:oMath xmlns:m="http://schemas.openxmlformats.org/officeDocument/2006/math">
                    <m:r>
                      <m:rPr>
                        <m:sty m:val="p"/>
                      </m:rPr>
                      <a:rPr lang="es-ES" sz="2000" b="0" i="1" smtClean="0">
                        <a:latin typeface="Cambria Math" panose="02040503050406030204" pitchFamily="18" charset="0"/>
                      </a:rPr>
                      <m:t>α</m:t>
                    </m:r>
                    <m:r>
                      <a:rPr lang="es-ES" sz="2000" i="1">
                        <a:latin typeface="Cambria Math" panose="02040503050406030204" pitchFamily="18" charset="0"/>
                        <a:ea typeface="Cambria Math" panose="02040503050406030204" pitchFamily="18" charset="0"/>
                      </a:rPr>
                      <m:t>≠0</m:t>
                    </m:r>
                  </m:oMath>
                </a14:m>
                <a:r>
                  <a:rPr lang="en-US" sz="2000" kern="0" dirty="0">
                    <a:solidFill>
                      <a:sysClr val="windowText" lastClr="000000"/>
                    </a:solidFill>
                  </a:rPr>
                  <a:t> and </a:t>
                </a:r>
                <a14:m>
                  <m:oMath xmlns:m="http://schemas.openxmlformats.org/officeDocument/2006/math">
                    <m:r>
                      <m:rPr>
                        <m:sty m:val="p"/>
                      </m:rPr>
                      <a:rPr lang="es-ES" sz="2000" i="1">
                        <a:latin typeface="Cambria Math" panose="02040503050406030204" pitchFamily="18" charset="0"/>
                      </a:rPr>
                      <m:t>γ</m:t>
                    </m:r>
                    <m:r>
                      <a:rPr lang="es-ES" sz="2000" i="1">
                        <a:latin typeface="Cambria Math" panose="02040503050406030204" pitchFamily="18" charset="0"/>
                        <a:ea typeface="Cambria Math" panose="02040503050406030204" pitchFamily="18" charset="0"/>
                      </a:rPr>
                      <m:t>≠0</m:t>
                    </m:r>
                  </m:oMath>
                </a14:m>
                <a:endParaRPr lang="es-ES" dirty="0"/>
              </a:p>
            </p:txBody>
          </p:sp>
        </mc:Choice>
        <mc:Fallback xmlns="">
          <p:sp>
            <p:nvSpPr>
              <p:cNvPr id="2" name="Título 1">
                <a:extLst>
                  <a:ext uri="{FF2B5EF4-FFF2-40B4-BE49-F238E27FC236}">
                    <a16:creationId xmlns:a16="http://schemas.microsoft.com/office/drawing/2014/main" id="{116F5391-1C14-479E-8D7A-A3CACD44891A}"/>
                  </a:ext>
                </a:extLst>
              </p:cNvPr>
              <p:cNvSpPr>
                <a:spLocks noGrp="1" noRot="1" noChangeAspect="1" noMove="1" noResize="1" noEditPoints="1" noAdjustHandles="1" noChangeArrowheads="1" noChangeShapeType="1" noTextEdit="1"/>
              </p:cNvSpPr>
              <p:nvPr>
                <p:ph type="title"/>
              </p:nvPr>
            </p:nvSpPr>
            <p:spPr>
              <a:xfrm>
                <a:off x="590550" y="206752"/>
                <a:ext cx="10991850" cy="307777"/>
              </a:xfrm>
              <a:blipFill>
                <a:blip r:embed="rId2"/>
                <a:stretch>
                  <a:fillRect l="-1442" t="-26000" b="-50000"/>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 name="Marcador de texto 2">
                <a:extLst>
                  <a:ext uri="{FF2B5EF4-FFF2-40B4-BE49-F238E27FC236}">
                    <a16:creationId xmlns:a16="http://schemas.microsoft.com/office/drawing/2014/main" id="{858B9E23-6139-4532-9AF8-6207C4DAF06C}"/>
                  </a:ext>
                </a:extLst>
              </p:cNvPr>
              <p:cNvSpPr>
                <a:spLocks noGrp="1"/>
              </p:cNvSpPr>
              <p:nvPr>
                <p:ph type="body" idx="1"/>
              </p:nvPr>
            </p:nvSpPr>
            <p:spPr>
              <a:xfrm>
                <a:off x="609600" y="5257800"/>
                <a:ext cx="10972800" cy="738664"/>
              </a:xfrm>
            </p:spPr>
            <p:txBody>
              <a:bodyPr/>
              <a:lstStyle/>
              <a:p>
                <a:r>
                  <a:rPr lang="es-ES" sz="1200" dirty="0"/>
                  <a:t>En este caso se ha optado por añadir </a:t>
                </a:r>
                <a14:m>
                  <m:oMath xmlns:m="http://schemas.openxmlformats.org/officeDocument/2006/math">
                    <m:r>
                      <m:rPr>
                        <m:sty m:val="p"/>
                      </m:rPr>
                      <a:rPr lang="es-ES" sz="1200" b="0" i="1" smtClean="0">
                        <a:latin typeface="Cambria Math" panose="02040503050406030204" pitchFamily="18" charset="0"/>
                      </a:rPr>
                      <m:t>α</m:t>
                    </m:r>
                    <m:r>
                      <a:rPr lang="es-ES" sz="1200" b="0" i="1" smtClean="0">
                        <a:latin typeface="Cambria Math" panose="02040503050406030204" pitchFamily="18" charset="0"/>
                      </a:rPr>
                      <m:t>=0.01</m:t>
                    </m:r>
                  </m:oMath>
                </a14:m>
                <a:r>
                  <a:rPr lang="es-ES" sz="1200" dirty="0"/>
                  <a:t> y </a:t>
                </a:r>
                <a14:m>
                  <m:oMath xmlns:m="http://schemas.openxmlformats.org/officeDocument/2006/math">
                    <m:r>
                      <m:rPr>
                        <m:sty m:val="p"/>
                      </m:rPr>
                      <a:rPr lang="es-ES" sz="1200" i="1">
                        <a:latin typeface="Cambria Math" panose="02040503050406030204" pitchFamily="18" charset="0"/>
                      </a:rPr>
                      <m:t>γ</m:t>
                    </m:r>
                    <m:r>
                      <a:rPr lang="es-ES" sz="1200" i="1">
                        <a:latin typeface="Cambria Math" panose="02040503050406030204" pitchFamily="18" charset="0"/>
                      </a:rPr>
                      <m:t>=0.01</m:t>
                    </m:r>
                  </m:oMath>
                </a14:m>
                <a:r>
                  <a:rPr lang="es-ES" sz="1200" dirty="0"/>
                  <a:t> simétricamente en ambos brazos. Podemos observar que hay una disminución de la amplitud máxima de la función de transferencia (potencia total transmitida) debido a las pérdidas insertadas en las guías de onda y en el acoplamiento. Sin embargo, cabe destacar que al ser unas pérdidas simétricas, las amplitudes en ambos brazos siguen siendo iguales. Esto garantiza que la interferencia destructiva siga siendo perfecta (los mínimos tocan el cero) y no se degrade la relación de extinción del interferómetro.</a:t>
                </a:r>
              </a:p>
            </p:txBody>
          </p:sp>
        </mc:Choice>
        <mc:Fallback xmlns="">
          <p:sp>
            <p:nvSpPr>
              <p:cNvPr id="3" name="Marcador de texto 2">
                <a:extLst>
                  <a:ext uri="{FF2B5EF4-FFF2-40B4-BE49-F238E27FC236}">
                    <a16:creationId xmlns:a16="http://schemas.microsoft.com/office/drawing/2014/main" id="{858B9E23-6139-4532-9AF8-6207C4DAF06C}"/>
                  </a:ext>
                </a:extLst>
              </p:cNvPr>
              <p:cNvSpPr>
                <a:spLocks noGrp="1" noRot="1" noChangeAspect="1" noMove="1" noResize="1" noEditPoints="1" noAdjustHandles="1" noChangeArrowheads="1" noChangeShapeType="1" noTextEdit="1"/>
              </p:cNvSpPr>
              <p:nvPr>
                <p:ph type="body" idx="1"/>
              </p:nvPr>
            </p:nvSpPr>
            <p:spPr>
              <a:xfrm>
                <a:off x="609600" y="5257800"/>
                <a:ext cx="10972800" cy="738664"/>
              </a:xfrm>
              <a:blipFill>
                <a:blip r:embed="rId3"/>
                <a:stretch>
                  <a:fillRect l="-833" t="-6612" r="-1056" b="-11570"/>
                </a:stretch>
              </a:blipFill>
            </p:spPr>
            <p:txBody>
              <a:bodyPr/>
              <a:lstStyle/>
              <a:p>
                <a:r>
                  <a:rPr lang="es-ES">
                    <a:noFill/>
                  </a:rPr>
                  <a:t> </a:t>
                </a:r>
              </a:p>
            </p:txBody>
          </p:sp>
        </mc:Fallback>
      </mc:AlternateContent>
      <p:sp>
        <p:nvSpPr>
          <p:cNvPr id="4" name="Marcador de pie de página 3">
            <a:extLst>
              <a:ext uri="{FF2B5EF4-FFF2-40B4-BE49-F238E27FC236}">
                <a16:creationId xmlns:a16="http://schemas.microsoft.com/office/drawing/2014/main" id="{707C4FD9-5C8D-46FD-9563-44AFA9909127}"/>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62D45345-39EF-4410-A5EA-3FC8929E4713}"/>
              </a:ext>
            </a:extLst>
          </p:cNvPr>
          <p:cNvSpPr>
            <a:spLocks noGrp="1"/>
          </p:cNvSpPr>
          <p:nvPr>
            <p:ph type="sldNum" sz="quarter" idx="7"/>
          </p:nvPr>
        </p:nvSpPr>
        <p:spPr/>
        <p:txBody>
          <a:bodyPr/>
          <a:lstStyle/>
          <a:p>
            <a:fld id="{B6F15528-21DE-4FAA-801E-634DDDAF4B2B}" type="slidenum">
              <a:rPr lang="es-ES" smtClean="0"/>
              <a:t>7</a:t>
            </a:fld>
            <a:endParaRPr lang="es-ES" dirty="0"/>
          </a:p>
        </p:txBody>
      </p:sp>
      <p:pic>
        <p:nvPicPr>
          <p:cNvPr id="7" name="Imagen 6">
            <a:extLst>
              <a:ext uri="{FF2B5EF4-FFF2-40B4-BE49-F238E27FC236}">
                <a16:creationId xmlns:a16="http://schemas.microsoft.com/office/drawing/2014/main" id="{FFCB742A-0F25-420E-80CB-D2F46CA6BC8F}"/>
              </a:ext>
            </a:extLst>
          </p:cNvPr>
          <p:cNvPicPr>
            <a:picLocks noChangeAspect="1"/>
          </p:cNvPicPr>
          <p:nvPr/>
        </p:nvPicPr>
        <p:blipFill>
          <a:blip r:embed="rId4"/>
          <a:stretch>
            <a:fillRect/>
          </a:stretch>
        </p:blipFill>
        <p:spPr>
          <a:xfrm>
            <a:off x="885620" y="2876851"/>
            <a:ext cx="2683646" cy="2153543"/>
          </a:xfrm>
          <a:prstGeom prst="rect">
            <a:avLst/>
          </a:prstGeom>
        </p:spPr>
      </p:pic>
      <p:pic>
        <p:nvPicPr>
          <p:cNvPr id="11" name="Imagen 10">
            <a:extLst>
              <a:ext uri="{FF2B5EF4-FFF2-40B4-BE49-F238E27FC236}">
                <a16:creationId xmlns:a16="http://schemas.microsoft.com/office/drawing/2014/main" id="{8942B753-37AA-465F-B97B-332121C26AF4}"/>
              </a:ext>
            </a:extLst>
          </p:cNvPr>
          <p:cNvPicPr>
            <a:picLocks noChangeAspect="1"/>
          </p:cNvPicPr>
          <p:nvPr/>
        </p:nvPicPr>
        <p:blipFill>
          <a:blip r:embed="rId5"/>
          <a:stretch>
            <a:fillRect/>
          </a:stretch>
        </p:blipFill>
        <p:spPr>
          <a:xfrm>
            <a:off x="4374319" y="2876851"/>
            <a:ext cx="2726244" cy="2153543"/>
          </a:xfrm>
          <a:prstGeom prst="rect">
            <a:avLst/>
          </a:prstGeom>
        </p:spPr>
      </p:pic>
      <p:pic>
        <p:nvPicPr>
          <p:cNvPr id="13" name="Imagen 12">
            <a:extLst>
              <a:ext uri="{FF2B5EF4-FFF2-40B4-BE49-F238E27FC236}">
                <a16:creationId xmlns:a16="http://schemas.microsoft.com/office/drawing/2014/main" id="{FA9308C9-257C-4388-B26E-82B63301C36D}"/>
              </a:ext>
            </a:extLst>
          </p:cNvPr>
          <p:cNvPicPr>
            <a:picLocks noChangeAspect="1"/>
          </p:cNvPicPr>
          <p:nvPr/>
        </p:nvPicPr>
        <p:blipFill>
          <a:blip r:embed="rId6"/>
          <a:stretch>
            <a:fillRect/>
          </a:stretch>
        </p:blipFill>
        <p:spPr>
          <a:xfrm>
            <a:off x="7905616" y="2876851"/>
            <a:ext cx="2683646" cy="2153543"/>
          </a:xfrm>
          <a:prstGeom prst="rect">
            <a:avLst/>
          </a:prstGeom>
        </p:spPr>
      </p:pic>
      <p:pic>
        <p:nvPicPr>
          <p:cNvPr id="14" name="Imagen 13">
            <a:extLst>
              <a:ext uri="{FF2B5EF4-FFF2-40B4-BE49-F238E27FC236}">
                <a16:creationId xmlns:a16="http://schemas.microsoft.com/office/drawing/2014/main" id="{2022CAB5-DBBC-4243-8A8F-1E80EEB7C14E}"/>
              </a:ext>
            </a:extLst>
          </p:cNvPr>
          <p:cNvPicPr>
            <a:picLocks noChangeAspect="1"/>
          </p:cNvPicPr>
          <p:nvPr/>
        </p:nvPicPr>
        <p:blipFill>
          <a:blip r:embed="rId7"/>
          <a:stretch>
            <a:fillRect/>
          </a:stretch>
        </p:blipFill>
        <p:spPr>
          <a:xfrm>
            <a:off x="885620" y="618918"/>
            <a:ext cx="2683646" cy="2153543"/>
          </a:xfrm>
          <a:prstGeom prst="rect">
            <a:avLst/>
          </a:prstGeom>
        </p:spPr>
      </p:pic>
      <p:pic>
        <p:nvPicPr>
          <p:cNvPr id="15" name="Imagen 14">
            <a:extLst>
              <a:ext uri="{FF2B5EF4-FFF2-40B4-BE49-F238E27FC236}">
                <a16:creationId xmlns:a16="http://schemas.microsoft.com/office/drawing/2014/main" id="{FBDE714C-53A3-45D7-9D90-2D34E109AF2E}"/>
              </a:ext>
            </a:extLst>
          </p:cNvPr>
          <p:cNvPicPr>
            <a:picLocks noChangeAspect="1"/>
          </p:cNvPicPr>
          <p:nvPr/>
        </p:nvPicPr>
        <p:blipFill>
          <a:blip r:embed="rId8"/>
          <a:stretch>
            <a:fillRect/>
          </a:stretch>
        </p:blipFill>
        <p:spPr>
          <a:xfrm>
            <a:off x="4374319" y="618918"/>
            <a:ext cx="2726244" cy="2153543"/>
          </a:xfrm>
          <a:prstGeom prst="rect">
            <a:avLst/>
          </a:prstGeom>
        </p:spPr>
      </p:pic>
      <p:pic>
        <p:nvPicPr>
          <p:cNvPr id="16" name="Imagen 15">
            <a:extLst>
              <a:ext uri="{FF2B5EF4-FFF2-40B4-BE49-F238E27FC236}">
                <a16:creationId xmlns:a16="http://schemas.microsoft.com/office/drawing/2014/main" id="{B300B396-2B99-4D0A-A67C-8EA9D70252AA}"/>
              </a:ext>
            </a:extLst>
          </p:cNvPr>
          <p:cNvPicPr>
            <a:picLocks noChangeAspect="1"/>
          </p:cNvPicPr>
          <p:nvPr/>
        </p:nvPicPr>
        <p:blipFill>
          <a:blip r:embed="rId3"/>
          <a:stretch>
            <a:fillRect/>
          </a:stretch>
        </p:blipFill>
        <p:spPr>
          <a:xfrm>
            <a:off x="7905616" y="618917"/>
            <a:ext cx="2683646" cy="2153544"/>
          </a:xfrm>
          <a:prstGeom prst="rect">
            <a:avLst/>
          </a:prstGeom>
        </p:spPr>
      </p:pic>
    </p:spTree>
    <p:extLst>
      <p:ext uri="{BB962C8B-B14F-4D97-AF65-F5344CB8AC3E}">
        <p14:creationId xmlns:p14="http://schemas.microsoft.com/office/powerpoint/2010/main" val="361390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5AB88-A787-2C84-3A44-2B634D87FB5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object 16">
                <a:extLst>
                  <a:ext uri="{FF2B5EF4-FFF2-40B4-BE49-F238E27FC236}">
                    <a16:creationId xmlns:a16="http://schemas.microsoft.com/office/drawing/2014/main" id="{A153D08B-B860-A163-3940-83AD64444D0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#2 </a:t>
                </a:r>
                <a:r>
                  <a:rPr lang="en-US" sz="2500" dirty="0"/>
                  <a:t>– Recap from theory – Calculation of </a:t>
                </a:r>
                <a14:m>
                  <m:oMath xmlns:m="http://schemas.openxmlformats.org/officeDocument/2006/math">
                    <m:r>
                      <a:rPr lang="es-ES" sz="2500" b="1" i="0" smtClean="0">
                        <a:latin typeface="Cambria Math" panose="02040503050406030204" pitchFamily="18" charset="0"/>
                      </a:rPr>
                      <m:t>𝚫</m:t>
                    </m:r>
                    <m:r>
                      <a:rPr lang="es-ES" sz="2500" b="1" i="0" smtClean="0">
                        <a:latin typeface="Cambria Math" panose="02040503050406030204" pitchFamily="18" charset="0"/>
                      </a:rPr>
                      <m:t>𝐋</m:t>
                    </m:r>
                  </m:oMath>
                </a14:m>
                <a:r>
                  <a:rPr lang="es-ES" sz="2500" spc="-5" dirty="0">
                    <a:latin typeface="+mj-lt"/>
                    <a:cs typeface="Lucida Sans"/>
                  </a:rPr>
                  <a:t> </a:t>
                </a:r>
                <a:br>
                  <a:rPr lang="es-ES" sz="2500" spc="-5" dirty="0">
                    <a:latin typeface="+mj-lt"/>
                    <a:cs typeface="Lucida Sans"/>
                  </a:rPr>
                </a:br>
                <a:endParaRPr sz="2500" b="0" dirty="0">
                  <a:latin typeface="+mj-lt"/>
                  <a:cs typeface="Lucida Sans"/>
                </a:endParaRPr>
              </a:p>
            </p:txBody>
          </p:sp>
        </mc:Choice>
        <mc:Fallback xmlns="">
          <p:sp>
            <p:nvSpPr>
              <p:cNvPr id="16" name="object 16">
                <a:extLst>
                  <a:ext uri="{FF2B5EF4-FFF2-40B4-BE49-F238E27FC236}">
                    <a16:creationId xmlns:a16="http://schemas.microsoft.com/office/drawing/2014/main" id="{A153D08B-B860-A163-3940-83AD64444D01}"/>
                  </a:ext>
                </a:extLst>
              </p:cNvPr>
              <p:cNvSpPr txBox="1">
                <a:spLocks noGrp="1" noRot="1" noChangeAspect="1" noMove="1" noResize="1" noEditPoints="1" noAdjustHandles="1" noChangeArrowheads="1" noChangeShapeType="1" noTextEdit="1"/>
              </p:cNvSpPr>
              <p:nvPr>
                <p:ph type="title"/>
              </p:nvPr>
            </p:nvSpPr>
            <p:spPr>
              <a:xfrm>
                <a:off x="685800" y="408883"/>
                <a:ext cx="10994410" cy="782265"/>
              </a:xfrm>
              <a:prstGeom prst="rect">
                <a:avLst/>
              </a:prstGeom>
              <a:blipFill>
                <a:blip r:embed="rId3"/>
                <a:stretch>
                  <a:fillRect l="-1608" t="-10156"/>
                </a:stretch>
              </a:blipFill>
            </p:spPr>
            <p:txBody>
              <a:bodyPr/>
              <a:lstStyle/>
              <a:p>
                <a:r>
                  <a:rPr lang="es-ES">
                    <a:noFill/>
                  </a:rPr>
                  <a:t> </a:t>
                </a:r>
              </a:p>
            </p:txBody>
          </p:sp>
        </mc:Fallback>
      </mc:AlternateContent>
      <p:pic>
        <p:nvPicPr>
          <p:cNvPr id="83" name="Gráfico 82">
            <a:extLst>
              <a:ext uri="{FF2B5EF4-FFF2-40B4-BE49-F238E27FC236}">
                <a16:creationId xmlns:a16="http://schemas.microsoft.com/office/drawing/2014/main" id="{333888A9-82BA-4688-F856-37AB661A7D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1891475-ED60-D0D2-1AD0-4F80E3D89439}"/>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BBBE28D8-49EC-3B49-29AC-FD2FDAF3B0AF}"/>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Considering the n_{eff} values for the SOI cross-section, what would be the path difference (</a:t>
                </a:r>
                <a14:m>
                  <m:oMath xmlns:m="http://schemas.openxmlformats.org/officeDocument/2006/math">
                    <m:r>
                      <m:rPr>
                        <m:sty m:val="p"/>
                      </m:rPr>
                      <a:rPr lang="es-ES" b="0" i="0" smtClean="0">
                        <a:latin typeface="Cambria Math" panose="02040503050406030204" pitchFamily="18" charset="0"/>
                      </a:rPr>
                      <m:t>ΔL</m:t>
                    </m:r>
                    <m:r>
                      <a:rPr lang="es-ES" b="0" i="1" smtClean="0">
                        <a:latin typeface="Cambria Math" panose="02040503050406030204" pitchFamily="18" charset="0"/>
                      </a:rPr>
                      <m:t>= </m:t>
                    </m:r>
                    <m:sSub>
                      <m:sSubPr>
                        <m:ctrlPr>
                          <a:rPr lang="es-ES" i="1" smtClean="0">
                            <a:latin typeface="Cambria Math" panose="02040503050406030204" pitchFamily="18" charset="0"/>
                          </a:rPr>
                        </m:ctrlPr>
                      </m:sSubPr>
                      <m:e>
                        <m:r>
                          <a:rPr lang="es-ES" b="0" i="1" smtClean="0">
                            <a:latin typeface="Cambria Math" panose="02040503050406030204" pitchFamily="18" charset="0"/>
                          </a:rPr>
                          <m:t>𝐿</m:t>
                        </m:r>
                      </m:e>
                      <m:sub>
                        <m:r>
                          <a:rPr lang="es-ES" b="0" i="1" smtClean="0">
                            <a:latin typeface="Cambria Math" panose="02040503050406030204" pitchFamily="18" charset="0"/>
                          </a:rPr>
                          <m:t>𝑢</m:t>
                        </m:r>
                      </m:sub>
                    </m:sSub>
                    <m:r>
                      <a:rPr lang="es-ES" b="0" i="1" smtClean="0">
                        <a:latin typeface="Cambria Math" panose="02040503050406030204" pitchFamily="18" charset="0"/>
                      </a:rPr>
                      <m:t> −</m:t>
                    </m:r>
                    <m:sSub>
                      <m:sSubPr>
                        <m:ctrlPr>
                          <a:rPr lang="es-ES" i="1">
                            <a:latin typeface="Cambria Math" panose="02040503050406030204" pitchFamily="18" charset="0"/>
                          </a:rPr>
                        </m:ctrlPr>
                      </m:sSubPr>
                      <m:e>
                        <m:r>
                          <a:rPr lang="es-ES" b="0" i="1">
                            <a:latin typeface="Cambria Math" panose="02040503050406030204" pitchFamily="18" charset="0"/>
                          </a:rPr>
                          <m:t>𝐿</m:t>
                        </m:r>
                      </m:e>
                      <m:sub>
                        <m:r>
                          <a:rPr lang="es-ES" b="0" i="1" smtClean="0">
                            <a:latin typeface="Cambria Math" panose="02040503050406030204" pitchFamily="18" charset="0"/>
                          </a:rPr>
                          <m:t>𝑑</m:t>
                        </m:r>
                      </m:sub>
                    </m:sSub>
                  </m:oMath>
                </a14:m>
                <a:r>
                  <a:rPr lang="en-US" dirty="0"/>
                  <a:t>) needed to obtain a Free Spectral Range of 40 nm? Introduce the obtained value in the model to check the MZI response. </a:t>
                </a:r>
              </a:p>
              <a:p>
                <a:endParaRPr lang="en-US" dirty="0"/>
              </a:p>
              <a:p>
                <a:r>
                  <a:rPr lang="en-US" dirty="0"/>
                  <a:t>Hint: We assume 1550 nm as the central design wavelength (</a:t>
                </a:r>
                <a14:m>
                  <m:oMath xmlns:m="http://schemas.openxmlformats.org/officeDocument/2006/math">
                    <m:sSub>
                      <m:sSubPr>
                        <m:ctrlPr>
                          <a:rPr lang="es-ES" i="1" smtClean="0">
                            <a:latin typeface="Cambria Math" panose="02040503050406030204" pitchFamily="18" charset="0"/>
                          </a:rPr>
                        </m:ctrlPr>
                      </m:sSubPr>
                      <m:e>
                        <m:r>
                          <a:rPr lang="es-ES" i="1">
                            <a:latin typeface="Cambria Math" panose="02040503050406030204" pitchFamily="18" charset="0"/>
                          </a:rPr>
                          <m:t>𝜆</m:t>
                        </m:r>
                      </m:e>
                      <m:sub>
                        <m:r>
                          <a:rPr lang="es-ES" b="0" i="1" smtClean="0">
                            <a:latin typeface="Cambria Math" panose="02040503050406030204" pitchFamily="18" charset="0"/>
                          </a:rPr>
                          <m:t>0</m:t>
                        </m:r>
                      </m:sub>
                    </m:sSub>
                    <m:r>
                      <a:rPr lang="es-ES" b="0" i="1" smtClean="0">
                        <a:latin typeface="Cambria Math" panose="02040503050406030204" pitchFamily="18" charset="0"/>
                      </a:rPr>
                      <m:t>= </m:t>
                    </m:r>
                  </m:oMath>
                </a14:m>
                <a:r>
                  <a:rPr lang="en-US" dirty="0"/>
                  <a:t>1550 nm).</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BBBE28D8-49EC-3B49-29AC-FD2FDAF3B0AF}"/>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6"/>
                <a:stretch>
                  <a:fillRect l="-497" t="-738" r="-22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FDBBA6B-3646-055F-7A9C-EE01830137BE}"/>
                  </a:ext>
                </a:extLst>
              </p:cNvPr>
              <p:cNvSpPr txBox="1"/>
              <p:nvPr/>
            </p:nvSpPr>
            <p:spPr>
              <a:xfrm>
                <a:off x="609441" y="4860334"/>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corresponding value)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Para </a:t>
                </a:r>
                <a:r>
                  <a:rPr lang="en-US" sz="1200" dirty="0" err="1">
                    <a:latin typeface="Arial" panose="020B0604020202020204" pitchFamily="34" charset="0"/>
                    <a:cs typeface="Arial" panose="020B0604020202020204" pitchFamily="34" charset="0"/>
                  </a:rPr>
                  <a:t>obtener</a:t>
                </a:r>
                <a:r>
                  <a:rPr lang="en-US" sz="1200" dirty="0">
                    <a:latin typeface="Arial" panose="020B0604020202020204" pitchFamily="34" charset="0"/>
                    <a:cs typeface="Arial" panose="020B0604020202020204" pitchFamily="34" charset="0"/>
                  </a:rPr>
                  <a:t> un FSR de 40 nm con una </a:t>
                </a:r>
                <a:r>
                  <a:rPr lang="en-US" sz="1200" dirty="0" err="1">
                    <a:latin typeface="Arial" panose="020B0604020202020204" pitchFamily="34" charset="0"/>
                    <a:cs typeface="Arial" panose="020B0604020202020204" pitchFamily="34" charset="0"/>
                  </a:rPr>
                  <a:t>longitud</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central de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de 1550 nm, la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caminos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tiene</a:t>
                </a:r>
                <a:r>
                  <a:rPr lang="en-US" sz="1200" dirty="0">
                    <a:latin typeface="Arial" panose="020B0604020202020204" pitchFamily="34" charset="0"/>
                    <a:cs typeface="Arial" panose="020B0604020202020204" pitchFamily="34" charset="0"/>
                  </a:rPr>
                  <a:t> que ser de 25.509 </a:t>
                </a:r>
                <a14:m>
                  <m:oMath xmlns:m="http://schemas.openxmlformats.org/officeDocument/2006/math">
                    <m:r>
                      <a:rPr lang="en-US" sz="1200" i="1" smtClean="0">
                        <a:latin typeface="Cambria Math" panose="02040503050406030204" pitchFamily="18" charset="0"/>
                        <a:ea typeface="Cambria Math" panose="02040503050406030204" pitchFamily="18" charset="0"/>
                        <a:cs typeface="Arial" panose="020B0604020202020204" pitchFamily="34" charset="0"/>
                      </a:rPr>
                      <m:t>𝜇</m:t>
                    </m:r>
                    <m:r>
                      <a:rPr lang="es-ES" sz="1200" b="0" i="1" smtClean="0">
                        <a:latin typeface="Cambria Math" panose="02040503050406030204" pitchFamily="18" charset="0"/>
                        <a:ea typeface="Cambria Math" panose="02040503050406030204" pitchFamily="18" charset="0"/>
                        <a:cs typeface="Arial" panose="020B0604020202020204" pitchFamily="34" charset="0"/>
                      </a:rPr>
                      <m:t>𝑚</m:t>
                    </m:r>
                  </m:oMath>
                </a14:m>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parte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derecha</a:t>
                </a:r>
                <a:r>
                  <a:rPr lang="en-US" sz="1200" dirty="0">
                    <a:latin typeface="Arial" panose="020B0604020202020204" pitchFamily="34" charset="0"/>
                    <a:cs typeface="Arial" panose="020B0604020202020204" pitchFamily="34" charset="0"/>
                  </a:rPr>
                  <a:t> se </a:t>
                </a:r>
                <a:r>
                  <a:rPr lang="en-US" sz="1200" dirty="0" err="1">
                    <a:latin typeface="Arial" panose="020B0604020202020204" pitchFamily="34" charset="0"/>
                    <a:cs typeface="Arial" panose="020B0604020202020204" pitchFamily="34" charset="0"/>
                  </a:rPr>
                  <a:t>muestra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respuesta</a:t>
                </a:r>
                <a:r>
                  <a:rPr lang="en-US" sz="1200" dirty="0">
                    <a:latin typeface="Arial" panose="020B0604020202020204" pitchFamily="34" charset="0"/>
                    <a:cs typeface="Arial" panose="020B0604020202020204" pitchFamily="34" charset="0"/>
                  </a:rPr>
                  <a:t> del MZI con </a:t>
                </a:r>
                <a:r>
                  <a:rPr lang="en-US" sz="1200" dirty="0" err="1">
                    <a:latin typeface="Arial" panose="020B0604020202020204" pitchFamily="34" charset="0"/>
                    <a:cs typeface="Arial" panose="020B0604020202020204" pitchFamily="34" charset="0"/>
                  </a:rPr>
                  <a:t>dicha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diferencia</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caminos</a:t>
                </a:r>
                <a:r>
                  <a:rPr lang="en-US" sz="1200" dirty="0">
                    <a:latin typeface="Arial" panose="020B0604020202020204" pitchFamily="34" charset="0"/>
                    <a:cs typeface="Arial" panose="020B0604020202020204" pitchFamily="34" charset="0"/>
                  </a:rPr>
                  <a: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mc:Choice>
        <mc:Fallback xmlns="">
          <p:sp>
            <p:nvSpPr>
              <p:cNvPr id="2" name="CuadroTexto 1">
                <a:extLst>
                  <a:ext uri="{FF2B5EF4-FFF2-40B4-BE49-F238E27FC236}">
                    <a16:creationId xmlns:a16="http://schemas.microsoft.com/office/drawing/2014/main" id="{CFDBBA6B-3646-055F-7A9C-EE01830137BE}"/>
                  </a:ext>
                </a:extLst>
              </p:cNvPr>
              <p:cNvSpPr txBox="1">
                <a:spLocks noRot="1" noChangeAspect="1" noMove="1" noResize="1" noEditPoints="1" noAdjustHandles="1" noChangeArrowheads="1" noChangeShapeType="1" noTextEdit="1"/>
              </p:cNvSpPr>
              <p:nvPr/>
            </p:nvSpPr>
            <p:spPr>
              <a:xfrm>
                <a:off x="609441" y="4860334"/>
                <a:ext cx="11199971" cy="1569660"/>
              </a:xfrm>
              <a:prstGeom prst="rect">
                <a:avLst/>
              </a:prstGeom>
              <a:blipFill>
                <a:blip r:embed="rId7"/>
                <a:stretch>
                  <a:fillRect/>
                </a:stretch>
              </a:blipFill>
              <a:ln w="28575">
                <a:solidFill>
                  <a:srgbClr val="E0700D"/>
                </a:solidFill>
              </a:ln>
            </p:spPr>
            <p:txBody>
              <a:bodyPr/>
              <a:lstStyle/>
              <a:p>
                <a:r>
                  <a:rPr lang="es-ES">
                    <a:noFill/>
                  </a:rPr>
                  <a:t> </a:t>
                </a:r>
              </a:p>
            </p:txBody>
          </p:sp>
        </mc:Fallback>
      </mc:AlternateContent>
      <p:sp>
        <p:nvSpPr>
          <p:cNvPr id="5" name="Marcador de pie de página 2">
            <a:extLst>
              <a:ext uri="{FF2B5EF4-FFF2-40B4-BE49-F238E27FC236}">
                <a16:creationId xmlns:a16="http://schemas.microsoft.com/office/drawing/2014/main" id="{97B81335-0738-3406-18D4-5D88EB0C7954}"/>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pic>
        <p:nvPicPr>
          <p:cNvPr id="7" name="Imagen 6">
            <a:extLst>
              <a:ext uri="{FF2B5EF4-FFF2-40B4-BE49-F238E27FC236}">
                <a16:creationId xmlns:a16="http://schemas.microsoft.com/office/drawing/2014/main" id="{1C009046-52D2-404D-B7D2-2A42D527B3DB}"/>
              </a:ext>
            </a:extLst>
          </p:cNvPr>
          <p:cNvPicPr>
            <a:picLocks noChangeAspect="1"/>
          </p:cNvPicPr>
          <p:nvPr/>
        </p:nvPicPr>
        <p:blipFill>
          <a:blip r:embed="rId8"/>
          <a:stretch>
            <a:fillRect/>
          </a:stretch>
        </p:blipFill>
        <p:spPr>
          <a:xfrm>
            <a:off x="461176" y="3200219"/>
            <a:ext cx="7871577" cy="805123"/>
          </a:xfrm>
          <a:prstGeom prst="rect">
            <a:avLst/>
          </a:prstGeom>
        </p:spPr>
      </p:pic>
      <p:pic>
        <p:nvPicPr>
          <p:cNvPr id="10" name="Imagen 9">
            <a:extLst>
              <a:ext uri="{FF2B5EF4-FFF2-40B4-BE49-F238E27FC236}">
                <a16:creationId xmlns:a16="http://schemas.microsoft.com/office/drawing/2014/main" id="{55347222-6235-49A3-904B-80DD7D09C971}"/>
              </a:ext>
            </a:extLst>
          </p:cNvPr>
          <p:cNvPicPr>
            <a:picLocks noChangeAspect="1"/>
          </p:cNvPicPr>
          <p:nvPr/>
        </p:nvPicPr>
        <p:blipFill>
          <a:blip r:embed="rId9"/>
          <a:stretch>
            <a:fillRect/>
          </a:stretch>
        </p:blipFill>
        <p:spPr>
          <a:xfrm>
            <a:off x="8479590" y="2060110"/>
            <a:ext cx="3324257" cy="2667613"/>
          </a:xfrm>
          <a:prstGeom prst="rect">
            <a:avLst/>
          </a:prstGeom>
        </p:spPr>
      </p:pic>
    </p:spTree>
    <p:extLst>
      <p:ext uri="{BB962C8B-B14F-4D97-AF65-F5344CB8AC3E}">
        <p14:creationId xmlns:p14="http://schemas.microsoft.com/office/powerpoint/2010/main" val="2337098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B9552-DF22-1310-10FA-4D2D2AF7760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0632A48-0384-0EF1-389E-FBF3F9C3E7CE}"/>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400" b="1" dirty="0"/>
              <a:t>ASSESSMENT #3 </a:t>
            </a:r>
            <a:r>
              <a:rPr lang="en-US" sz="2500" dirty="0"/>
              <a:t>– SAX implementation </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1F43E6A6-5CC3-9B99-14AC-997478150C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FC09DB6-1DF7-C8F9-7414-27BC280DEA0F}"/>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4" name="Marcador de texto 2">
            <a:extLst>
              <a:ext uri="{FF2B5EF4-FFF2-40B4-BE49-F238E27FC236}">
                <a16:creationId xmlns:a16="http://schemas.microsoft.com/office/drawing/2014/main" id="{EBC8DCFA-5565-A757-1F8D-F4CCCF573A63}"/>
              </a:ext>
            </a:extLst>
          </p:cNvPr>
          <p:cNvSpPr txBox="1">
            <a:spLocks/>
          </p:cNvSpPr>
          <p:nvPr/>
        </p:nvSpPr>
        <p:spPr>
          <a:xfrm>
            <a:off x="571500" y="10668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dirty="0"/>
              <a:t>Now, we are going to implement the design parameters in the MZI model developed in SAX and compare the response obtained with the one simulated by mathematical formulation. This will help us to identify any error in the definition of the SAX model single components. </a:t>
            </a:r>
          </a:p>
          <a:p>
            <a:br>
              <a:rPr lang="en-US" dirty="0"/>
            </a:br>
            <a:r>
              <a:rPr lang="en-US" dirty="0"/>
              <a:t>In order to implement the SAX model, take as example the following lines:</a:t>
            </a:r>
          </a:p>
          <a:p>
            <a:endParaRPr lang="en-US" dirty="0"/>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 = </a:t>
            </a:r>
            <a:r>
              <a:rPr lang="es-ES" sz="1400" b="0" dirty="0" err="1">
                <a:effectLst/>
                <a:latin typeface="Courier New" panose="02070309020205020404" pitchFamily="49" charset="0"/>
              </a:rPr>
              <a:t>mzi</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a:t>
            </a:r>
            <a:r>
              <a:rPr lang="es-ES" sz="1400" b="0" dirty="0" err="1">
                <a:effectLst/>
                <a:latin typeface="Courier New" panose="02070309020205020404" pitchFamily="49" charset="0"/>
              </a:rPr>
              <a:t>wl</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coup_a</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wvg_d</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l_d</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wvg_u</a:t>
            </a:r>
            <a:r>
              <a:rPr lang="es-ES" sz="1400" b="0" dirty="0">
                <a:effectLst/>
                <a:latin typeface="Courier New" panose="02070309020205020404" pitchFamily="49" charset="0"/>
              </a:rPr>
              <a:t>={"</a:t>
            </a:r>
            <a:r>
              <a:rPr lang="es-ES" sz="1400" b="0" dirty="0" err="1">
                <a:effectLst/>
                <a:latin typeface="Courier New" panose="02070309020205020404" pitchFamily="49" charset="0"/>
              </a:rPr>
              <a:t>length</a:t>
            </a:r>
            <a:r>
              <a:rPr lang="es-ES" sz="1400" b="0" dirty="0">
                <a:effectLst/>
                <a:latin typeface="Courier New" panose="02070309020205020404" pitchFamily="49" charset="0"/>
              </a:rPr>
              <a:t>": </a:t>
            </a:r>
            <a:r>
              <a:rPr lang="es-ES" sz="1400" b="0" dirty="0" err="1">
                <a:effectLst/>
                <a:latin typeface="Courier New" panose="02070309020205020404" pitchFamily="49" charset="0"/>
              </a:rPr>
              <a:t>l_u</a:t>
            </a:r>
            <a:r>
              <a:rPr lang="es-ES" sz="1400" b="0" dirty="0">
                <a:effectLst/>
                <a:latin typeface="Courier New" panose="02070309020205020404" pitchFamily="49" charset="0"/>
              </a:rPr>
              <a:t>, "</a:t>
            </a:r>
            <a:r>
              <a:rPr lang="es-ES" sz="1400" b="0" dirty="0" err="1">
                <a:effectLst/>
                <a:latin typeface="Courier New" panose="02070309020205020404" pitchFamily="49" charset="0"/>
              </a:rPr>
              <a:t>neff</a:t>
            </a:r>
            <a:r>
              <a:rPr lang="es-ES" sz="1400" b="0" dirty="0">
                <a:effectLst/>
                <a:latin typeface="Courier New" panose="02070309020205020404" pitchFamily="49" charset="0"/>
              </a:rPr>
              <a:t>": ...},</a:t>
            </a:r>
          </a:p>
          <a:p>
            <a:pPr lvl="2">
              <a:lnSpc>
                <a:spcPts val="1425"/>
              </a:lnSpc>
            </a:pPr>
            <a:r>
              <a:rPr lang="es-ES" sz="1400" b="0" dirty="0">
                <a:effectLst/>
                <a:latin typeface="Courier New" panose="02070309020205020404" pitchFamily="49" charset="0"/>
              </a:rPr>
              <a:t>    </a:t>
            </a:r>
            <a:r>
              <a:rPr lang="es-ES" sz="1400" b="0" dirty="0" err="1">
                <a:effectLst/>
                <a:latin typeface="Courier New" panose="02070309020205020404" pitchFamily="49" charset="0"/>
              </a:rPr>
              <a:t>coup_b</a:t>
            </a:r>
            <a:r>
              <a:rPr lang="es-ES" sz="1400" b="0" dirty="0">
                <a:effectLst/>
                <a:latin typeface="Courier New" panose="02070309020205020404" pitchFamily="49" charset="0"/>
              </a:rPr>
              <a:t> = ... )</a:t>
            </a:r>
          </a:p>
          <a:p>
            <a:pPr lvl="2">
              <a:lnSpc>
                <a:spcPts val="1425"/>
              </a:lnSpc>
            </a:pPr>
            <a:br>
              <a:rPr lang="es-ES" sz="1400" b="0" dirty="0">
                <a:effectLst/>
                <a:latin typeface="Courier New" panose="02070309020205020404" pitchFamily="49" charset="0"/>
              </a:rPr>
            </a:br>
            <a:r>
              <a:rPr lang="es-ES" sz="1400" b="0" dirty="0">
                <a:effectLst/>
                <a:latin typeface="Courier New" panose="02070309020205020404" pitchFamily="49" charset="0"/>
              </a:rPr>
              <a:t>    H00 = </a:t>
            </a:r>
            <a:r>
              <a:rPr lang="es-ES" sz="1400" b="0" dirty="0" err="1">
                <a:effectLst/>
                <a:latin typeface="Courier New" panose="02070309020205020404" pitchFamily="49" charset="0"/>
              </a:rPr>
              <a:t>mzi_test</a:t>
            </a:r>
            <a:r>
              <a:rPr lang="es-ES" sz="1400" b="0" dirty="0">
                <a:effectLst/>
                <a:latin typeface="Courier New" panose="02070309020205020404" pitchFamily="49" charset="0"/>
              </a:rPr>
              <a:t>["in0", "out0"]</a:t>
            </a:r>
          </a:p>
          <a:p>
            <a:endParaRPr lang="en-US" sz="2000" dirty="0"/>
          </a:p>
          <a:p>
            <a:pPr algn="just"/>
            <a:endParaRPr lang="en-US" sz="2000" dirty="0"/>
          </a:p>
          <a:p>
            <a:pPr algn="just"/>
            <a:endParaRPr lang="en-US" sz="2000" b="1" i="1" dirty="0"/>
          </a:p>
          <a:p>
            <a:pPr algn="just"/>
            <a:endParaRPr lang="en-US" sz="2000" kern="0" dirty="0">
              <a:solidFill>
                <a:sysClr val="windowText" lastClr="000000"/>
              </a:solidFill>
            </a:endParaRPr>
          </a:p>
          <a:p>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CA4A2D6E-5993-52B3-D251-1ADF2B0C8355}"/>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(copy here the code employed to obtain the transfer function employing SAX modeling and include the comparative plot of the models)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Marcador de pie de página 2">
            <a:extLst>
              <a:ext uri="{FF2B5EF4-FFF2-40B4-BE49-F238E27FC236}">
                <a16:creationId xmlns:a16="http://schemas.microsoft.com/office/drawing/2014/main" id="{ED97C9D0-256C-D4CA-42E7-79330F040B30}"/>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6436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1F9E76-0A59-4DB1-ADE5-55DB00742A12}"/>
              </a:ext>
            </a:extLst>
          </p:cNvPr>
          <p:cNvSpPr>
            <a:spLocks noGrp="1"/>
          </p:cNvSpPr>
          <p:nvPr>
            <p:ph type="title"/>
          </p:nvPr>
        </p:nvSpPr>
        <p:spPr>
          <a:xfrm>
            <a:off x="590550" y="206752"/>
            <a:ext cx="10991850" cy="615553"/>
          </a:xfrm>
        </p:spPr>
        <p:txBody>
          <a:bodyPr/>
          <a:lstStyle/>
          <a:p>
            <a:r>
              <a:rPr lang="en-US" sz="2000" dirty="0">
                <a:latin typeface="Arial" panose="020B0604020202020204" pitchFamily="34" charset="0"/>
                <a:cs typeface="Arial" panose="020B0604020202020204" pitchFamily="34" charset="0"/>
              </a:rPr>
              <a:t>Código </a:t>
            </a:r>
            <a:r>
              <a:rPr lang="en-US" sz="2000" dirty="0" err="1">
                <a:latin typeface="Arial" panose="020B0604020202020204" pitchFamily="34" charset="0"/>
                <a:cs typeface="Arial" panose="020B0604020202020204" pitchFamily="34" charset="0"/>
              </a:rPr>
              <a:t>empleado</a:t>
            </a:r>
            <a:r>
              <a:rPr lang="en-US" sz="2000" dirty="0">
                <a:latin typeface="Arial" panose="020B0604020202020204" pitchFamily="34" charset="0"/>
                <a:cs typeface="Arial" panose="020B0604020202020204" pitchFamily="34" charset="0"/>
              </a:rPr>
              <a:t> para </a:t>
            </a:r>
            <a:r>
              <a:rPr lang="en-US" sz="2000" dirty="0" err="1">
                <a:latin typeface="Arial" panose="020B0604020202020204" pitchFamily="34" charset="0"/>
                <a:cs typeface="Arial" panose="020B0604020202020204" pitchFamily="34" charset="0"/>
              </a:rPr>
              <a:t>obtener</a:t>
            </a:r>
            <a:r>
              <a:rPr lang="en-US" sz="2000" dirty="0">
                <a:latin typeface="Arial" panose="020B0604020202020204" pitchFamily="34" charset="0"/>
                <a:cs typeface="Arial" panose="020B0604020202020204" pitchFamily="34" charset="0"/>
              </a:rPr>
              <a:t> la </a:t>
            </a:r>
            <a:r>
              <a:rPr lang="en-US" sz="2000" dirty="0" err="1">
                <a:latin typeface="Arial" panose="020B0604020202020204" pitchFamily="34" charset="0"/>
                <a:cs typeface="Arial" panose="020B0604020202020204" pitchFamily="34" charset="0"/>
              </a:rPr>
              <a:t>función</a:t>
            </a:r>
            <a:r>
              <a:rPr lang="en-US" sz="2000" dirty="0">
                <a:latin typeface="Arial" panose="020B0604020202020204" pitchFamily="34" charset="0"/>
                <a:cs typeface="Arial" panose="020B0604020202020204" pitchFamily="34" charset="0"/>
              </a:rPr>
              <a:t> de </a:t>
            </a:r>
            <a:r>
              <a:rPr lang="en-US" sz="2000" dirty="0" err="1">
                <a:latin typeface="Arial" panose="020B0604020202020204" pitchFamily="34" charset="0"/>
                <a:cs typeface="Arial" panose="020B0604020202020204" pitchFamily="34" charset="0"/>
              </a:rPr>
              <a:t>transferencia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empleando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el</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modelado</a:t>
            </a:r>
            <a:r>
              <a:rPr lang="en-US" sz="2000" dirty="0">
                <a:latin typeface="Arial" panose="020B0604020202020204" pitchFamily="34" charset="0"/>
                <a:cs typeface="Arial" panose="020B0604020202020204" pitchFamily="34" charset="0"/>
              </a:rPr>
              <a:t> SAX </a:t>
            </a:r>
            <a:br>
              <a:rPr lang="en-US" sz="2000" dirty="0">
                <a:latin typeface="Arial" panose="020B0604020202020204" pitchFamily="34" charset="0"/>
                <a:cs typeface="Arial" panose="020B0604020202020204" pitchFamily="34" charset="0"/>
              </a:rPr>
            </a:br>
            <a:endParaRPr lang="es-ES" dirty="0"/>
          </a:p>
        </p:txBody>
      </p:sp>
      <p:sp>
        <p:nvSpPr>
          <p:cNvPr id="4" name="Marcador de pie de página 3">
            <a:extLst>
              <a:ext uri="{FF2B5EF4-FFF2-40B4-BE49-F238E27FC236}">
                <a16:creationId xmlns:a16="http://schemas.microsoft.com/office/drawing/2014/main" id="{4F48F81C-C9A3-4DCF-B656-32575F0769FD}"/>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070D72EA-B3BF-4745-9518-E131893B00A9}"/>
              </a:ext>
            </a:extLst>
          </p:cNvPr>
          <p:cNvSpPr>
            <a:spLocks noGrp="1"/>
          </p:cNvSpPr>
          <p:nvPr>
            <p:ph type="sldNum" sz="quarter" idx="7"/>
          </p:nvPr>
        </p:nvSpPr>
        <p:spPr/>
        <p:txBody>
          <a:bodyPr/>
          <a:lstStyle/>
          <a:p>
            <a:fld id="{B6F15528-21DE-4FAA-801E-634DDDAF4B2B}" type="slidenum">
              <a:rPr lang="es-ES" smtClean="0"/>
              <a:t>10</a:t>
            </a:fld>
            <a:endParaRPr lang="es-ES"/>
          </a:p>
        </p:txBody>
      </p:sp>
      <p:pic>
        <p:nvPicPr>
          <p:cNvPr id="7" name="Imagen 6">
            <a:extLst>
              <a:ext uri="{FF2B5EF4-FFF2-40B4-BE49-F238E27FC236}">
                <a16:creationId xmlns:a16="http://schemas.microsoft.com/office/drawing/2014/main" id="{434CC26C-57BF-4978-9727-32181DCE955A}"/>
              </a:ext>
            </a:extLst>
          </p:cNvPr>
          <p:cNvPicPr>
            <a:picLocks noChangeAspect="1"/>
          </p:cNvPicPr>
          <p:nvPr/>
        </p:nvPicPr>
        <p:blipFill>
          <a:blip r:embed="rId2"/>
          <a:stretch>
            <a:fillRect/>
          </a:stretch>
        </p:blipFill>
        <p:spPr>
          <a:xfrm>
            <a:off x="3110108" y="762000"/>
            <a:ext cx="5971784" cy="5498630"/>
          </a:xfrm>
          <a:prstGeom prst="rect">
            <a:avLst/>
          </a:prstGeom>
        </p:spPr>
      </p:pic>
    </p:spTree>
    <p:extLst>
      <p:ext uri="{BB962C8B-B14F-4D97-AF65-F5344CB8AC3E}">
        <p14:creationId xmlns:p14="http://schemas.microsoft.com/office/powerpoint/2010/main" val="356774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28B43E-006E-4259-A9C5-BDE38764AFDB}"/>
              </a:ext>
            </a:extLst>
          </p:cNvPr>
          <p:cNvSpPr>
            <a:spLocks noGrp="1"/>
          </p:cNvSpPr>
          <p:nvPr>
            <p:ph type="title"/>
          </p:nvPr>
        </p:nvSpPr>
        <p:spPr/>
        <p:txBody>
          <a:bodyPr/>
          <a:lstStyle/>
          <a:p>
            <a:r>
              <a:rPr lang="es-ES" dirty="0"/>
              <a:t>Comparative </a:t>
            </a:r>
            <a:r>
              <a:rPr lang="es-ES" dirty="0" err="1"/>
              <a:t>plot</a:t>
            </a:r>
            <a:r>
              <a:rPr lang="es-ES" dirty="0"/>
              <a:t> </a:t>
            </a:r>
            <a:r>
              <a:rPr lang="es-ES" dirty="0" err="1"/>
              <a:t>of</a:t>
            </a:r>
            <a:r>
              <a:rPr lang="es-ES" dirty="0"/>
              <a:t> </a:t>
            </a:r>
            <a:r>
              <a:rPr lang="es-ES" dirty="0" err="1"/>
              <a:t>the</a:t>
            </a:r>
            <a:r>
              <a:rPr lang="es-ES" dirty="0"/>
              <a:t> </a:t>
            </a:r>
            <a:r>
              <a:rPr lang="es-ES" dirty="0" err="1"/>
              <a:t>models</a:t>
            </a:r>
            <a:endParaRPr lang="es-ES" dirty="0"/>
          </a:p>
        </p:txBody>
      </p:sp>
      <p:sp>
        <p:nvSpPr>
          <p:cNvPr id="3" name="Marcador de texto 2">
            <a:extLst>
              <a:ext uri="{FF2B5EF4-FFF2-40B4-BE49-F238E27FC236}">
                <a16:creationId xmlns:a16="http://schemas.microsoft.com/office/drawing/2014/main" id="{E3D5506D-31DF-49E8-A9F9-47379892D638}"/>
              </a:ext>
            </a:extLst>
          </p:cNvPr>
          <p:cNvSpPr>
            <a:spLocks noGrp="1"/>
          </p:cNvSpPr>
          <p:nvPr>
            <p:ph type="body" idx="1"/>
          </p:nvPr>
        </p:nvSpPr>
        <p:spPr>
          <a:xfrm>
            <a:off x="590550" y="5399737"/>
            <a:ext cx="10972800" cy="369332"/>
          </a:xfrm>
        </p:spPr>
        <p:txBody>
          <a:bodyPr/>
          <a:lstStyle/>
          <a:p>
            <a:r>
              <a:rPr lang="es-ES" sz="1200" dirty="0"/>
              <a:t>Podemos observar que los resultados obtenidos mediante el modelado SAX son exactamente los mismos que en las simulaciones anteriores. En este caso se puede observar un cambio en la numeración de los subíndices de los elementos de la matriz de transferencia, pero es simple notación.</a:t>
            </a:r>
          </a:p>
        </p:txBody>
      </p:sp>
      <p:sp>
        <p:nvSpPr>
          <p:cNvPr id="4" name="Marcador de pie de página 3">
            <a:extLst>
              <a:ext uri="{FF2B5EF4-FFF2-40B4-BE49-F238E27FC236}">
                <a16:creationId xmlns:a16="http://schemas.microsoft.com/office/drawing/2014/main" id="{15F11405-36B1-48D9-986F-F988B5A8CCD9}"/>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850FFED3-A027-468B-812F-4B4F066B876D}"/>
              </a:ext>
            </a:extLst>
          </p:cNvPr>
          <p:cNvSpPr>
            <a:spLocks noGrp="1"/>
          </p:cNvSpPr>
          <p:nvPr>
            <p:ph type="sldNum" sz="quarter" idx="7"/>
          </p:nvPr>
        </p:nvSpPr>
        <p:spPr/>
        <p:txBody>
          <a:bodyPr/>
          <a:lstStyle/>
          <a:p>
            <a:fld id="{B6F15528-21DE-4FAA-801E-634DDDAF4B2B}" type="slidenum">
              <a:rPr lang="es-ES" smtClean="0"/>
              <a:t>11</a:t>
            </a:fld>
            <a:endParaRPr lang="es-ES"/>
          </a:p>
        </p:txBody>
      </p:sp>
      <p:pic>
        <p:nvPicPr>
          <p:cNvPr id="6" name="Imagen 5">
            <a:extLst>
              <a:ext uri="{FF2B5EF4-FFF2-40B4-BE49-F238E27FC236}">
                <a16:creationId xmlns:a16="http://schemas.microsoft.com/office/drawing/2014/main" id="{B537B6E4-E1D5-4904-AA8B-FD09EFE6840B}"/>
              </a:ext>
            </a:extLst>
          </p:cNvPr>
          <p:cNvPicPr>
            <a:picLocks noChangeAspect="1"/>
          </p:cNvPicPr>
          <p:nvPr/>
        </p:nvPicPr>
        <p:blipFill>
          <a:blip r:embed="rId2"/>
          <a:stretch>
            <a:fillRect/>
          </a:stretch>
        </p:blipFill>
        <p:spPr>
          <a:xfrm>
            <a:off x="885620" y="618918"/>
            <a:ext cx="2683646" cy="2153543"/>
          </a:xfrm>
          <a:prstGeom prst="rect">
            <a:avLst/>
          </a:prstGeom>
        </p:spPr>
      </p:pic>
      <p:pic>
        <p:nvPicPr>
          <p:cNvPr id="7" name="Imagen 6">
            <a:extLst>
              <a:ext uri="{FF2B5EF4-FFF2-40B4-BE49-F238E27FC236}">
                <a16:creationId xmlns:a16="http://schemas.microsoft.com/office/drawing/2014/main" id="{A3E60F30-0602-4933-809A-2730700DC680}"/>
              </a:ext>
            </a:extLst>
          </p:cNvPr>
          <p:cNvPicPr>
            <a:picLocks noChangeAspect="1"/>
          </p:cNvPicPr>
          <p:nvPr/>
        </p:nvPicPr>
        <p:blipFill>
          <a:blip r:embed="rId3"/>
          <a:stretch>
            <a:fillRect/>
          </a:stretch>
        </p:blipFill>
        <p:spPr>
          <a:xfrm>
            <a:off x="4374319" y="618918"/>
            <a:ext cx="2726244" cy="2153543"/>
          </a:xfrm>
          <a:prstGeom prst="rect">
            <a:avLst/>
          </a:prstGeom>
        </p:spPr>
      </p:pic>
      <p:pic>
        <p:nvPicPr>
          <p:cNvPr id="8" name="Imagen 7">
            <a:extLst>
              <a:ext uri="{FF2B5EF4-FFF2-40B4-BE49-F238E27FC236}">
                <a16:creationId xmlns:a16="http://schemas.microsoft.com/office/drawing/2014/main" id="{73B99E19-E6F3-4248-B70C-F70CBD0706B1}"/>
              </a:ext>
            </a:extLst>
          </p:cNvPr>
          <p:cNvPicPr>
            <a:picLocks noChangeAspect="1"/>
          </p:cNvPicPr>
          <p:nvPr/>
        </p:nvPicPr>
        <p:blipFill>
          <a:blip r:embed="rId4"/>
          <a:stretch>
            <a:fillRect/>
          </a:stretch>
        </p:blipFill>
        <p:spPr>
          <a:xfrm>
            <a:off x="7905616" y="618917"/>
            <a:ext cx="2683646" cy="2153544"/>
          </a:xfrm>
          <a:prstGeom prst="rect">
            <a:avLst/>
          </a:prstGeom>
        </p:spPr>
      </p:pic>
      <p:pic>
        <p:nvPicPr>
          <p:cNvPr id="10" name="Imagen 9">
            <a:extLst>
              <a:ext uri="{FF2B5EF4-FFF2-40B4-BE49-F238E27FC236}">
                <a16:creationId xmlns:a16="http://schemas.microsoft.com/office/drawing/2014/main" id="{BA63953C-B58C-4F2D-AB0D-D8A2D13A27C5}"/>
              </a:ext>
            </a:extLst>
          </p:cNvPr>
          <p:cNvPicPr>
            <a:picLocks noChangeAspect="1"/>
          </p:cNvPicPr>
          <p:nvPr/>
        </p:nvPicPr>
        <p:blipFill>
          <a:blip r:embed="rId5"/>
          <a:stretch>
            <a:fillRect/>
          </a:stretch>
        </p:blipFill>
        <p:spPr>
          <a:xfrm>
            <a:off x="4374319" y="2931664"/>
            <a:ext cx="2726245" cy="2153545"/>
          </a:xfrm>
          <a:prstGeom prst="rect">
            <a:avLst/>
          </a:prstGeom>
        </p:spPr>
      </p:pic>
      <p:pic>
        <p:nvPicPr>
          <p:cNvPr id="12" name="Imagen 11">
            <a:extLst>
              <a:ext uri="{FF2B5EF4-FFF2-40B4-BE49-F238E27FC236}">
                <a16:creationId xmlns:a16="http://schemas.microsoft.com/office/drawing/2014/main" id="{4F8333A6-FEB4-4227-B9DC-DF694700C98A}"/>
              </a:ext>
            </a:extLst>
          </p:cNvPr>
          <p:cNvPicPr>
            <a:picLocks noChangeAspect="1"/>
          </p:cNvPicPr>
          <p:nvPr/>
        </p:nvPicPr>
        <p:blipFill>
          <a:blip r:embed="rId6"/>
          <a:stretch>
            <a:fillRect/>
          </a:stretch>
        </p:blipFill>
        <p:spPr>
          <a:xfrm>
            <a:off x="885620" y="2927538"/>
            <a:ext cx="2683646" cy="2153543"/>
          </a:xfrm>
          <a:prstGeom prst="rect">
            <a:avLst/>
          </a:prstGeom>
        </p:spPr>
      </p:pic>
      <p:pic>
        <p:nvPicPr>
          <p:cNvPr id="14" name="Imagen 13">
            <a:extLst>
              <a:ext uri="{FF2B5EF4-FFF2-40B4-BE49-F238E27FC236}">
                <a16:creationId xmlns:a16="http://schemas.microsoft.com/office/drawing/2014/main" id="{D8BB6DC5-17F1-4C11-9453-E441234B8E77}"/>
              </a:ext>
            </a:extLst>
          </p:cNvPr>
          <p:cNvPicPr>
            <a:picLocks noChangeAspect="1"/>
          </p:cNvPicPr>
          <p:nvPr/>
        </p:nvPicPr>
        <p:blipFill>
          <a:blip r:embed="rId7"/>
          <a:stretch>
            <a:fillRect/>
          </a:stretch>
        </p:blipFill>
        <p:spPr>
          <a:xfrm>
            <a:off x="7905616" y="2927538"/>
            <a:ext cx="2683646" cy="2153543"/>
          </a:xfrm>
          <a:prstGeom prst="rect">
            <a:avLst/>
          </a:prstGeom>
        </p:spPr>
      </p:pic>
    </p:spTree>
    <p:extLst>
      <p:ext uri="{BB962C8B-B14F-4D97-AF65-F5344CB8AC3E}">
        <p14:creationId xmlns:p14="http://schemas.microsoft.com/office/powerpoint/2010/main" val="364610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Extra assessments </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b="1" dirty="0"/>
              <a:t>Assessment 4</a:t>
            </a:r>
            <a:r>
              <a:rPr lang="en-US" dirty="0"/>
              <a:t>. Design an MZI for filtering at a specific wavelength. Calculate and adjust the arm lengths to configure the MZI to have a maximum transmission at 1550 nm.</a:t>
            </a:r>
          </a:p>
          <a:p>
            <a:endParaRPr lang="en-US" b="1" dirty="0"/>
          </a:p>
          <a:p>
            <a:r>
              <a:rPr lang="en-US" b="1" dirty="0"/>
              <a:t>Assessment 5. </a:t>
            </a:r>
            <a:r>
              <a:rPr lang="en-US" dirty="0"/>
              <a:t>Let's see how the response of the MZI varies with the effective index. Vary the effective index of one of the arms and analyze how the spectrum shifts. To do this, you can use the data provided in the .txt files entitled ‘</a:t>
            </a:r>
            <a:r>
              <a:rPr lang="en-US" dirty="0" err="1"/>
              <a:t>SiN</a:t>
            </a:r>
            <a:r>
              <a:rPr lang="en-US" dirty="0"/>
              <a:t>’. Can you give an example of an application where this configuration is used?</a:t>
            </a:r>
          </a:p>
          <a:p>
            <a:pPr marL="0" indent="0">
              <a:buNone/>
            </a:pPr>
            <a:endParaRPr lang="en-US" dirty="0"/>
          </a:p>
          <a:p>
            <a:r>
              <a:rPr lang="en-US" b="1" dirty="0"/>
              <a:t>Advanced level assessment.</a:t>
            </a:r>
            <a:r>
              <a:rPr lang="en-US" dirty="0"/>
              <a:t> Explore how cascading two MZIs affects the transmission spectrum. To do so, design a system in which two MZIs are cascaded. Simulate and observe the spectrum, explaining how the transmission peaks behave</a:t>
            </a:r>
            <a:r>
              <a:rPr lang="en-US" b="1" dirty="0"/>
              <a:t>.</a:t>
            </a:r>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6" name="Marcador de pie de página 2">
            <a:extLst>
              <a:ext uri="{FF2B5EF4-FFF2-40B4-BE49-F238E27FC236}">
                <a16:creationId xmlns:a16="http://schemas.microsoft.com/office/drawing/2014/main" id="{04C1A7E9-6C33-172D-E7B9-CCF643221E6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3. INTERFEROMETERS I</a:t>
            </a:r>
            <a:endParaRPr lang="es-ES" spc="-5" dirty="0"/>
          </a:p>
        </p:txBody>
      </p:sp>
    </p:spTree>
    <p:extLst>
      <p:ext uri="{BB962C8B-B14F-4D97-AF65-F5344CB8AC3E}">
        <p14:creationId xmlns:p14="http://schemas.microsoft.com/office/powerpoint/2010/main" val="366043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565FE7-19F0-450F-8F6F-55D2FDAE90A6}"/>
              </a:ext>
            </a:extLst>
          </p:cNvPr>
          <p:cNvSpPr>
            <a:spLocks noGrp="1"/>
          </p:cNvSpPr>
          <p:nvPr>
            <p:ph type="title"/>
          </p:nvPr>
        </p:nvSpPr>
        <p:spPr/>
        <p:txBody>
          <a:bodyPr/>
          <a:lstStyle/>
          <a:p>
            <a:r>
              <a:rPr lang="en-US" b="1" dirty="0"/>
              <a:t>Assessment 4</a:t>
            </a:r>
            <a:endParaRPr lang="es-ES" dirty="0"/>
          </a:p>
        </p:txBody>
      </p:sp>
      <p:sp>
        <p:nvSpPr>
          <p:cNvPr id="3" name="Marcador de texto 2">
            <a:extLst>
              <a:ext uri="{FF2B5EF4-FFF2-40B4-BE49-F238E27FC236}">
                <a16:creationId xmlns:a16="http://schemas.microsoft.com/office/drawing/2014/main" id="{27F228D4-A51C-40EE-9098-B14537BC079F}"/>
              </a:ext>
            </a:extLst>
          </p:cNvPr>
          <p:cNvSpPr>
            <a:spLocks noGrp="1"/>
          </p:cNvSpPr>
          <p:nvPr>
            <p:ph type="body" idx="1"/>
          </p:nvPr>
        </p:nvSpPr>
        <p:spPr>
          <a:xfrm>
            <a:off x="565150" y="609600"/>
            <a:ext cx="10972800" cy="492443"/>
          </a:xfrm>
        </p:spPr>
        <p:txBody>
          <a:bodyPr/>
          <a:lstStyle/>
          <a:p>
            <a:r>
              <a:rPr lang="en-US" sz="1600" dirty="0"/>
              <a:t>Design an MZI for filtering at a specific wavelength. Calculate and adjust the arm lengths to configure the MZI to have a maximum transmission at 1550 nm.</a:t>
            </a:r>
          </a:p>
        </p:txBody>
      </p:sp>
      <p:sp>
        <p:nvSpPr>
          <p:cNvPr id="4" name="Marcador de pie de página 3">
            <a:extLst>
              <a:ext uri="{FF2B5EF4-FFF2-40B4-BE49-F238E27FC236}">
                <a16:creationId xmlns:a16="http://schemas.microsoft.com/office/drawing/2014/main" id="{338FF05A-ED09-4CC0-8362-6B9CD58E325D}"/>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9FE9DDCA-CE34-4D86-A0DA-89371ADD78E4}"/>
              </a:ext>
            </a:extLst>
          </p:cNvPr>
          <p:cNvSpPr>
            <a:spLocks noGrp="1"/>
          </p:cNvSpPr>
          <p:nvPr>
            <p:ph type="sldNum" sz="quarter" idx="7"/>
          </p:nvPr>
        </p:nvSpPr>
        <p:spPr/>
        <p:txBody>
          <a:bodyPr/>
          <a:lstStyle/>
          <a:p>
            <a:fld id="{B6F15528-21DE-4FAA-801E-634DDDAF4B2B}" type="slidenum">
              <a:rPr lang="es-ES" smtClean="0"/>
              <a:t>13</a:t>
            </a:fld>
            <a:endParaRPr lang="es-ES"/>
          </a:p>
        </p:txBody>
      </p:sp>
      <p:pic>
        <p:nvPicPr>
          <p:cNvPr id="7" name="Imagen 6">
            <a:extLst>
              <a:ext uri="{FF2B5EF4-FFF2-40B4-BE49-F238E27FC236}">
                <a16:creationId xmlns:a16="http://schemas.microsoft.com/office/drawing/2014/main" id="{407B7D31-DBE1-4C38-8301-463A0A4E35A2}"/>
              </a:ext>
            </a:extLst>
          </p:cNvPr>
          <p:cNvPicPr>
            <a:picLocks noChangeAspect="1"/>
          </p:cNvPicPr>
          <p:nvPr/>
        </p:nvPicPr>
        <p:blipFill>
          <a:blip r:embed="rId2"/>
          <a:stretch>
            <a:fillRect/>
          </a:stretch>
        </p:blipFill>
        <p:spPr>
          <a:xfrm>
            <a:off x="455084" y="3505200"/>
            <a:ext cx="3439550" cy="2760133"/>
          </a:xfrm>
          <a:prstGeom prst="rect">
            <a:avLst/>
          </a:prstGeom>
        </p:spPr>
      </p:pic>
      <p:pic>
        <p:nvPicPr>
          <p:cNvPr id="9" name="Imagen 8">
            <a:extLst>
              <a:ext uri="{FF2B5EF4-FFF2-40B4-BE49-F238E27FC236}">
                <a16:creationId xmlns:a16="http://schemas.microsoft.com/office/drawing/2014/main" id="{1DEA65FE-34F8-4164-ADFF-2C29C6E55AD0}"/>
              </a:ext>
            </a:extLst>
          </p:cNvPr>
          <p:cNvPicPr>
            <a:picLocks noChangeAspect="1"/>
          </p:cNvPicPr>
          <p:nvPr/>
        </p:nvPicPr>
        <p:blipFill>
          <a:blip r:embed="rId3"/>
          <a:stretch>
            <a:fillRect/>
          </a:stretch>
        </p:blipFill>
        <p:spPr>
          <a:xfrm>
            <a:off x="4114800" y="3505200"/>
            <a:ext cx="3536608" cy="2760132"/>
          </a:xfrm>
          <a:prstGeom prst="rect">
            <a:avLst/>
          </a:prstGeom>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268C0E7-A930-466A-ABCA-FAD9945F214C}"/>
                  </a:ext>
                </a:extLst>
              </p:cNvPr>
              <p:cNvSpPr txBox="1"/>
              <p:nvPr/>
            </p:nvSpPr>
            <p:spPr>
              <a:xfrm>
                <a:off x="565150" y="1969483"/>
                <a:ext cx="6597650" cy="1295868"/>
              </a:xfrm>
              <a:prstGeom prst="rect">
                <a:avLst/>
              </a:prstGeom>
              <a:noFill/>
            </p:spPr>
            <p:txBody>
              <a:bodyPr wrap="square">
                <a:spAutoFit/>
              </a:bodyPr>
              <a:lstStyle/>
              <a:p>
                <a:r>
                  <a:rPr lang="es-ES" sz="1200" dirty="0"/>
                  <a:t>Para tener transmisión máxima a 1550 nm, se debe establecer la diferencia de fase en </a:t>
                </a:r>
                <a:r>
                  <a:rPr lang="el-GR" sz="1200" dirty="0"/>
                  <a:t>π </a:t>
                </a:r>
                <a:r>
                  <a:rPr lang="es-ES" sz="1200" dirty="0"/>
                  <a:t>a </a:t>
                </a:r>
                <a:r>
                  <a:rPr lang="el-GR" sz="1200" dirty="0"/>
                  <a:t>λ₀ = 1.55 µ</a:t>
                </a:r>
                <a:r>
                  <a:rPr lang="es-ES" sz="1200" dirty="0"/>
                  <a:t>m.</a:t>
                </a:r>
              </a:p>
              <a:p>
                <a:pPr/>
                <a14:m>
                  <m:oMathPara xmlns:m="http://schemas.openxmlformats.org/officeDocument/2006/math">
                    <m:oMathParaPr>
                      <m:jc m:val="centerGroup"/>
                    </m:oMathParaPr>
                    <m:oMath xmlns:m="http://schemas.openxmlformats.org/officeDocument/2006/math">
                      <m:r>
                        <m:rPr>
                          <m:sty m:val="p"/>
                        </m:rPr>
                        <a:rPr lang="el-GR" sz="1200" i="0" dirty="0" smtClean="0">
                          <a:latin typeface="Cambria Math" panose="02040503050406030204" pitchFamily="18" charset="0"/>
                        </a:rPr>
                        <m:t>Δ</m:t>
                      </m:r>
                      <m:r>
                        <a:rPr lang="el-GR" sz="1200" i="1" dirty="0" smtClean="0">
                          <a:latin typeface="Cambria Math" panose="02040503050406030204" pitchFamily="18" charset="0"/>
                        </a:rPr>
                        <m:t>𝜑</m:t>
                      </m:r>
                      <m:r>
                        <a:rPr lang="el-GR" sz="1200" i="1" dirty="0" smtClean="0">
                          <a:latin typeface="Cambria Math" panose="02040503050406030204" pitchFamily="18" charset="0"/>
                        </a:rPr>
                        <m:t> = 2</m:t>
                      </m:r>
                      <m:r>
                        <a:rPr lang="el-GR" sz="1200" i="1" dirty="0" smtClean="0">
                          <a:latin typeface="Cambria Math" panose="02040503050406030204" pitchFamily="18" charset="0"/>
                        </a:rPr>
                        <m:t>𝜋</m:t>
                      </m:r>
                      <m:f>
                        <m:fPr>
                          <m:ctrlPr>
                            <a:rPr lang="es-ES" sz="1200" i="1" dirty="0" smtClean="0">
                              <a:latin typeface="Cambria Math" panose="02040503050406030204" pitchFamily="18" charset="0"/>
                            </a:rPr>
                          </m:ctrlPr>
                        </m:fPr>
                        <m:num>
                          <m:d>
                            <m:dPr>
                              <m:ctrlPr>
                                <a:rPr lang="el-GR" sz="1200" i="1" dirty="0" smtClean="0">
                                  <a:latin typeface="Cambria Math" panose="02040503050406030204" pitchFamily="18" charset="0"/>
                                </a:rPr>
                              </m:ctrlPr>
                            </m:dPr>
                            <m:e>
                              <m:sSub>
                                <m:sSubPr>
                                  <m:ctrlPr>
                                    <a:rPr lang="es-ES" sz="1200" i="1" dirty="0" err="1" smtClean="0">
                                      <a:latin typeface="Cambria Math" panose="02040503050406030204" pitchFamily="18" charset="0"/>
                                    </a:rPr>
                                  </m:ctrlPr>
                                </m:sSubPr>
                                <m:e>
                                  <m:r>
                                    <a:rPr lang="es-ES" sz="1200" i="1" dirty="0" err="1" smtClean="0">
                                      <a:latin typeface="Cambria Math" panose="02040503050406030204" pitchFamily="18" charset="0"/>
                                    </a:rPr>
                                    <m:t>𝑛</m:t>
                                  </m:r>
                                </m:e>
                                <m:sub>
                                  <m:r>
                                    <a:rPr lang="es-ES" sz="1200" i="1" dirty="0" err="1" smtClean="0">
                                      <a:latin typeface="Cambria Math" panose="02040503050406030204" pitchFamily="18" charset="0"/>
                                    </a:rPr>
                                    <m:t>𝑒𝑓𝑓</m:t>
                                  </m:r>
                                  <m:r>
                                    <a:rPr lang="es-ES" sz="1200" b="0" i="1" dirty="0" smtClean="0">
                                      <a:latin typeface="Cambria Math" panose="02040503050406030204" pitchFamily="18" charset="0"/>
                                    </a:rPr>
                                    <m:t>,</m:t>
                                  </m:r>
                                  <m:r>
                                    <a:rPr lang="es-ES" sz="1200" b="0" i="1" dirty="0" smtClean="0">
                                      <a:latin typeface="Cambria Math" panose="02040503050406030204" pitchFamily="18" charset="0"/>
                                    </a:rPr>
                                    <m:t>𝑢</m:t>
                                  </m:r>
                                </m:sub>
                              </m:sSub>
                              <m:r>
                                <a:rPr lang="es-ES" sz="1200" i="1" dirty="0" smtClean="0">
                                  <a:latin typeface="Cambria Math" panose="02040503050406030204" pitchFamily="18" charset="0"/>
                                </a:rPr>
                                <m:t>𝐿</m:t>
                              </m:r>
                              <m:r>
                                <a:rPr lang="es-ES" sz="1200" i="1" dirty="0" smtClean="0">
                                  <a:latin typeface="Cambria Math" panose="02040503050406030204" pitchFamily="18" charset="0"/>
                                </a:rPr>
                                <m:t>ᵤ − </m:t>
                              </m:r>
                              <m:sSub>
                                <m:sSubPr>
                                  <m:ctrlPr>
                                    <a:rPr lang="es-ES" sz="1200" i="1" dirty="0" err="1" smtClean="0">
                                      <a:latin typeface="Cambria Math" panose="02040503050406030204" pitchFamily="18" charset="0"/>
                                    </a:rPr>
                                  </m:ctrlPr>
                                </m:sSubPr>
                                <m:e>
                                  <m:r>
                                    <a:rPr lang="es-ES" sz="1200" i="1" dirty="0" err="1" smtClean="0">
                                      <a:latin typeface="Cambria Math" panose="02040503050406030204" pitchFamily="18" charset="0"/>
                                    </a:rPr>
                                    <m:t>𝑛</m:t>
                                  </m:r>
                                </m:e>
                                <m:sub>
                                  <m:r>
                                    <a:rPr lang="es-ES" sz="1200" i="1" dirty="0" err="1" smtClean="0">
                                      <a:latin typeface="Cambria Math" panose="02040503050406030204" pitchFamily="18" charset="0"/>
                                    </a:rPr>
                                    <m:t>𝑒𝑓𝑓</m:t>
                                  </m:r>
                                  <m:r>
                                    <a:rPr lang="es-ES" sz="1200" b="0" i="1" dirty="0" smtClean="0">
                                      <a:latin typeface="Cambria Math" panose="02040503050406030204" pitchFamily="18" charset="0"/>
                                    </a:rPr>
                                    <m:t>,</m:t>
                                  </m:r>
                                  <m:r>
                                    <a:rPr lang="es-ES" sz="1200" b="0" i="1" dirty="0" smtClean="0">
                                      <a:latin typeface="Cambria Math" panose="02040503050406030204" pitchFamily="18" charset="0"/>
                                    </a:rPr>
                                    <m:t>𝑑</m:t>
                                  </m:r>
                                </m:sub>
                              </m:sSub>
                              <m:r>
                                <a:rPr lang="es-ES" sz="1200" i="1" dirty="0" smtClean="0">
                                  <a:latin typeface="Cambria Math" panose="02040503050406030204" pitchFamily="18" charset="0"/>
                                </a:rPr>
                                <m:t> </m:t>
                              </m:r>
                              <m:sSub>
                                <m:sSubPr>
                                  <m:ctrlPr>
                                    <a:rPr lang="es-ES" sz="1200" i="1" dirty="0" err="1" smtClean="0">
                                      <a:latin typeface="Cambria Math" panose="02040503050406030204" pitchFamily="18" charset="0"/>
                                    </a:rPr>
                                  </m:ctrlPr>
                                </m:sSubPr>
                                <m:e>
                                  <m:r>
                                    <a:rPr lang="es-ES" sz="1200" i="1" dirty="0" err="1" smtClean="0">
                                      <a:latin typeface="Cambria Math" panose="02040503050406030204" pitchFamily="18" charset="0"/>
                                    </a:rPr>
                                    <m:t>𝐿</m:t>
                                  </m:r>
                                </m:e>
                                <m:sub>
                                  <m:r>
                                    <a:rPr lang="es-ES" sz="1200" i="1" dirty="0" err="1" smtClean="0">
                                      <a:latin typeface="Cambria Math" panose="02040503050406030204" pitchFamily="18" charset="0"/>
                                    </a:rPr>
                                    <m:t>𝑑</m:t>
                                  </m:r>
                                </m:sub>
                              </m:sSub>
                            </m:e>
                          </m:d>
                        </m:num>
                        <m:den>
                          <m:sSub>
                            <m:sSubPr>
                              <m:ctrlPr>
                                <a:rPr lang="el-GR" sz="1200" i="1" dirty="0">
                                  <a:latin typeface="Cambria Math" panose="02040503050406030204" pitchFamily="18" charset="0"/>
                                </a:rPr>
                              </m:ctrlPr>
                            </m:sSubPr>
                            <m:e>
                              <m:r>
                                <a:rPr lang="el-GR" sz="1200" i="1" dirty="0">
                                  <a:latin typeface="Cambria Math" panose="02040503050406030204" pitchFamily="18" charset="0"/>
                                </a:rPr>
                                <m:t>𝜆</m:t>
                              </m:r>
                            </m:e>
                            <m:sub>
                              <m:r>
                                <a:rPr lang="es-ES" sz="1200" i="1" dirty="0">
                                  <a:latin typeface="Cambria Math" panose="02040503050406030204" pitchFamily="18" charset="0"/>
                                </a:rPr>
                                <m:t>0</m:t>
                              </m:r>
                            </m:sub>
                          </m:sSub>
                        </m:den>
                      </m:f>
                      <m:r>
                        <a:rPr lang="el-GR" sz="1200" i="1" dirty="0" smtClean="0">
                          <a:latin typeface="Cambria Math" panose="02040503050406030204" pitchFamily="18" charset="0"/>
                        </a:rPr>
                        <m:t>= </m:t>
                      </m:r>
                      <m:r>
                        <a:rPr lang="es-ES" sz="1200" i="1" dirty="0" smtClean="0">
                          <a:latin typeface="Cambria Math" panose="02040503050406030204" pitchFamily="18" charset="0"/>
                        </a:rPr>
                        <m:t>𝑚</m:t>
                      </m:r>
                      <m:r>
                        <a:rPr lang="el-GR" sz="1200" i="1" dirty="0" smtClean="0">
                          <a:latin typeface="Cambria Math" panose="02040503050406030204" pitchFamily="18" charset="0"/>
                        </a:rPr>
                        <m:t>𝜋</m:t>
                      </m:r>
                    </m:oMath>
                  </m:oMathPara>
                </a14:m>
                <a:endParaRPr lang="es-ES" sz="1200" dirty="0"/>
              </a:p>
              <a:p>
                <a:r>
                  <a:rPr lang="es-ES" sz="1200" dirty="0"/>
                  <a:t>Asumiendo </a:t>
                </a:r>
                <a14:m>
                  <m:oMath xmlns:m="http://schemas.openxmlformats.org/officeDocument/2006/math">
                    <m:sSub>
                      <m:sSubPr>
                        <m:ctrlPr>
                          <a:rPr lang="es-ES" sz="1200" i="1" dirty="0" smtClean="0">
                            <a:latin typeface="Cambria Math" panose="02040503050406030204" pitchFamily="18" charset="0"/>
                          </a:rPr>
                        </m:ctrlPr>
                      </m:sSubPr>
                      <m:e>
                        <m:r>
                          <a:rPr lang="es-ES" sz="1200" i="1" dirty="0" err="1" smtClean="0">
                            <a:latin typeface="Cambria Math" panose="02040503050406030204" pitchFamily="18" charset="0"/>
                          </a:rPr>
                          <m:t>𝑛</m:t>
                        </m:r>
                      </m:e>
                      <m:sub>
                        <m:r>
                          <a:rPr lang="es-ES" sz="1200" i="1" dirty="0" err="1" smtClean="0">
                            <a:latin typeface="Cambria Math" panose="02040503050406030204" pitchFamily="18" charset="0"/>
                          </a:rPr>
                          <m:t>𝑒𝑓𝑓</m:t>
                        </m:r>
                        <m:r>
                          <a:rPr lang="es-ES" sz="1200" b="0" i="1" dirty="0" smtClean="0">
                            <a:latin typeface="Cambria Math" panose="02040503050406030204" pitchFamily="18" charset="0"/>
                          </a:rPr>
                          <m:t>,</m:t>
                        </m:r>
                        <m:r>
                          <a:rPr lang="es-ES" sz="1200" b="0" i="1" dirty="0" smtClean="0">
                            <a:latin typeface="Cambria Math" panose="02040503050406030204" pitchFamily="18" charset="0"/>
                          </a:rPr>
                          <m:t>𝑢</m:t>
                        </m:r>
                      </m:sub>
                    </m:sSub>
                    <m:r>
                      <a:rPr lang="es-ES" sz="1200" b="0" i="1" dirty="0" smtClean="0">
                        <a:latin typeface="Cambria Math" panose="02040503050406030204" pitchFamily="18" charset="0"/>
                      </a:rPr>
                      <m:t> </m:t>
                    </m:r>
                    <m:r>
                      <a:rPr lang="es-ES" sz="1200" i="1" dirty="0" smtClean="0">
                        <a:latin typeface="Cambria Math" panose="02040503050406030204" pitchFamily="18" charset="0"/>
                      </a:rPr>
                      <m:t>≈</m:t>
                    </m:r>
                  </m:oMath>
                </a14:m>
                <a:r>
                  <a:rPr lang="es-ES" sz="1200" dirty="0"/>
                  <a:t> </a:t>
                </a:r>
                <a14:m>
                  <m:oMath xmlns:m="http://schemas.openxmlformats.org/officeDocument/2006/math">
                    <m:sSub>
                      <m:sSubPr>
                        <m:ctrlPr>
                          <a:rPr lang="es-ES" sz="1200" i="1" dirty="0">
                            <a:latin typeface="Cambria Math" panose="02040503050406030204" pitchFamily="18" charset="0"/>
                          </a:rPr>
                        </m:ctrlPr>
                      </m:sSubPr>
                      <m:e>
                        <m:r>
                          <a:rPr lang="es-ES" sz="1200" i="1" dirty="0" err="1">
                            <a:latin typeface="Cambria Math" panose="02040503050406030204" pitchFamily="18" charset="0"/>
                          </a:rPr>
                          <m:t>𝑛</m:t>
                        </m:r>
                      </m:e>
                      <m:sub>
                        <m:r>
                          <a:rPr lang="es-ES" sz="1200" i="1" dirty="0" err="1">
                            <a:latin typeface="Cambria Math" panose="02040503050406030204" pitchFamily="18" charset="0"/>
                          </a:rPr>
                          <m:t>𝑒𝑓𝑓</m:t>
                        </m:r>
                        <m:r>
                          <a:rPr lang="es-ES" sz="1200" i="1" dirty="0">
                            <a:latin typeface="Cambria Math" panose="02040503050406030204" pitchFamily="18" charset="0"/>
                          </a:rPr>
                          <m:t>,</m:t>
                        </m:r>
                        <m:r>
                          <a:rPr lang="es-ES" sz="1200" i="1" dirty="0">
                            <a:latin typeface="Cambria Math" panose="02040503050406030204" pitchFamily="18" charset="0"/>
                          </a:rPr>
                          <m:t>𝑑</m:t>
                        </m:r>
                      </m:sub>
                    </m:sSub>
                    <m:r>
                      <a:rPr lang="es-ES" sz="1200" i="1" dirty="0">
                        <a:latin typeface="Cambria Math" panose="02040503050406030204" pitchFamily="18" charset="0"/>
                      </a:rPr>
                      <m:t> ≈</m:t>
                    </m:r>
                  </m:oMath>
                </a14:m>
                <a:r>
                  <a:rPr lang="es-ES" sz="1200" dirty="0"/>
                  <a:t> </a:t>
                </a:r>
                <a14:m>
                  <m:oMath xmlns:m="http://schemas.openxmlformats.org/officeDocument/2006/math">
                    <m:sSub>
                      <m:sSubPr>
                        <m:ctrlPr>
                          <a:rPr lang="es-ES" sz="1200" i="1" dirty="0">
                            <a:latin typeface="Cambria Math" panose="02040503050406030204" pitchFamily="18" charset="0"/>
                          </a:rPr>
                        </m:ctrlPr>
                      </m:sSubPr>
                      <m:e>
                        <m:r>
                          <a:rPr lang="es-ES" sz="1200" i="1" dirty="0" err="1">
                            <a:latin typeface="Cambria Math" panose="02040503050406030204" pitchFamily="18" charset="0"/>
                          </a:rPr>
                          <m:t>𝑛</m:t>
                        </m:r>
                      </m:e>
                      <m:sub>
                        <m:r>
                          <a:rPr lang="es-ES" sz="1200" i="1" dirty="0" err="1">
                            <a:latin typeface="Cambria Math" panose="02040503050406030204" pitchFamily="18" charset="0"/>
                          </a:rPr>
                          <m:t>𝑒𝑓𝑓</m:t>
                        </m:r>
                      </m:sub>
                    </m:sSub>
                    <m:r>
                      <a:rPr lang="es-ES" sz="1200" i="1" dirty="0">
                        <a:latin typeface="Cambria Math" panose="02040503050406030204" pitchFamily="18" charset="0"/>
                      </a:rPr>
                      <m:t> </m:t>
                    </m:r>
                  </m:oMath>
                </a14:m>
                <a:r>
                  <a:rPr lang="es-ES" sz="1200" dirty="0"/>
                  <a:t>a 1550 nm, la diferencia de longitud requerida es:</a:t>
                </a:r>
              </a:p>
              <a:p>
                <a:pPr/>
                <a14:m>
                  <m:oMathPara xmlns:m="http://schemas.openxmlformats.org/officeDocument/2006/math">
                    <m:oMathParaPr>
                      <m:jc m:val="centerGroup"/>
                    </m:oMathParaPr>
                    <m:oMath xmlns:m="http://schemas.openxmlformats.org/officeDocument/2006/math">
                      <m:r>
                        <m:rPr>
                          <m:sty m:val="p"/>
                        </m:rPr>
                        <a:rPr lang="el-GR" sz="1200" i="0" dirty="0" smtClean="0">
                          <a:latin typeface="Cambria Math" panose="02040503050406030204" pitchFamily="18" charset="0"/>
                        </a:rPr>
                        <m:t>Δ</m:t>
                      </m:r>
                      <m:r>
                        <a:rPr lang="es-ES" sz="1200" b="0" i="1" dirty="0" smtClean="0">
                          <a:latin typeface="Cambria Math" panose="02040503050406030204" pitchFamily="18" charset="0"/>
                        </a:rPr>
                        <m:t>𝐿</m:t>
                      </m:r>
                      <m:r>
                        <a:rPr lang="el-GR" sz="1200" i="1" dirty="0" smtClean="0">
                          <a:latin typeface="Cambria Math" panose="02040503050406030204" pitchFamily="18" charset="0"/>
                        </a:rPr>
                        <m:t> =</m:t>
                      </m:r>
                      <m:r>
                        <a:rPr lang="es-ES" sz="1200" i="1" dirty="0">
                          <a:latin typeface="Cambria Math" panose="02040503050406030204" pitchFamily="18" charset="0"/>
                        </a:rPr>
                        <m:t>𝐿</m:t>
                      </m:r>
                      <m:r>
                        <a:rPr lang="es-ES" sz="1200" i="1" dirty="0">
                          <a:latin typeface="Cambria Math" panose="02040503050406030204" pitchFamily="18" charset="0"/>
                        </a:rPr>
                        <m:t>ᵤ − </m:t>
                      </m:r>
                      <m:sSub>
                        <m:sSubPr>
                          <m:ctrlPr>
                            <a:rPr lang="es-ES" sz="1200" i="1" dirty="0">
                              <a:latin typeface="Cambria Math" panose="02040503050406030204" pitchFamily="18" charset="0"/>
                            </a:rPr>
                          </m:ctrlPr>
                        </m:sSubPr>
                        <m:e>
                          <m:r>
                            <a:rPr lang="es-ES" sz="1200" i="1" dirty="0" err="1">
                              <a:latin typeface="Cambria Math" panose="02040503050406030204" pitchFamily="18" charset="0"/>
                            </a:rPr>
                            <m:t>𝐿</m:t>
                          </m:r>
                        </m:e>
                        <m:sub>
                          <m:r>
                            <a:rPr lang="es-ES" sz="1200" i="1" dirty="0" err="1">
                              <a:latin typeface="Cambria Math" panose="02040503050406030204" pitchFamily="18" charset="0"/>
                            </a:rPr>
                            <m:t>𝑑</m:t>
                          </m:r>
                        </m:sub>
                      </m:sSub>
                      <m:r>
                        <a:rPr lang="es-ES" sz="1200" b="0" i="1" dirty="0" smtClean="0">
                          <a:latin typeface="Cambria Math" panose="02040503050406030204" pitchFamily="18" charset="0"/>
                        </a:rPr>
                        <m:t>=</m:t>
                      </m:r>
                      <m:f>
                        <m:fPr>
                          <m:ctrlPr>
                            <a:rPr lang="es-ES" sz="1200" i="1" dirty="0" smtClean="0">
                              <a:latin typeface="Cambria Math" panose="02040503050406030204" pitchFamily="18" charset="0"/>
                            </a:rPr>
                          </m:ctrlPr>
                        </m:fPr>
                        <m:num>
                          <m:sSub>
                            <m:sSubPr>
                              <m:ctrlPr>
                                <a:rPr lang="el-GR" sz="1200" i="1" dirty="0">
                                  <a:latin typeface="Cambria Math" panose="02040503050406030204" pitchFamily="18" charset="0"/>
                                </a:rPr>
                              </m:ctrlPr>
                            </m:sSubPr>
                            <m:e>
                              <m:r>
                                <a:rPr lang="el-GR" sz="1200" i="1" dirty="0">
                                  <a:latin typeface="Cambria Math" panose="02040503050406030204" pitchFamily="18" charset="0"/>
                                </a:rPr>
                                <m:t>𝜆</m:t>
                              </m:r>
                            </m:e>
                            <m:sub>
                              <m:r>
                                <a:rPr lang="es-ES" sz="1200" i="1" dirty="0">
                                  <a:latin typeface="Cambria Math" panose="02040503050406030204" pitchFamily="18" charset="0"/>
                                </a:rPr>
                                <m:t>0</m:t>
                              </m:r>
                              <m:r>
                                <a:rPr lang="es-ES" sz="1200" b="0" i="1" dirty="0" smtClean="0">
                                  <a:latin typeface="Cambria Math" panose="02040503050406030204" pitchFamily="18" charset="0"/>
                                </a:rPr>
                                <m:t> </m:t>
                              </m:r>
                            </m:sub>
                          </m:sSub>
                          <m:r>
                            <a:rPr lang="es-ES" sz="1200" b="0" i="1" dirty="0" smtClean="0">
                              <a:latin typeface="Cambria Math" panose="02040503050406030204" pitchFamily="18" charset="0"/>
                            </a:rPr>
                            <m:t>𝑚</m:t>
                          </m:r>
                        </m:num>
                        <m:den>
                          <m:r>
                            <a:rPr lang="es-ES" sz="1200" b="0" i="1" dirty="0" smtClean="0">
                              <a:latin typeface="Cambria Math" panose="02040503050406030204" pitchFamily="18" charset="0"/>
                            </a:rPr>
                            <m:t>2</m:t>
                          </m:r>
                          <m:sSub>
                            <m:sSubPr>
                              <m:ctrlPr>
                                <a:rPr lang="es-ES" sz="1200" i="1" dirty="0">
                                  <a:latin typeface="Cambria Math" panose="02040503050406030204" pitchFamily="18" charset="0"/>
                                </a:rPr>
                              </m:ctrlPr>
                            </m:sSubPr>
                            <m:e>
                              <m:r>
                                <a:rPr lang="es-ES" sz="1200" b="0" i="1" dirty="0" smtClean="0">
                                  <a:latin typeface="Cambria Math" panose="02040503050406030204" pitchFamily="18" charset="0"/>
                                </a:rPr>
                                <m:t> </m:t>
                              </m:r>
                              <m:r>
                                <a:rPr lang="es-ES" sz="1200" i="1" dirty="0" err="1">
                                  <a:latin typeface="Cambria Math" panose="02040503050406030204" pitchFamily="18" charset="0"/>
                                </a:rPr>
                                <m:t>𝑛</m:t>
                              </m:r>
                            </m:e>
                            <m:sub>
                              <m:r>
                                <a:rPr lang="es-ES" sz="1200" i="1" dirty="0" err="1">
                                  <a:latin typeface="Cambria Math" panose="02040503050406030204" pitchFamily="18" charset="0"/>
                                </a:rPr>
                                <m:t>𝑒𝑓𝑓</m:t>
                              </m:r>
                            </m:sub>
                          </m:sSub>
                        </m:den>
                      </m:f>
                    </m:oMath>
                  </m:oMathPara>
                </a14:m>
                <a:endParaRPr lang="es-ES" sz="1200" dirty="0"/>
              </a:p>
            </p:txBody>
          </p:sp>
        </mc:Choice>
        <mc:Fallback xmlns="">
          <p:sp>
            <p:nvSpPr>
              <p:cNvPr id="13" name="CuadroTexto 12">
                <a:extLst>
                  <a:ext uri="{FF2B5EF4-FFF2-40B4-BE49-F238E27FC236}">
                    <a16:creationId xmlns:a16="http://schemas.microsoft.com/office/drawing/2014/main" id="{C268C0E7-A930-466A-ABCA-FAD9945F214C}"/>
                  </a:ext>
                </a:extLst>
              </p:cNvPr>
              <p:cNvSpPr txBox="1">
                <a:spLocks noRot="1" noChangeAspect="1" noMove="1" noResize="1" noEditPoints="1" noAdjustHandles="1" noChangeArrowheads="1" noChangeShapeType="1" noTextEdit="1"/>
              </p:cNvSpPr>
              <p:nvPr/>
            </p:nvSpPr>
            <p:spPr>
              <a:xfrm>
                <a:off x="565150" y="1969483"/>
                <a:ext cx="6597650" cy="1295868"/>
              </a:xfrm>
              <a:prstGeom prst="rect">
                <a:avLst/>
              </a:prstGeom>
              <a:blipFill>
                <a:blip r:embed="rId4"/>
                <a:stretch>
                  <a:fillRect l="-92"/>
                </a:stretch>
              </a:blipFill>
            </p:spPr>
            <p:txBody>
              <a:bodyPr/>
              <a:lstStyle/>
              <a:p>
                <a:r>
                  <a:rPr lang="es-ES">
                    <a:noFill/>
                  </a:rPr>
                  <a:t> </a:t>
                </a:r>
              </a:p>
            </p:txBody>
          </p:sp>
        </mc:Fallback>
      </mc:AlternateContent>
      <p:pic>
        <p:nvPicPr>
          <p:cNvPr id="17" name="Imagen 16">
            <a:extLst>
              <a:ext uri="{FF2B5EF4-FFF2-40B4-BE49-F238E27FC236}">
                <a16:creationId xmlns:a16="http://schemas.microsoft.com/office/drawing/2014/main" id="{0E734E4C-FA0B-4E4E-BD5B-6B5FBA1F22BD}"/>
              </a:ext>
            </a:extLst>
          </p:cNvPr>
          <p:cNvPicPr>
            <a:picLocks noChangeAspect="1"/>
          </p:cNvPicPr>
          <p:nvPr/>
        </p:nvPicPr>
        <p:blipFill>
          <a:blip r:embed="rId5"/>
          <a:stretch>
            <a:fillRect/>
          </a:stretch>
        </p:blipFill>
        <p:spPr>
          <a:xfrm>
            <a:off x="548217" y="1186932"/>
            <a:ext cx="7758845" cy="697662"/>
          </a:xfrm>
          <a:prstGeom prst="rect">
            <a:avLst/>
          </a:prstGeom>
        </p:spPr>
      </p:pic>
      <p:sp>
        <p:nvSpPr>
          <p:cNvPr id="19" name="CuadroTexto 18">
            <a:extLst>
              <a:ext uri="{FF2B5EF4-FFF2-40B4-BE49-F238E27FC236}">
                <a16:creationId xmlns:a16="http://schemas.microsoft.com/office/drawing/2014/main" id="{68D039BD-133D-41DE-BB41-C16C680F56D6}"/>
              </a:ext>
            </a:extLst>
          </p:cNvPr>
          <p:cNvSpPr txBox="1"/>
          <p:nvPr/>
        </p:nvSpPr>
        <p:spPr>
          <a:xfrm>
            <a:off x="8153400" y="4432068"/>
            <a:ext cx="3269192" cy="646331"/>
          </a:xfrm>
          <a:prstGeom prst="rect">
            <a:avLst/>
          </a:prstGeom>
          <a:noFill/>
        </p:spPr>
        <p:txBody>
          <a:bodyPr wrap="square">
            <a:spAutoFit/>
          </a:bodyPr>
          <a:lstStyle/>
          <a:p>
            <a:r>
              <a:rPr lang="es-ES" sz="1200" dirty="0"/>
              <a:t>Se puede observar que hay un pico mínimo justo en la longitud de onda de diseño de 1550 nm, donde ha habido una transferencia total.</a:t>
            </a:r>
          </a:p>
        </p:txBody>
      </p:sp>
    </p:spTree>
    <p:extLst>
      <p:ext uri="{BB962C8B-B14F-4D97-AF65-F5344CB8AC3E}">
        <p14:creationId xmlns:p14="http://schemas.microsoft.com/office/powerpoint/2010/main" val="3885896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565FE7-19F0-450F-8F6F-55D2FDAE90A6}"/>
              </a:ext>
            </a:extLst>
          </p:cNvPr>
          <p:cNvSpPr>
            <a:spLocks noGrp="1"/>
          </p:cNvSpPr>
          <p:nvPr>
            <p:ph type="title"/>
          </p:nvPr>
        </p:nvSpPr>
        <p:spPr/>
        <p:txBody>
          <a:bodyPr/>
          <a:lstStyle/>
          <a:p>
            <a:r>
              <a:rPr lang="en-US" b="1" dirty="0"/>
              <a:t>Assessment 5</a:t>
            </a:r>
            <a:endParaRPr lang="es-ES" dirty="0"/>
          </a:p>
        </p:txBody>
      </p:sp>
      <p:sp>
        <p:nvSpPr>
          <p:cNvPr id="3" name="Marcador de texto 2">
            <a:extLst>
              <a:ext uri="{FF2B5EF4-FFF2-40B4-BE49-F238E27FC236}">
                <a16:creationId xmlns:a16="http://schemas.microsoft.com/office/drawing/2014/main" id="{27F228D4-A51C-40EE-9098-B14537BC079F}"/>
              </a:ext>
            </a:extLst>
          </p:cNvPr>
          <p:cNvSpPr>
            <a:spLocks noGrp="1"/>
          </p:cNvSpPr>
          <p:nvPr>
            <p:ph type="body" idx="1"/>
          </p:nvPr>
        </p:nvSpPr>
        <p:spPr>
          <a:xfrm>
            <a:off x="565150" y="609600"/>
            <a:ext cx="10972800" cy="738664"/>
          </a:xfrm>
        </p:spPr>
        <p:txBody>
          <a:bodyPr/>
          <a:lstStyle/>
          <a:p>
            <a:r>
              <a:rPr lang="en-US" sz="1600" dirty="0"/>
              <a:t>Let's see how the response of the MZI varies with the effective index. Vary the effective index of one of the arms and analyze how the spectrum shifts. To do this, you can use the data provided in the .txt files entitled ‘</a:t>
            </a:r>
            <a:r>
              <a:rPr lang="en-US" sz="1600" dirty="0" err="1"/>
              <a:t>SiN</a:t>
            </a:r>
            <a:r>
              <a:rPr lang="en-US" sz="1600" dirty="0"/>
              <a:t>’. Can you give an example of an application where this configuration is used?</a:t>
            </a:r>
          </a:p>
        </p:txBody>
      </p:sp>
      <p:sp>
        <p:nvSpPr>
          <p:cNvPr id="4" name="Marcador de pie de página 3">
            <a:extLst>
              <a:ext uri="{FF2B5EF4-FFF2-40B4-BE49-F238E27FC236}">
                <a16:creationId xmlns:a16="http://schemas.microsoft.com/office/drawing/2014/main" id="{338FF05A-ED09-4CC0-8362-6B9CD58E325D}"/>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9FE9DDCA-CE34-4D86-A0DA-89371ADD78E4}"/>
              </a:ext>
            </a:extLst>
          </p:cNvPr>
          <p:cNvSpPr>
            <a:spLocks noGrp="1"/>
          </p:cNvSpPr>
          <p:nvPr>
            <p:ph type="sldNum" sz="quarter" idx="7"/>
          </p:nvPr>
        </p:nvSpPr>
        <p:spPr/>
        <p:txBody>
          <a:bodyPr/>
          <a:lstStyle/>
          <a:p>
            <a:fld id="{B6F15528-21DE-4FAA-801E-634DDDAF4B2B}" type="slidenum">
              <a:rPr lang="es-ES" smtClean="0"/>
              <a:t>14</a:t>
            </a:fld>
            <a:endParaRPr lang="es-ES"/>
          </a:p>
        </p:txBody>
      </p:sp>
      <p:pic>
        <p:nvPicPr>
          <p:cNvPr id="7" name="Imagen 6">
            <a:extLst>
              <a:ext uri="{FF2B5EF4-FFF2-40B4-BE49-F238E27FC236}">
                <a16:creationId xmlns:a16="http://schemas.microsoft.com/office/drawing/2014/main" id="{5050DEE8-BE71-42B4-A91D-4B4B63AADC41}"/>
              </a:ext>
            </a:extLst>
          </p:cNvPr>
          <p:cNvPicPr>
            <a:picLocks noChangeAspect="1"/>
          </p:cNvPicPr>
          <p:nvPr/>
        </p:nvPicPr>
        <p:blipFill>
          <a:blip r:embed="rId2"/>
          <a:stretch>
            <a:fillRect/>
          </a:stretch>
        </p:blipFill>
        <p:spPr>
          <a:xfrm>
            <a:off x="461523" y="2189742"/>
            <a:ext cx="4112504" cy="3068058"/>
          </a:xfrm>
          <a:prstGeom prst="rect">
            <a:avLst/>
          </a:prstGeom>
        </p:spPr>
      </p:pic>
      <p:sp>
        <p:nvSpPr>
          <p:cNvPr id="11" name="CuadroTexto 10">
            <a:extLst>
              <a:ext uri="{FF2B5EF4-FFF2-40B4-BE49-F238E27FC236}">
                <a16:creationId xmlns:a16="http://schemas.microsoft.com/office/drawing/2014/main" id="{1F80AFB4-1BC5-4A10-B80C-F466D6BA1FB5}"/>
              </a:ext>
            </a:extLst>
          </p:cNvPr>
          <p:cNvSpPr txBox="1"/>
          <p:nvPr/>
        </p:nvSpPr>
        <p:spPr>
          <a:xfrm>
            <a:off x="4876800" y="1752600"/>
            <a:ext cx="6324600" cy="276999"/>
          </a:xfrm>
          <a:prstGeom prst="rect">
            <a:avLst/>
          </a:prstGeom>
          <a:noFill/>
        </p:spPr>
        <p:txBody>
          <a:bodyPr wrap="square" rtlCol="0">
            <a:spAutoFit/>
          </a:bodyPr>
          <a:lstStyle/>
          <a:p>
            <a:endParaRPr lang="es-ES" sz="1200" dirty="0"/>
          </a:p>
        </p:txBody>
      </p:sp>
      <mc:AlternateContent xmlns:mc="http://schemas.openxmlformats.org/markup-compatibility/2006">
        <mc:Choice xmlns:a14="http://schemas.microsoft.com/office/drawing/2010/main" Requires="a14">
          <p:sp>
            <p:nvSpPr>
              <p:cNvPr id="16" name="CuadroTexto 15">
                <a:extLst>
                  <a:ext uri="{FF2B5EF4-FFF2-40B4-BE49-F238E27FC236}">
                    <a16:creationId xmlns:a16="http://schemas.microsoft.com/office/drawing/2014/main" id="{2EC98946-20FD-4FF7-8E97-4236F82880DC}"/>
                  </a:ext>
                </a:extLst>
              </p:cNvPr>
              <p:cNvSpPr txBox="1"/>
              <p:nvPr/>
            </p:nvSpPr>
            <p:spPr>
              <a:xfrm>
                <a:off x="4876800" y="2625491"/>
                <a:ext cx="6629400" cy="2202911"/>
              </a:xfrm>
              <a:prstGeom prst="rect">
                <a:avLst/>
              </a:prstGeom>
              <a:noFill/>
            </p:spPr>
            <p:txBody>
              <a:bodyPr wrap="square" rtlCol="0">
                <a:spAutoFit/>
              </a:bodyPr>
              <a:lstStyle/>
              <a:p>
                <a:r>
                  <a:rPr lang="es-ES" sz="1400" dirty="0"/>
                  <a:t>Efecto de la variación del Índice Efectivo </a:t>
                </a:r>
                <a14:m>
                  <m:oMath xmlns:m="http://schemas.openxmlformats.org/officeDocument/2006/math">
                    <m:d>
                      <m:dPr>
                        <m:ctrlPr>
                          <a:rPr lang="es-ES" sz="1400" i="1" dirty="0" smtClean="0">
                            <a:latin typeface="Cambria Math" panose="02040503050406030204" pitchFamily="18" charset="0"/>
                          </a:rPr>
                        </m:ctrlPr>
                      </m:dPr>
                      <m:e>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𝑛</m:t>
                            </m:r>
                          </m:e>
                          <m:sub>
                            <m:r>
                              <a:rPr lang="es-ES" sz="1400" b="0" i="1" dirty="0" smtClean="0">
                                <a:latin typeface="Cambria Math" panose="02040503050406030204" pitchFamily="18" charset="0"/>
                              </a:rPr>
                              <m:t>𝑒𝑓𝑓</m:t>
                            </m:r>
                          </m:sub>
                        </m:sSub>
                      </m:e>
                    </m:d>
                  </m:oMath>
                </a14:m>
                <a:r>
                  <a:rPr lang="es-ES" sz="1400" dirty="0"/>
                  <a:t>:</a:t>
                </a:r>
              </a:p>
              <a:p>
                <a:pPr marL="285750" indent="-285750">
                  <a:buFont typeface="Arial" panose="020B0604020202020204" pitchFamily="34" charset="0"/>
                  <a:buChar char="•"/>
                </a:pPr>
                <a:r>
                  <a:rPr lang="es-ES" sz="1400" dirty="0"/>
                  <a:t>Al aumentar </a:t>
                </a:r>
                <a14:m>
                  <m:oMath xmlns:m="http://schemas.openxmlformats.org/officeDocument/2006/math">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𝑛</m:t>
                        </m:r>
                      </m:e>
                      <m:sub>
                        <m:r>
                          <a:rPr lang="es-ES" sz="1400" i="1" dirty="0" smtClean="0">
                            <a:latin typeface="Cambria Math" panose="02040503050406030204" pitchFamily="18" charset="0"/>
                          </a:rPr>
                          <m:t>𝑒𝑓𝑓</m:t>
                        </m:r>
                      </m:sub>
                    </m:sSub>
                  </m:oMath>
                </a14:m>
                <a:r>
                  <a:rPr lang="es-ES" sz="1400" dirty="0"/>
                  <a:t> en un brazo, el espectro se desplaza hacia longitudes de onda mayores.</a:t>
                </a:r>
              </a:p>
              <a:p>
                <a:pPr marL="285750" indent="-285750">
                  <a:buFont typeface="Arial" panose="020B0604020202020204" pitchFamily="34" charset="0"/>
                  <a:buChar char="•"/>
                </a:pPr>
                <a:endParaRPr lang="es-ES" sz="1400" dirty="0"/>
              </a:p>
              <a:p>
                <a:pPr marL="285750" indent="-285750">
                  <a:buFont typeface="Arial" panose="020B0604020202020204" pitchFamily="34" charset="0"/>
                  <a:buChar char="•"/>
                </a:pPr>
                <a:r>
                  <a:rPr lang="es-ES" sz="1400" dirty="0"/>
                  <a:t>La fase depende de </a:t>
                </a:r>
                <a14:m>
                  <m:oMath xmlns:m="http://schemas.openxmlformats.org/officeDocument/2006/math">
                    <m:r>
                      <m:rPr>
                        <m:sty m:val="p"/>
                      </m:rPr>
                      <a:rPr lang="es-ES" sz="1400" i="0" dirty="0" smtClean="0">
                        <a:latin typeface="Cambria Math" panose="02040503050406030204" pitchFamily="18" charset="0"/>
                      </a:rPr>
                      <m:t>Δ</m:t>
                    </m:r>
                    <m:r>
                      <a:rPr lang="es-ES" sz="1400" i="1" dirty="0" smtClean="0">
                        <a:latin typeface="Cambria Math" panose="02040503050406030204" pitchFamily="18" charset="0"/>
                      </a:rPr>
                      <m:t>𝜙</m:t>
                    </m:r>
                    <m:r>
                      <a:rPr lang="es-ES" sz="1400" i="1" dirty="0" smtClean="0">
                        <a:latin typeface="Cambria Math" panose="02040503050406030204" pitchFamily="18" charset="0"/>
                      </a:rPr>
                      <m:t>∝</m:t>
                    </m:r>
                    <m:f>
                      <m:fPr>
                        <m:ctrlPr>
                          <a:rPr lang="es-ES" sz="1400" i="1" dirty="0" smtClean="0">
                            <a:latin typeface="Cambria Math" panose="02040503050406030204" pitchFamily="18" charset="0"/>
                          </a:rPr>
                        </m:ctrlPr>
                      </m:fPr>
                      <m:num>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𝑛</m:t>
                            </m:r>
                          </m:e>
                          <m:sub>
                            <m:r>
                              <a:rPr lang="es-ES" sz="1400" i="1" dirty="0" smtClean="0">
                                <a:latin typeface="Cambria Math" panose="02040503050406030204" pitchFamily="18" charset="0"/>
                              </a:rPr>
                              <m:t>𝑒𝑓𝑓</m:t>
                            </m:r>
                          </m:sub>
                        </m:sSub>
                      </m:num>
                      <m:den>
                        <m:r>
                          <a:rPr lang="es-ES" sz="1400" i="1" dirty="0" smtClean="0">
                            <a:latin typeface="Cambria Math" panose="02040503050406030204" pitchFamily="18" charset="0"/>
                          </a:rPr>
                          <m:t>𝜆</m:t>
                        </m:r>
                      </m:den>
                    </m:f>
                  </m:oMath>
                </a14:m>
                <a:r>
                  <a:rPr lang="es-ES" sz="1400" dirty="0"/>
                  <a:t>. Para mantener la condición de interferencia constructiva </a:t>
                </a:r>
                <a14:m>
                  <m:oMath xmlns:m="http://schemas.openxmlformats.org/officeDocument/2006/math">
                    <m:d>
                      <m:dPr>
                        <m:ctrlPr>
                          <a:rPr lang="es-ES" sz="1400" i="1" dirty="0" smtClean="0">
                            <a:latin typeface="Cambria Math" panose="02040503050406030204" pitchFamily="18" charset="0"/>
                          </a:rPr>
                        </m:ctrlPr>
                      </m:dPr>
                      <m:e>
                        <m:r>
                          <a:rPr lang="es-ES" sz="1400" i="1" dirty="0" smtClean="0">
                            <a:latin typeface="Cambria Math" panose="02040503050406030204" pitchFamily="18" charset="0"/>
                          </a:rPr>
                          <m:t>𝑚</m:t>
                        </m:r>
                        <m:r>
                          <a:rPr lang="es-ES" sz="1400" i="1" dirty="0" smtClean="0">
                            <a:latin typeface="Cambria Math" panose="02040503050406030204" pitchFamily="18" charset="0"/>
                          </a:rPr>
                          <m:t>⋅2</m:t>
                        </m:r>
                        <m:r>
                          <a:rPr lang="es-ES" sz="1400" i="1" dirty="0" smtClean="0">
                            <a:latin typeface="Cambria Math" panose="02040503050406030204" pitchFamily="18" charset="0"/>
                          </a:rPr>
                          <m:t>𝜋</m:t>
                        </m:r>
                      </m:e>
                    </m:d>
                    <m:r>
                      <a:rPr lang="es-ES" sz="1400" i="1" dirty="0" smtClean="0">
                        <a:latin typeface="Cambria Math" panose="02040503050406030204" pitchFamily="18" charset="0"/>
                      </a:rPr>
                      <m:t>, </m:t>
                    </m:r>
                  </m:oMath>
                </a14:m>
                <a:r>
                  <a:rPr lang="es-ES" sz="1400" dirty="0"/>
                  <a:t>si </a:t>
                </a:r>
                <a14:m>
                  <m:oMath xmlns:m="http://schemas.openxmlformats.org/officeDocument/2006/math">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𝑛</m:t>
                        </m:r>
                      </m:e>
                      <m:sub>
                        <m:r>
                          <a:rPr lang="es-ES" sz="1400" i="1" dirty="0" smtClean="0">
                            <a:latin typeface="Cambria Math" panose="02040503050406030204" pitchFamily="18" charset="0"/>
                          </a:rPr>
                          <m:t>𝑒𝑓𝑓</m:t>
                        </m:r>
                      </m:sub>
                    </m:sSub>
                  </m:oMath>
                </a14:m>
                <a:r>
                  <a:rPr lang="es-ES" sz="1400" dirty="0"/>
                  <a:t> sube, </a:t>
                </a:r>
                <a14:m>
                  <m:oMath xmlns:m="http://schemas.openxmlformats.org/officeDocument/2006/math">
                    <m:r>
                      <a:rPr lang="es-ES" sz="1400" i="1" dirty="0" smtClean="0">
                        <a:latin typeface="Cambria Math" panose="02040503050406030204" pitchFamily="18" charset="0"/>
                      </a:rPr>
                      <m:t>𝜆</m:t>
                    </m:r>
                    <m:r>
                      <a:rPr lang="es-ES" sz="1400" i="1" dirty="0" smtClean="0">
                        <a:latin typeface="Cambria Math" panose="02040503050406030204" pitchFamily="18" charset="0"/>
                      </a:rPr>
                      <m:t> </m:t>
                    </m:r>
                  </m:oMath>
                </a14:m>
                <a:r>
                  <a:rPr lang="es-ES" sz="1400" dirty="0"/>
                  <a:t>debe subir.</a:t>
                </a:r>
              </a:p>
              <a:p>
                <a:pPr marL="285750" indent="-285750">
                  <a:buFont typeface="Arial" panose="020B0604020202020204" pitchFamily="34" charset="0"/>
                  <a:buChar char="•"/>
                </a:pPr>
                <a:endParaRPr lang="es-ES" sz="1400" dirty="0"/>
              </a:p>
              <a:p>
                <a:pPr marL="285750" indent="-285750">
                  <a:buFont typeface="Arial" panose="020B0604020202020204" pitchFamily="34" charset="0"/>
                  <a:buChar char="•"/>
                </a:pPr>
                <a:r>
                  <a:rPr lang="es-ES" sz="1400" dirty="0"/>
                  <a:t>Aplicación: Moduladores electro-ópticos. Se cambia </a:t>
                </a:r>
                <a14:m>
                  <m:oMath xmlns:m="http://schemas.openxmlformats.org/officeDocument/2006/math">
                    <m:sSub>
                      <m:sSubPr>
                        <m:ctrlPr>
                          <a:rPr lang="es-ES" sz="1400" i="1" dirty="0" smtClean="0">
                            <a:latin typeface="Cambria Math" panose="02040503050406030204" pitchFamily="18" charset="0"/>
                          </a:rPr>
                        </m:ctrlPr>
                      </m:sSubPr>
                      <m:e>
                        <m:r>
                          <a:rPr lang="es-ES" sz="1400" i="1" dirty="0" smtClean="0">
                            <a:latin typeface="Cambria Math" panose="02040503050406030204" pitchFamily="18" charset="0"/>
                          </a:rPr>
                          <m:t>𝑛</m:t>
                        </m:r>
                      </m:e>
                      <m:sub>
                        <m:r>
                          <a:rPr lang="es-ES" sz="1400" i="1" dirty="0" smtClean="0">
                            <a:latin typeface="Cambria Math" panose="02040503050406030204" pitchFamily="18" charset="0"/>
                          </a:rPr>
                          <m:t>𝑒𝑓𝑓</m:t>
                        </m:r>
                      </m:sub>
                    </m:sSub>
                  </m:oMath>
                </a14:m>
                <a:r>
                  <a:rPr lang="es-ES" sz="1400" dirty="0"/>
                  <a:t> aplicando voltaje para desplazar el espectro y apagar/encender la luz (transmitir 0s y 1s).</a:t>
                </a:r>
              </a:p>
            </p:txBody>
          </p:sp>
        </mc:Choice>
        <mc:Fallback>
          <p:sp>
            <p:nvSpPr>
              <p:cNvPr id="16" name="CuadroTexto 15">
                <a:extLst>
                  <a:ext uri="{FF2B5EF4-FFF2-40B4-BE49-F238E27FC236}">
                    <a16:creationId xmlns:a16="http://schemas.microsoft.com/office/drawing/2014/main" id="{2EC98946-20FD-4FF7-8E97-4236F82880DC}"/>
                  </a:ext>
                </a:extLst>
              </p:cNvPr>
              <p:cNvSpPr txBox="1">
                <a:spLocks noRot="1" noChangeAspect="1" noMove="1" noResize="1" noEditPoints="1" noAdjustHandles="1" noChangeArrowheads="1" noChangeShapeType="1" noTextEdit="1"/>
              </p:cNvSpPr>
              <p:nvPr/>
            </p:nvSpPr>
            <p:spPr>
              <a:xfrm>
                <a:off x="4876800" y="2625491"/>
                <a:ext cx="6629400" cy="2202911"/>
              </a:xfrm>
              <a:prstGeom prst="rect">
                <a:avLst/>
              </a:prstGeom>
              <a:blipFill>
                <a:blip r:embed="rId3"/>
                <a:stretch>
                  <a:fillRect l="-276" b="-1939"/>
                </a:stretch>
              </a:blipFill>
            </p:spPr>
            <p:txBody>
              <a:bodyPr/>
              <a:lstStyle/>
              <a:p>
                <a:r>
                  <a:rPr lang="es-ES">
                    <a:noFill/>
                  </a:rPr>
                  <a:t> </a:t>
                </a:r>
              </a:p>
            </p:txBody>
          </p:sp>
        </mc:Fallback>
      </mc:AlternateContent>
    </p:spTree>
    <p:extLst>
      <p:ext uri="{BB962C8B-B14F-4D97-AF65-F5344CB8AC3E}">
        <p14:creationId xmlns:p14="http://schemas.microsoft.com/office/powerpoint/2010/main" val="1237145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565FE7-19F0-450F-8F6F-55D2FDAE90A6}"/>
              </a:ext>
            </a:extLst>
          </p:cNvPr>
          <p:cNvSpPr>
            <a:spLocks noGrp="1"/>
          </p:cNvSpPr>
          <p:nvPr>
            <p:ph type="title"/>
          </p:nvPr>
        </p:nvSpPr>
        <p:spPr/>
        <p:txBody>
          <a:bodyPr/>
          <a:lstStyle/>
          <a:p>
            <a:r>
              <a:rPr lang="en-US" b="1" dirty="0"/>
              <a:t>Assessment 6</a:t>
            </a:r>
            <a:endParaRPr lang="es-ES" dirty="0"/>
          </a:p>
        </p:txBody>
      </p:sp>
      <p:sp>
        <p:nvSpPr>
          <p:cNvPr id="3" name="Marcador de texto 2">
            <a:extLst>
              <a:ext uri="{FF2B5EF4-FFF2-40B4-BE49-F238E27FC236}">
                <a16:creationId xmlns:a16="http://schemas.microsoft.com/office/drawing/2014/main" id="{27F228D4-A51C-40EE-9098-B14537BC079F}"/>
              </a:ext>
            </a:extLst>
          </p:cNvPr>
          <p:cNvSpPr>
            <a:spLocks noGrp="1"/>
          </p:cNvSpPr>
          <p:nvPr>
            <p:ph type="body" idx="1"/>
          </p:nvPr>
        </p:nvSpPr>
        <p:spPr>
          <a:xfrm>
            <a:off x="565150" y="609600"/>
            <a:ext cx="10972800" cy="492443"/>
          </a:xfrm>
        </p:spPr>
        <p:txBody>
          <a:bodyPr/>
          <a:lstStyle/>
          <a:p>
            <a:r>
              <a:rPr lang="en-US" sz="1600" dirty="0"/>
              <a:t>Explore how cascading two MZIs affects the transmission spectrum. To do so, design a system in which two MZIs are cascaded. Simulate and observe the spectrum, explaining how the transmission peaks behave</a:t>
            </a:r>
            <a:r>
              <a:rPr lang="en-US" sz="1600" b="1" dirty="0"/>
              <a:t>.</a:t>
            </a:r>
            <a:endParaRPr lang="es-ES" dirty="0"/>
          </a:p>
        </p:txBody>
      </p:sp>
      <p:sp>
        <p:nvSpPr>
          <p:cNvPr id="4" name="Marcador de pie de página 3">
            <a:extLst>
              <a:ext uri="{FF2B5EF4-FFF2-40B4-BE49-F238E27FC236}">
                <a16:creationId xmlns:a16="http://schemas.microsoft.com/office/drawing/2014/main" id="{338FF05A-ED09-4CC0-8362-6B9CD58E325D}"/>
              </a:ext>
            </a:extLst>
          </p:cNvPr>
          <p:cNvSpPr>
            <a:spLocks noGrp="1"/>
          </p:cNvSpPr>
          <p:nvPr>
            <p:ph type="ftr" sz="quarter" idx="5"/>
          </p:nvPr>
        </p:nvSpPr>
        <p:spPr/>
        <p:txBody>
          <a:bodyPr/>
          <a:lstStyle/>
          <a:p>
            <a:pPr marL="12700">
              <a:spcBef>
                <a:spcPts val="15"/>
              </a:spcBef>
            </a:pPr>
            <a:r>
              <a:rPr lang="es-ES" spc="-5"/>
              <a:t>LAB 3. INTERFEROMETERS I</a:t>
            </a:r>
            <a:endParaRPr lang="es-ES" spc="-5" dirty="0"/>
          </a:p>
        </p:txBody>
      </p:sp>
      <p:sp>
        <p:nvSpPr>
          <p:cNvPr id="5" name="Marcador de número de diapositiva 4">
            <a:extLst>
              <a:ext uri="{FF2B5EF4-FFF2-40B4-BE49-F238E27FC236}">
                <a16:creationId xmlns:a16="http://schemas.microsoft.com/office/drawing/2014/main" id="{9FE9DDCA-CE34-4D86-A0DA-89371ADD78E4}"/>
              </a:ext>
            </a:extLst>
          </p:cNvPr>
          <p:cNvSpPr>
            <a:spLocks noGrp="1"/>
          </p:cNvSpPr>
          <p:nvPr>
            <p:ph type="sldNum" sz="quarter" idx="7"/>
          </p:nvPr>
        </p:nvSpPr>
        <p:spPr/>
        <p:txBody>
          <a:bodyPr/>
          <a:lstStyle/>
          <a:p>
            <a:fld id="{B6F15528-21DE-4FAA-801E-634DDDAF4B2B}" type="slidenum">
              <a:rPr lang="es-ES" smtClean="0"/>
              <a:t>15</a:t>
            </a:fld>
            <a:endParaRPr lang="es-ES"/>
          </a:p>
        </p:txBody>
      </p:sp>
      <p:pic>
        <p:nvPicPr>
          <p:cNvPr id="11" name="Imagen 10">
            <a:extLst>
              <a:ext uri="{FF2B5EF4-FFF2-40B4-BE49-F238E27FC236}">
                <a16:creationId xmlns:a16="http://schemas.microsoft.com/office/drawing/2014/main" id="{5B58206D-25E5-44F4-8855-C73B7453FD86}"/>
              </a:ext>
            </a:extLst>
          </p:cNvPr>
          <p:cNvPicPr>
            <a:picLocks noChangeAspect="1"/>
          </p:cNvPicPr>
          <p:nvPr/>
        </p:nvPicPr>
        <p:blipFill>
          <a:blip r:embed="rId2"/>
          <a:stretch>
            <a:fillRect/>
          </a:stretch>
        </p:blipFill>
        <p:spPr>
          <a:xfrm>
            <a:off x="381000" y="1905000"/>
            <a:ext cx="5109275" cy="3048000"/>
          </a:xfrm>
          <a:prstGeom prst="rect">
            <a:avLst/>
          </a:prstGeom>
        </p:spPr>
      </p:pic>
      <p:sp>
        <p:nvSpPr>
          <p:cNvPr id="12" name="CuadroTexto 11">
            <a:extLst>
              <a:ext uri="{FF2B5EF4-FFF2-40B4-BE49-F238E27FC236}">
                <a16:creationId xmlns:a16="http://schemas.microsoft.com/office/drawing/2014/main" id="{53D1FBE6-4CF0-444D-9DA2-11C5E7DC8E5D}"/>
              </a:ext>
            </a:extLst>
          </p:cNvPr>
          <p:cNvSpPr txBox="1"/>
          <p:nvPr/>
        </p:nvSpPr>
        <p:spPr>
          <a:xfrm>
            <a:off x="5867400" y="2628781"/>
            <a:ext cx="5562600" cy="1600438"/>
          </a:xfrm>
          <a:prstGeom prst="rect">
            <a:avLst/>
          </a:prstGeom>
          <a:noFill/>
        </p:spPr>
        <p:txBody>
          <a:bodyPr wrap="square" rtlCol="0">
            <a:spAutoFit/>
          </a:bodyPr>
          <a:lstStyle/>
          <a:p>
            <a:r>
              <a:rPr lang="es-ES" sz="1400" dirty="0"/>
              <a:t>Al colocar los dos MZI en cascada, la transmisión resultante es el producto de sus respuestas individuales, lo que crea un filtro aun más selectivo. La máxima transmisión solo se logra cuando los picos de ambos interferómetros coinciden perfectamente, como ocurre a 1550 nm. Esto provoca que los picos adyacentes que no coinciden queden fuertemente atenuados y aumenta drásticamente el FSR global del sistema, distanciando los máximos principales.</a:t>
            </a:r>
          </a:p>
        </p:txBody>
      </p:sp>
    </p:spTree>
    <p:extLst>
      <p:ext uri="{BB962C8B-B14F-4D97-AF65-F5344CB8AC3E}">
        <p14:creationId xmlns:p14="http://schemas.microsoft.com/office/powerpoint/2010/main" val="2938817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16</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1840</TotalTime>
  <Words>1796</Words>
  <Application>Microsoft Office PowerPoint</Application>
  <PresentationFormat>Panorámica</PresentationFormat>
  <Paragraphs>168</Paragraphs>
  <Slides>16</Slides>
  <Notes>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vt:i4>
      </vt:variant>
    </vt:vector>
  </HeadingPairs>
  <TitlesOfParts>
    <vt:vector size="23" baseType="lpstr">
      <vt:lpstr>Aptos</vt:lpstr>
      <vt:lpstr>Arial</vt:lpstr>
      <vt:lpstr>Calibri</vt:lpstr>
      <vt:lpstr>Cambria Math</vt:lpstr>
      <vt:lpstr>Courier New</vt:lpstr>
      <vt:lpstr>Lucida Sans</vt:lpstr>
      <vt:lpstr>Office Theme</vt:lpstr>
      <vt:lpstr>Presentación de PowerPoint</vt:lpstr>
      <vt:lpstr>Instructions General</vt:lpstr>
      <vt:lpstr>ASSESSMENT #1 – Recap from theory – MZI configurations </vt:lpstr>
      <vt:lpstr>Implementation for each one of the configurations studied during MZI lecture</vt:lpstr>
      <vt:lpstr>Implementation for each one of the configurations studied during MZI lecture</vt:lpstr>
      <vt:lpstr>Implementation for each one of the configurations studied during MZI lecture</vt:lpstr>
      <vt:lpstr>Compute also some examples with α≠0 and γ≠0</vt:lpstr>
      <vt:lpstr>ASSESSMENT #2 – Recap from theory – Calculation of ΔL  </vt:lpstr>
      <vt:lpstr>ASSESSMENT #3 – SAX implementation  </vt:lpstr>
      <vt:lpstr>Código empleado para obtener la función de transferencia empleando el modelado SAX  </vt:lpstr>
      <vt:lpstr>Comparative plot of the models</vt:lpstr>
      <vt:lpstr>Extra assessments </vt:lpstr>
      <vt:lpstr>Assessment 4</vt:lpstr>
      <vt:lpstr>Assessment 5</vt:lpstr>
      <vt:lpstr>Assessment 6</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cfp</cp:lastModifiedBy>
  <cp:revision>53</cp:revision>
  <dcterms:created xsi:type="dcterms:W3CDTF">2025-01-27T02:46:57Z</dcterms:created>
  <dcterms:modified xsi:type="dcterms:W3CDTF">2026-03-23T10:00:48Z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