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0" r:id="rId4"/>
    <p:sldId id="297" r:id="rId5"/>
    <p:sldId id="298" r:id="rId6"/>
    <p:sldId id="299" r:id="rId7"/>
    <p:sldId id="300" r:id="rId8"/>
    <p:sldId id="301" r:id="rId9"/>
    <p:sldId id="295" r:id="rId10"/>
    <p:sldId id="296" r:id="rId11"/>
    <p:sldId id="302" r:id="rId12"/>
    <p:sldId id="303" r:id="rId13"/>
    <p:sldId id="293" r:id="rId14"/>
    <p:sldId id="304" r:id="rId15"/>
    <p:sldId id="305" r:id="rId16"/>
    <p:sldId id="306"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6.png"/><Relationship Id="rId7" Type="http://schemas.openxmlformats.org/officeDocument/2006/relationships/image" Target="../media/image12.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20.png"/><Relationship Id="rId7"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2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0.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BBEC5D-83DF-49B5-BC30-A54871D1D4F9}"/>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CAAF7831-4555-450A-A8CE-008D3C87129C}"/>
              </a:ext>
            </a:extLst>
          </p:cNvPr>
          <p:cNvSpPr>
            <a:spLocks noGrp="1"/>
          </p:cNvSpPr>
          <p:nvPr>
            <p:ph type="body" idx="1"/>
          </p:nvPr>
        </p:nvSpPr>
        <p:spPr>
          <a:xfrm>
            <a:off x="770467" y="989111"/>
            <a:ext cx="2590800" cy="307777"/>
          </a:xfrm>
        </p:spPr>
        <p:txBody>
          <a:bodyPr/>
          <a:lstStyle/>
          <a:p>
            <a:r>
              <a:rPr lang="en-US" sz="1800" dirty="0"/>
              <a:t>1. Balanced configuration</a:t>
            </a:r>
          </a:p>
          <a:p>
            <a:endParaRPr lang="es-ES" dirty="0"/>
          </a:p>
        </p:txBody>
      </p:sp>
      <p:sp>
        <p:nvSpPr>
          <p:cNvPr id="4" name="Marcador de pie de página 3">
            <a:extLst>
              <a:ext uri="{FF2B5EF4-FFF2-40B4-BE49-F238E27FC236}">
                <a16:creationId xmlns:a16="http://schemas.microsoft.com/office/drawing/2014/main" id="{4ADB8334-3F80-456C-8283-72FAAFAF378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F28D302-4654-40DA-8469-CC4C033D6CD6}"/>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AA24FF34-9025-4DC5-A78E-A270E346B6C5}"/>
              </a:ext>
            </a:extLst>
          </p:cNvPr>
          <p:cNvPicPr>
            <a:picLocks noChangeAspect="1"/>
          </p:cNvPicPr>
          <p:nvPr/>
        </p:nvPicPr>
        <p:blipFill>
          <a:blip r:embed="rId2"/>
          <a:stretch>
            <a:fillRect/>
          </a:stretch>
        </p:blipFill>
        <p:spPr>
          <a:xfrm>
            <a:off x="381000" y="1902526"/>
            <a:ext cx="3988190" cy="3200400"/>
          </a:xfrm>
          <a:prstGeom prst="rect">
            <a:avLst/>
          </a:prstGeom>
        </p:spPr>
      </p:pic>
      <p:sp>
        <p:nvSpPr>
          <p:cNvPr id="14" name="CuadroTexto 13">
            <a:extLst>
              <a:ext uri="{FF2B5EF4-FFF2-40B4-BE49-F238E27FC236}">
                <a16:creationId xmlns:a16="http://schemas.microsoft.com/office/drawing/2014/main" id="{7E539A9C-2056-4998-806D-73C8753C9A85}"/>
              </a:ext>
            </a:extLst>
          </p:cNvPr>
          <p:cNvSpPr txBox="1"/>
          <p:nvPr/>
        </p:nvSpPr>
        <p:spPr>
          <a:xfrm>
            <a:off x="4800600" y="2348564"/>
            <a:ext cx="6934200" cy="2308324"/>
          </a:xfrm>
          <a:prstGeom prst="rect">
            <a:avLst/>
          </a:prstGeom>
          <a:noFill/>
        </p:spPr>
        <p:txBody>
          <a:bodyPr wrap="square" rtlCol="0">
            <a:spAutoFit/>
          </a:bodyPr>
          <a:lstStyle/>
          <a:p>
            <a:r>
              <a:rPr lang="en-US" sz="1200" dirty="0"/>
              <a:t>• Why does a perfectly balanced MZI (ΔL = 0, identical arms and 50:50 couplers) not exhibit spectral periodicity? </a:t>
            </a:r>
          </a:p>
          <a:p>
            <a:endParaRPr lang="en-US" sz="1200" dirty="0"/>
          </a:p>
          <a:p>
            <a:endParaRPr lang="en-US" sz="1200" dirty="0"/>
          </a:p>
          <a:p>
            <a:endParaRPr lang="en-US" sz="1200" dirty="0"/>
          </a:p>
          <a:p>
            <a:r>
              <a:rPr lang="en-US" sz="1200" dirty="0"/>
              <a:t>• What happens to the output transmission if the coupling ratio deviates from 50:50? </a:t>
            </a:r>
          </a:p>
          <a:p>
            <a:endParaRPr lang="en-US" sz="1200" dirty="0"/>
          </a:p>
          <a:p>
            <a:endParaRPr lang="en-US" sz="1200" dirty="0"/>
          </a:p>
          <a:p>
            <a:endParaRPr lang="en-US" sz="1200" dirty="0"/>
          </a:p>
          <a:p>
            <a:r>
              <a:rPr lang="en-US" sz="1200" dirty="0"/>
              <a:t>• How does excess loss (γ ≠ 0) affect the output ports in a balanced MZI? </a:t>
            </a:r>
          </a:p>
          <a:p>
            <a:endParaRPr lang="en-US" sz="1200" dirty="0"/>
          </a:p>
          <a:p>
            <a:endParaRPr lang="es-ES" sz="1200" dirty="0"/>
          </a:p>
        </p:txBody>
      </p:sp>
    </p:spTree>
    <p:extLst>
      <p:ext uri="{BB962C8B-B14F-4D97-AF65-F5344CB8AC3E}">
        <p14:creationId xmlns:p14="http://schemas.microsoft.com/office/powerpoint/2010/main" val="28349180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FBF3E6-DA0F-4585-80D3-56DE53871D4A}"/>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02BC32C3-529A-4E52-9133-A834239450EA}"/>
              </a:ext>
            </a:extLst>
          </p:cNvPr>
          <p:cNvSpPr>
            <a:spLocks noGrp="1"/>
          </p:cNvSpPr>
          <p:nvPr>
            <p:ph type="body" idx="1"/>
          </p:nvPr>
        </p:nvSpPr>
        <p:spPr>
          <a:xfrm>
            <a:off x="5105400" y="2133600"/>
            <a:ext cx="6477000" cy="2215991"/>
          </a:xfrm>
        </p:spPr>
        <p:txBody>
          <a:bodyPr/>
          <a:lstStyle/>
          <a:p>
            <a:r>
              <a:rPr lang="en-US" sz="1200" dirty="0"/>
              <a:t>• If both arms have the same physical length but different propagation constants (βu ≠ βd), what generates the phase difference? </a:t>
            </a:r>
          </a:p>
          <a:p>
            <a:endParaRPr lang="en-US" sz="1200" dirty="0"/>
          </a:p>
          <a:p>
            <a:endParaRPr lang="en-US" sz="1200" dirty="0"/>
          </a:p>
          <a:p>
            <a:endParaRPr lang="en-US" sz="1200" dirty="0"/>
          </a:p>
          <a:p>
            <a:r>
              <a:rPr lang="en-US" sz="1200" dirty="0"/>
              <a:t>• Why are the two output ports complementary (H21 = cos²(</a:t>
            </a:r>
            <a:r>
              <a:rPr lang="en-US" sz="1200" dirty="0" err="1"/>
              <a:t>Δφ</a:t>
            </a:r>
            <a:r>
              <a:rPr lang="en-US" sz="1200" dirty="0"/>
              <a:t>/2), H22 = sin²(</a:t>
            </a:r>
            <a:r>
              <a:rPr lang="en-US" sz="1200" dirty="0" err="1"/>
              <a:t>Δφ</a:t>
            </a:r>
            <a:r>
              <a:rPr lang="en-US" sz="1200" dirty="0"/>
              <a:t>/2))? </a:t>
            </a:r>
          </a:p>
          <a:p>
            <a:endParaRPr lang="en-US" sz="1200" dirty="0"/>
          </a:p>
          <a:p>
            <a:endParaRPr lang="en-US" sz="1200" dirty="0"/>
          </a:p>
          <a:p>
            <a:endParaRPr lang="en-US" sz="1200" dirty="0"/>
          </a:p>
          <a:p>
            <a:r>
              <a:rPr lang="en-US" sz="1200" dirty="0"/>
              <a:t>• Under what condition can the MZI behave as a tunable power coupler rather than a wavelength filter?</a:t>
            </a:r>
          </a:p>
          <a:p>
            <a:endParaRPr lang="en-US" sz="1200" dirty="0"/>
          </a:p>
          <a:p>
            <a:r>
              <a:rPr lang="en-US" sz="1200" dirty="0"/>
              <a:t> </a:t>
            </a:r>
            <a:endParaRPr lang="es-ES" sz="1200" dirty="0"/>
          </a:p>
        </p:txBody>
      </p:sp>
      <p:sp>
        <p:nvSpPr>
          <p:cNvPr id="4" name="Marcador de pie de página 3">
            <a:extLst>
              <a:ext uri="{FF2B5EF4-FFF2-40B4-BE49-F238E27FC236}">
                <a16:creationId xmlns:a16="http://schemas.microsoft.com/office/drawing/2014/main" id="{5307C851-7FB9-4403-94B0-3611DBFDE00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1CF9BBD-A73B-4DDA-BC69-3CD31552620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6" name="Marcador de texto 2">
            <a:extLst>
              <a:ext uri="{FF2B5EF4-FFF2-40B4-BE49-F238E27FC236}">
                <a16:creationId xmlns:a16="http://schemas.microsoft.com/office/drawing/2014/main" id="{1BAC312F-6919-4325-9A80-565BF7B9BA7C}"/>
              </a:ext>
            </a:extLst>
          </p:cNvPr>
          <p:cNvSpPr txBox="1">
            <a:spLocks/>
          </p:cNvSpPr>
          <p:nvPr/>
        </p:nvSpPr>
        <p:spPr>
          <a:xfrm>
            <a:off x="381000" y="867966"/>
            <a:ext cx="3157538" cy="553998"/>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 Unbalanced configuration:</a:t>
            </a:r>
          </a:p>
          <a:p>
            <a:pPr lvl="1"/>
            <a:r>
              <a:rPr lang="en-US" sz="1800" dirty="0"/>
              <a:t>  2.1.   Phase difference</a:t>
            </a:r>
            <a:endParaRPr lang="es-ES" kern="0" dirty="0">
              <a:solidFill>
                <a:sysClr val="windowText" lastClr="000000"/>
              </a:solidFill>
            </a:endParaRPr>
          </a:p>
        </p:txBody>
      </p:sp>
      <p:pic>
        <p:nvPicPr>
          <p:cNvPr id="9" name="Imagen 8">
            <a:extLst>
              <a:ext uri="{FF2B5EF4-FFF2-40B4-BE49-F238E27FC236}">
                <a16:creationId xmlns:a16="http://schemas.microsoft.com/office/drawing/2014/main" id="{862D94F1-FCCA-49CD-8797-4BEE165BB17C}"/>
              </a:ext>
            </a:extLst>
          </p:cNvPr>
          <p:cNvPicPr>
            <a:picLocks noChangeAspect="1"/>
          </p:cNvPicPr>
          <p:nvPr/>
        </p:nvPicPr>
        <p:blipFill>
          <a:blip r:embed="rId2"/>
          <a:stretch>
            <a:fillRect/>
          </a:stretch>
        </p:blipFill>
        <p:spPr>
          <a:xfrm>
            <a:off x="457200" y="1891710"/>
            <a:ext cx="3962401" cy="3130021"/>
          </a:xfrm>
          <a:prstGeom prst="rect">
            <a:avLst/>
          </a:prstGeom>
        </p:spPr>
      </p:pic>
    </p:spTree>
    <p:extLst>
      <p:ext uri="{BB962C8B-B14F-4D97-AF65-F5344CB8AC3E}">
        <p14:creationId xmlns:p14="http://schemas.microsoft.com/office/powerpoint/2010/main" val="2432528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21320E-38EE-4D80-A7E3-C8C97A61F7DD}"/>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757077C7-5B79-4535-82AA-5A6DF81ED587}"/>
              </a:ext>
            </a:extLst>
          </p:cNvPr>
          <p:cNvSpPr>
            <a:spLocks noGrp="1"/>
          </p:cNvSpPr>
          <p:nvPr>
            <p:ph type="body" idx="1"/>
          </p:nvPr>
        </p:nvSpPr>
        <p:spPr>
          <a:xfrm>
            <a:off x="4800600" y="2133600"/>
            <a:ext cx="6781800" cy="2031325"/>
          </a:xfrm>
        </p:spPr>
        <p:txBody>
          <a:bodyPr/>
          <a:lstStyle/>
          <a:p>
            <a:r>
              <a:rPr lang="en-US" sz="1200" dirty="0"/>
              <a:t>• How does increasing the path length difference ΔL affect the Free Spectral Range (FSR)? </a:t>
            </a:r>
          </a:p>
          <a:p>
            <a:endParaRPr lang="en-US" sz="1200" dirty="0"/>
          </a:p>
          <a:p>
            <a:endParaRPr lang="en-US" sz="1200" dirty="0"/>
          </a:p>
          <a:p>
            <a:endParaRPr lang="en-US" sz="1200" dirty="0"/>
          </a:p>
          <a:p>
            <a:r>
              <a:rPr lang="en-US" sz="1200" dirty="0"/>
              <a:t>• Why does dispersion (wavelength dependence of β) cause the interference fringes to appear chirped? </a:t>
            </a:r>
          </a:p>
          <a:p>
            <a:endParaRPr lang="en-US" sz="1200" dirty="0"/>
          </a:p>
          <a:p>
            <a:endParaRPr lang="en-US" sz="1200" dirty="0"/>
          </a:p>
          <a:p>
            <a:endParaRPr lang="en-US" sz="1200" dirty="0"/>
          </a:p>
          <a:p>
            <a:r>
              <a:rPr lang="en-US" sz="1200" dirty="0"/>
              <a:t>• What role does the group index ng play in determining the spectral period? </a:t>
            </a:r>
          </a:p>
          <a:p>
            <a:endParaRPr lang="en-US" sz="1200" dirty="0"/>
          </a:p>
          <a:p>
            <a:endParaRPr lang="es-ES" sz="1200" dirty="0"/>
          </a:p>
        </p:txBody>
      </p:sp>
      <p:sp>
        <p:nvSpPr>
          <p:cNvPr id="4" name="Marcador de pie de página 3">
            <a:extLst>
              <a:ext uri="{FF2B5EF4-FFF2-40B4-BE49-F238E27FC236}">
                <a16:creationId xmlns:a16="http://schemas.microsoft.com/office/drawing/2014/main" id="{70F8806D-49F9-4194-B765-F50FD2E2C10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E0F7F19-FB8E-4918-96D2-BCB0EFD33E93}"/>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Marcador de texto 2">
            <a:extLst>
              <a:ext uri="{FF2B5EF4-FFF2-40B4-BE49-F238E27FC236}">
                <a16:creationId xmlns:a16="http://schemas.microsoft.com/office/drawing/2014/main" id="{59C8FC7F-4438-4200-8257-803FEC768C30}"/>
              </a:ext>
            </a:extLst>
          </p:cNvPr>
          <p:cNvSpPr txBox="1">
            <a:spLocks/>
          </p:cNvSpPr>
          <p:nvPr/>
        </p:nvSpPr>
        <p:spPr>
          <a:xfrm>
            <a:off x="590550" y="867966"/>
            <a:ext cx="259080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2.2.   Delay imbalance</a:t>
            </a:r>
          </a:p>
        </p:txBody>
      </p:sp>
      <p:pic>
        <p:nvPicPr>
          <p:cNvPr id="7" name="Imagen 6">
            <a:extLst>
              <a:ext uri="{FF2B5EF4-FFF2-40B4-BE49-F238E27FC236}">
                <a16:creationId xmlns:a16="http://schemas.microsoft.com/office/drawing/2014/main" id="{4958ABB4-BBD4-4718-832D-50FE47808E9E}"/>
              </a:ext>
            </a:extLst>
          </p:cNvPr>
          <p:cNvPicPr>
            <a:picLocks noChangeAspect="1"/>
          </p:cNvPicPr>
          <p:nvPr/>
        </p:nvPicPr>
        <p:blipFill>
          <a:blip r:embed="rId2"/>
          <a:stretch>
            <a:fillRect/>
          </a:stretch>
        </p:blipFill>
        <p:spPr>
          <a:xfrm>
            <a:off x="556683" y="1861656"/>
            <a:ext cx="3567417" cy="2862743"/>
          </a:xfrm>
          <a:prstGeom prst="rect">
            <a:avLst/>
          </a:prstGeom>
        </p:spPr>
      </p:pic>
    </p:spTree>
    <p:extLst>
      <p:ext uri="{BB962C8B-B14F-4D97-AF65-F5344CB8AC3E}">
        <p14:creationId xmlns:p14="http://schemas.microsoft.com/office/powerpoint/2010/main" val="3609342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21320E-38EE-4D80-A7E3-C8C97A61F7DD}"/>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757077C7-5B79-4535-82AA-5A6DF81ED587}"/>
              </a:ext>
            </a:extLst>
          </p:cNvPr>
          <p:cNvSpPr>
            <a:spLocks noGrp="1"/>
          </p:cNvSpPr>
          <p:nvPr>
            <p:ph type="body" idx="1"/>
          </p:nvPr>
        </p:nvSpPr>
        <p:spPr>
          <a:xfrm>
            <a:off x="4800600" y="2133600"/>
            <a:ext cx="6781800" cy="2215991"/>
          </a:xfrm>
        </p:spPr>
        <p:txBody>
          <a:bodyPr/>
          <a:lstStyle/>
          <a:p>
            <a:r>
              <a:rPr lang="en-US" sz="1200" dirty="0"/>
              <a:t>• Why does unequal power splitting (Ka ≠ </a:t>
            </a:r>
            <a:r>
              <a:rPr lang="en-US" sz="1200" dirty="0" err="1"/>
              <a:t>Kb</a:t>
            </a:r>
            <a:r>
              <a:rPr lang="en-US" sz="1200" dirty="0"/>
              <a:t>) reduce the extinction ratio? </a:t>
            </a:r>
          </a:p>
          <a:p>
            <a:endParaRPr lang="en-US" sz="1200" dirty="0"/>
          </a:p>
          <a:p>
            <a:endParaRPr lang="en-US" sz="1200" dirty="0"/>
          </a:p>
          <a:p>
            <a:endParaRPr lang="en-US" sz="1200" dirty="0"/>
          </a:p>
          <a:p>
            <a:r>
              <a:rPr lang="en-US" sz="1200" dirty="0"/>
              <a:t>• What condition between Ka and </a:t>
            </a:r>
            <a:r>
              <a:rPr lang="en-US" sz="1200" dirty="0" err="1"/>
              <a:t>Kb</a:t>
            </a:r>
            <a:r>
              <a:rPr lang="en-US" sz="1200" dirty="0"/>
              <a:t> maximizes rejection in the lossless case? </a:t>
            </a:r>
          </a:p>
          <a:p>
            <a:endParaRPr lang="en-US" sz="1200" dirty="0"/>
          </a:p>
          <a:p>
            <a:endParaRPr lang="en-US" sz="1200" dirty="0"/>
          </a:p>
          <a:p>
            <a:endParaRPr lang="en-US" sz="1200" dirty="0"/>
          </a:p>
          <a:p>
            <a:r>
              <a:rPr lang="en-US" sz="1200" dirty="0"/>
              <a:t>• How can the input coupler be designed to compensate for propagation loss imbalance between the two arms? </a:t>
            </a:r>
          </a:p>
          <a:p>
            <a:endParaRPr lang="es-ES" sz="1200" dirty="0"/>
          </a:p>
          <a:p>
            <a:endParaRPr lang="es-ES" sz="1200" dirty="0"/>
          </a:p>
        </p:txBody>
      </p:sp>
      <p:sp>
        <p:nvSpPr>
          <p:cNvPr id="4" name="Marcador de pie de página 3">
            <a:extLst>
              <a:ext uri="{FF2B5EF4-FFF2-40B4-BE49-F238E27FC236}">
                <a16:creationId xmlns:a16="http://schemas.microsoft.com/office/drawing/2014/main" id="{70F8806D-49F9-4194-B765-F50FD2E2C10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E0F7F19-FB8E-4918-96D2-BCB0EFD33E93}"/>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6" name="Marcador de texto 2">
            <a:extLst>
              <a:ext uri="{FF2B5EF4-FFF2-40B4-BE49-F238E27FC236}">
                <a16:creationId xmlns:a16="http://schemas.microsoft.com/office/drawing/2014/main" id="{59C8FC7F-4438-4200-8257-803FEC768C30}"/>
              </a:ext>
            </a:extLst>
          </p:cNvPr>
          <p:cNvSpPr txBox="1">
            <a:spLocks/>
          </p:cNvSpPr>
          <p:nvPr/>
        </p:nvSpPr>
        <p:spPr>
          <a:xfrm>
            <a:off x="590550" y="867966"/>
            <a:ext cx="299085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2.3.   Amplitude imbalance</a:t>
            </a:r>
          </a:p>
        </p:txBody>
      </p:sp>
      <p:pic>
        <p:nvPicPr>
          <p:cNvPr id="7" name="Imagen 6">
            <a:extLst>
              <a:ext uri="{FF2B5EF4-FFF2-40B4-BE49-F238E27FC236}">
                <a16:creationId xmlns:a16="http://schemas.microsoft.com/office/drawing/2014/main" id="{4958ABB4-BBD4-4718-832D-50FE47808E9E}"/>
              </a:ext>
            </a:extLst>
          </p:cNvPr>
          <p:cNvPicPr>
            <a:picLocks noChangeAspect="1"/>
          </p:cNvPicPr>
          <p:nvPr/>
        </p:nvPicPr>
        <p:blipFill>
          <a:blip r:embed="rId2"/>
          <a:stretch>
            <a:fillRect/>
          </a:stretch>
        </p:blipFill>
        <p:spPr>
          <a:xfrm>
            <a:off x="556683" y="1861656"/>
            <a:ext cx="3567417" cy="2862743"/>
          </a:xfrm>
          <a:prstGeom prst="rect">
            <a:avLst/>
          </a:prstGeom>
        </p:spPr>
      </p:pic>
    </p:spTree>
    <p:extLst>
      <p:ext uri="{BB962C8B-B14F-4D97-AF65-F5344CB8AC3E}">
        <p14:creationId xmlns:p14="http://schemas.microsoft.com/office/powerpoint/2010/main" val="2602257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116F5391-1C14-479E-8D7A-A3CACD44891A}"/>
                  </a:ext>
                </a:extLst>
              </p:cNvPr>
              <p:cNvSpPr>
                <a:spLocks noGrp="1"/>
              </p:cNvSpPr>
              <p:nvPr>
                <p:ph type="title"/>
              </p:nvPr>
            </p:nvSpPr>
            <p:spPr>
              <a:xfrm>
                <a:off x="590550" y="206752"/>
                <a:ext cx="10991850" cy="307777"/>
              </a:xfrm>
            </p:spPr>
            <p:txBody>
              <a:bodyPr/>
              <a:lstStyle/>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dirty="0"/>
              </a:p>
            </p:txBody>
          </p:sp>
        </mc:Choice>
        <mc:Fallback xmlns="">
          <p:sp>
            <p:nvSpPr>
              <p:cNvPr id="2" name="Título 1">
                <a:extLst>
                  <a:ext uri="{FF2B5EF4-FFF2-40B4-BE49-F238E27FC236}">
                    <a16:creationId xmlns:a16="http://schemas.microsoft.com/office/drawing/2014/main" id="{116F5391-1C14-479E-8D7A-A3CACD44891A}"/>
                  </a:ext>
                </a:extLst>
              </p:cNvPr>
              <p:cNvSpPr>
                <a:spLocks noGrp="1" noRot="1" noChangeAspect="1" noMove="1" noResize="1" noEditPoints="1" noAdjustHandles="1" noChangeArrowheads="1" noChangeShapeType="1" noTextEdit="1"/>
              </p:cNvSpPr>
              <p:nvPr>
                <p:ph type="title"/>
              </p:nvPr>
            </p:nvSpPr>
            <p:spPr>
              <a:xfrm>
                <a:off x="590550" y="206752"/>
                <a:ext cx="10991850" cy="307777"/>
              </a:xfrm>
              <a:blipFill>
                <a:blip r:embed="rId2"/>
                <a:stretch>
                  <a:fillRect l="-1442" t="-26000" b="-50000"/>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 name="Marcador de texto 2">
                <a:extLst>
                  <a:ext uri="{FF2B5EF4-FFF2-40B4-BE49-F238E27FC236}">
                    <a16:creationId xmlns:a16="http://schemas.microsoft.com/office/drawing/2014/main" id="{858B9E23-6139-4532-9AF8-6207C4DAF06C}"/>
                  </a:ext>
                </a:extLst>
              </p:cNvPr>
              <p:cNvSpPr>
                <a:spLocks noGrp="1"/>
              </p:cNvSpPr>
              <p:nvPr>
                <p:ph type="body" idx="1"/>
              </p:nvPr>
            </p:nvSpPr>
            <p:spPr>
              <a:xfrm>
                <a:off x="609600" y="5257800"/>
                <a:ext cx="10972800" cy="369332"/>
              </a:xfrm>
            </p:spPr>
            <p:txBody>
              <a:bodyPr/>
              <a:lstStyle/>
              <a:p>
                <a:r>
                  <a:rPr lang="es-ES" sz="1200" dirty="0"/>
                  <a:t>En este caso se ha optado por añadir </a:t>
                </a:r>
                <a14:m>
                  <m:oMath xmlns:m="http://schemas.openxmlformats.org/officeDocument/2006/math">
                    <m:r>
                      <m:rPr>
                        <m:sty m:val="p"/>
                      </m:rPr>
                      <a:rPr lang="es-ES" sz="1200" b="0" i="1" smtClean="0">
                        <a:latin typeface="Cambria Math" panose="02040503050406030204" pitchFamily="18" charset="0"/>
                      </a:rPr>
                      <m:t>α</m:t>
                    </m:r>
                    <m:r>
                      <a:rPr lang="es-ES" sz="1200" b="0" i="1" smtClean="0">
                        <a:latin typeface="Cambria Math" panose="02040503050406030204" pitchFamily="18" charset="0"/>
                      </a:rPr>
                      <m:t>=0.01</m:t>
                    </m:r>
                  </m:oMath>
                </a14:m>
                <a:r>
                  <a:rPr lang="es-ES" sz="1200" dirty="0"/>
                  <a:t> y </a:t>
                </a:r>
                <a14:m>
                  <m:oMath xmlns:m="http://schemas.openxmlformats.org/officeDocument/2006/math">
                    <m:r>
                      <m:rPr>
                        <m:sty m:val="p"/>
                      </m:rPr>
                      <a:rPr lang="es-ES" sz="1200" i="1">
                        <a:latin typeface="Cambria Math" panose="02040503050406030204" pitchFamily="18" charset="0"/>
                      </a:rPr>
                      <m:t>γ</m:t>
                    </m:r>
                    <m:r>
                      <a:rPr lang="es-ES" sz="1200" i="1">
                        <a:latin typeface="Cambria Math" panose="02040503050406030204" pitchFamily="18" charset="0"/>
                      </a:rPr>
                      <m:t>=0.01</m:t>
                    </m:r>
                  </m:oMath>
                </a14:m>
                <a:r>
                  <a:rPr lang="es-ES" sz="1200" dirty="0"/>
                  <a:t> simétricamente en ambos brazos. Podemos observar que hay una disminución de (…) debido a las perdidas insertadas en las guías de onda. </a:t>
                </a:r>
              </a:p>
            </p:txBody>
          </p:sp>
        </mc:Choice>
        <mc:Fallback xmlns="">
          <p:sp>
            <p:nvSpPr>
              <p:cNvPr id="3" name="Marcador de texto 2">
                <a:extLst>
                  <a:ext uri="{FF2B5EF4-FFF2-40B4-BE49-F238E27FC236}">
                    <a16:creationId xmlns:a16="http://schemas.microsoft.com/office/drawing/2014/main" id="{858B9E23-6139-4532-9AF8-6207C4DAF06C}"/>
                  </a:ext>
                </a:extLst>
              </p:cNvPr>
              <p:cNvSpPr>
                <a:spLocks noGrp="1" noRot="1" noChangeAspect="1" noMove="1" noResize="1" noEditPoints="1" noAdjustHandles="1" noChangeArrowheads="1" noChangeShapeType="1" noTextEdit="1"/>
              </p:cNvSpPr>
              <p:nvPr>
                <p:ph type="body" idx="1"/>
              </p:nvPr>
            </p:nvSpPr>
            <p:spPr>
              <a:xfrm>
                <a:off x="609600" y="5257800"/>
                <a:ext cx="10972800" cy="369332"/>
              </a:xfrm>
              <a:blipFill>
                <a:blip r:embed="rId3"/>
                <a:stretch>
                  <a:fillRect l="-833" t="-13333" r="-778" b="-25000"/>
                </a:stretch>
              </a:blipFill>
            </p:spPr>
            <p:txBody>
              <a:bodyPr/>
              <a:lstStyle/>
              <a:p>
                <a:r>
                  <a:rPr lang="es-ES">
                    <a:noFill/>
                  </a:rPr>
                  <a:t> </a:t>
                </a:r>
              </a:p>
            </p:txBody>
          </p:sp>
        </mc:Fallback>
      </mc:AlternateContent>
      <p:sp>
        <p:nvSpPr>
          <p:cNvPr id="4" name="Marcador de pie de página 3">
            <a:extLst>
              <a:ext uri="{FF2B5EF4-FFF2-40B4-BE49-F238E27FC236}">
                <a16:creationId xmlns:a16="http://schemas.microsoft.com/office/drawing/2014/main" id="{707C4FD9-5C8D-46FD-9563-44AFA9909127}"/>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2D45345-39EF-4410-A5EA-3FC8929E4713}"/>
              </a:ext>
            </a:extLst>
          </p:cNvPr>
          <p:cNvSpPr>
            <a:spLocks noGrp="1"/>
          </p:cNvSpPr>
          <p:nvPr>
            <p:ph type="sldNum" sz="quarter" idx="7"/>
          </p:nvPr>
        </p:nvSpPr>
        <p:spPr/>
        <p:txBody>
          <a:bodyPr/>
          <a:lstStyle/>
          <a:p>
            <a:fld id="{B6F15528-21DE-4FAA-801E-634DDDAF4B2B}" type="slidenum">
              <a:rPr lang="es-ES" smtClean="0"/>
              <a:t>8</a:t>
            </a:fld>
            <a:endParaRPr lang="es-ES" dirty="0"/>
          </a:p>
        </p:txBody>
      </p:sp>
      <p:pic>
        <p:nvPicPr>
          <p:cNvPr id="7" name="Imagen 6">
            <a:extLst>
              <a:ext uri="{FF2B5EF4-FFF2-40B4-BE49-F238E27FC236}">
                <a16:creationId xmlns:a16="http://schemas.microsoft.com/office/drawing/2014/main" id="{FFCB742A-0F25-420E-80CB-D2F46CA6BC8F}"/>
              </a:ext>
            </a:extLst>
          </p:cNvPr>
          <p:cNvPicPr>
            <a:picLocks noChangeAspect="1"/>
          </p:cNvPicPr>
          <p:nvPr/>
        </p:nvPicPr>
        <p:blipFill>
          <a:blip r:embed="rId4"/>
          <a:stretch>
            <a:fillRect/>
          </a:stretch>
        </p:blipFill>
        <p:spPr>
          <a:xfrm>
            <a:off x="885620" y="2876851"/>
            <a:ext cx="2683646" cy="2153543"/>
          </a:xfrm>
          <a:prstGeom prst="rect">
            <a:avLst/>
          </a:prstGeom>
        </p:spPr>
      </p:pic>
      <p:pic>
        <p:nvPicPr>
          <p:cNvPr id="11" name="Imagen 10">
            <a:extLst>
              <a:ext uri="{FF2B5EF4-FFF2-40B4-BE49-F238E27FC236}">
                <a16:creationId xmlns:a16="http://schemas.microsoft.com/office/drawing/2014/main" id="{8942B753-37AA-465F-B97B-332121C26AF4}"/>
              </a:ext>
            </a:extLst>
          </p:cNvPr>
          <p:cNvPicPr>
            <a:picLocks noChangeAspect="1"/>
          </p:cNvPicPr>
          <p:nvPr/>
        </p:nvPicPr>
        <p:blipFill>
          <a:blip r:embed="rId5"/>
          <a:stretch>
            <a:fillRect/>
          </a:stretch>
        </p:blipFill>
        <p:spPr>
          <a:xfrm>
            <a:off x="4374319" y="2876851"/>
            <a:ext cx="2726244" cy="2153543"/>
          </a:xfrm>
          <a:prstGeom prst="rect">
            <a:avLst/>
          </a:prstGeom>
        </p:spPr>
      </p:pic>
      <p:pic>
        <p:nvPicPr>
          <p:cNvPr id="13" name="Imagen 12">
            <a:extLst>
              <a:ext uri="{FF2B5EF4-FFF2-40B4-BE49-F238E27FC236}">
                <a16:creationId xmlns:a16="http://schemas.microsoft.com/office/drawing/2014/main" id="{FA9308C9-257C-4388-B26E-82B63301C36D}"/>
              </a:ext>
            </a:extLst>
          </p:cNvPr>
          <p:cNvPicPr>
            <a:picLocks noChangeAspect="1"/>
          </p:cNvPicPr>
          <p:nvPr/>
        </p:nvPicPr>
        <p:blipFill>
          <a:blip r:embed="rId6"/>
          <a:stretch>
            <a:fillRect/>
          </a:stretch>
        </p:blipFill>
        <p:spPr>
          <a:xfrm>
            <a:off x="7905616" y="2876851"/>
            <a:ext cx="2683646" cy="2153543"/>
          </a:xfrm>
          <a:prstGeom prst="rect">
            <a:avLst/>
          </a:prstGeom>
        </p:spPr>
      </p:pic>
      <p:pic>
        <p:nvPicPr>
          <p:cNvPr id="14" name="Imagen 13">
            <a:extLst>
              <a:ext uri="{FF2B5EF4-FFF2-40B4-BE49-F238E27FC236}">
                <a16:creationId xmlns:a16="http://schemas.microsoft.com/office/drawing/2014/main" id="{2022CAB5-DBBC-4243-8A8F-1E80EEB7C14E}"/>
              </a:ext>
            </a:extLst>
          </p:cNvPr>
          <p:cNvPicPr>
            <a:picLocks noChangeAspect="1"/>
          </p:cNvPicPr>
          <p:nvPr/>
        </p:nvPicPr>
        <p:blipFill>
          <a:blip r:embed="rId7"/>
          <a:stretch>
            <a:fillRect/>
          </a:stretch>
        </p:blipFill>
        <p:spPr>
          <a:xfrm>
            <a:off x="885620" y="618918"/>
            <a:ext cx="2683646" cy="2153543"/>
          </a:xfrm>
          <a:prstGeom prst="rect">
            <a:avLst/>
          </a:prstGeom>
        </p:spPr>
      </p:pic>
      <p:pic>
        <p:nvPicPr>
          <p:cNvPr id="15" name="Imagen 14">
            <a:extLst>
              <a:ext uri="{FF2B5EF4-FFF2-40B4-BE49-F238E27FC236}">
                <a16:creationId xmlns:a16="http://schemas.microsoft.com/office/drawing/2014/main" id="{FBDE714C-53A3-45D7-9D90-2D34E109AF2E}"/>
              </a:ext>
            </a:extLst>
          </p:cNvPr>
          <p:cNvPicPr>
            <a:picLocks noChangeAspect="1"/>
          </p:cNvPicPr>
          <p:nvPr/>
        </p:nvPicPr>
        <p:blipFill>
          <a:blip r:embed="rId8"/>
          <a:stretch>
            <a:fillRect/>
          </a:stretch>
        </p:blipFill>
        <p:spPr>
          <a:xfrm>
            <a:off x="4374319" y="618918"/>
            <a:ext cx="2726244" cy="2153543"/>
          </a:xfrm>
          <a:prstGeom prst="rect">
            <a:avLst/>
          </a:prstGeom>
        </p:spPr>
      </p:pic>
      <p:pic>
        <p:nvPicPr>
          <p:cNvPr id="16" name="Imagen 15">
            <a:extLst>
              <a:ext uri="{FF2B5EF4-FFF2-40B4-BE49-F238E27FC236}">
                <a16:creationId xmlns:a16="http://schemas.microsoft.com/office/drawing/2014/main" id="{B300B396-2B99-4D0A-A67C-8EA9D70252AA}"/>
              </a:ext>
            </a:extLst>
          </p:cNvPr>
          <p:cNvPicPr>
            <a:picLocks noChangeAspect="1"/>
          </p:cNvPicPr>
          <p:nvPr/>
        </p:nvPicPr>
        <p:blipFill>
          <a:blip r:embed="rId9"/>
          <a:stretch>
            <a:fillRect/>
          </a:stretch>
        </p:blipFill>
        <p:spPr>
          <a:xfrm>
            <a:off x="7905616" y="618917"/>
            <a:ext cx="2683646" cy="2153544"/>
          </a:xfrm>
          <a:prstGeom prst="rect">
            <a:avLst/>
          </a:prstGeom>
        </p:spPr>
      </p:pic>
    </p:spTree>
    <p:extLst>
      <p:ext uri="{BB962C8B-B14F-4D97-AF65-F5344CB8AC3E}">
        <p14:creationId xmlns:p14="http://schemas.microsoft.com/office/powerpoint/2010/main" val="3613906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9</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Considering the n_{eff} values for the SOI cross-section, what would be the path difference (</a:t>
                </a:r>
                <a14:m>
                  <m:oMath xmlns:m="http://schemas.openxmlformats.org/officeDocument/2006/math">
                    <m:r>
                      <m:rPr>
                        <m:sty m:val="p"/>
                      </m:rPr>
                      <a:rPr lang="es-ES" b="0" i="0" smtClean="0">
                        <a:latin typeface="Cambria Math" panose="02040503050406030204" pitchFamily="18" charset="0"/>
                      </a:rPr>
                      <m:t>ΔL</m:t>
                    </m:r>
                    <m:r>
                      <a:rPr lang="es-ES" b="0" i="1" smtClean="0">
                        <a:latin typeface="Cambria Math" panose="02040503050406030204" pitchFamily="18" charset="0"/>
                      </a:rPr>
                      <m:t>= </m:t>
                    </m:r>
                    <m:sSub>
                      <m:sSubPr>
                        <m:ctrlPr>
                          <a:rPr lang="es-ES" i="1" smtClean="0">
                            <a:latin typeface="Cambria Math" panose="02040503050406030204" pitchFamily="18" charset="0"/>
                          </a:rPr>
                        </m:ctrlPr>
                      </m:sSubPr>
                      <m:e>
                        <m:r>
                          <a:rPr lang="es-ES" b="0" i="1" smtClean="0">
                            <a:latin typeface="Cambria Math" panose="02040503050406030204" pitchFamily="18" charset="0"/>
                          </a:rPr>
                          <m:t>𝐿</m:t>
                        </m:r>
                      </m:e>
                      <m:sub>
                        <m:r>
                          <a:rPr lang="es-ES" b="0" i="1" smtClean="0">
                            <a:latin typeface="Cambria Math" panose="02040503050406030204" pitchFamily="18" charset="0"/>
                          </a:rPr>
                          <m:t>𝑢</m:t>
                        </m:r>
                      </m:sub>
                    </m:sSub>
                    <m:r>
                      <a:rPr lang="es-ES" b="0" i="1" smtClean="0">
                        <a:latin typeface="Cambria Math" panose="02040503050406030204" pitchFamily="18" charset="0"/>
                      </a:rPr>
                      <m:t> −</m:t>
                    </m:r>
                    <m:sSub>
                      <m:sSubPr>
                        <m:ctrlPr>
                          <a:rPr lang="es-ES" i="1">
                            <a:latin typeface="Cambria Math" panose="02040503050406030204" pitchFamily="18" charset="0"/>
                          </a:rPr>
                        </m:ctrlPr>
                      </m:sSubPr>
                      <m:e>
                        <m:r>
                          <a:rPr lang="es-ES" b="0" i="1">
                            <a:latin typeface="Cambria Math" panose="02040503050406030204" pitchFamily="18" charset="0"/>
                          </a:rPr>
                          <m:t>𝐿</m:t>
                        </m:r>
                      </m:e>
                      <m:sub>
                        <m:r>
                          <a:rPr lang="es-ES" b="0" i="1" smtClean="0">
                            <a:latin typeface="Cambria Math" panose="02040503050406030204" pitchFamily="18" charset="0"/>
                          </a:rPr>
                          <m:t>𝑑</m:t>
                        </m:r>
                      </m:sub>
                    </m:sSub>
                  </m:oMath>
                </a14:m>
                <a:r>
                  <a:rPr lang="en-US" dirty="0"/>
                  <a:t>) needed to obtain a Free Spectral Range of 40 nm? Introduce the obtained value in the model to check the MZI response. </a:t>
                </a:r>
              </a:p>
              <a:p>
                <a:endParaRPr lang="en-US" dirty="0"/>
              </a:p>
              <a:p>
                <a:r>
                  <a:rPr lang="en-US" dirty="0"/>
                  <a:t>Hint: We assume 1550 nm as the central design wavelength (</a:t>
                </a:r>
                <a14:m>
                  <m:oMath xmlns:m="http://schemas.openxmlformats.org/officeDocument/2006/math">
                    <m:sSub>
                      <m:sSubPr>
                        <m:ctrlPr>
                          <a:rPr lang="es-ES" i="1" smtClean="0">
                            <a:latin typeface="Cambria Math" panose="02040503050406030204" pitchFamily="18" charset="0"/>
                          </a:rPr>
                        </m:ctrlPr>
                      </m:sSubPr>
                      <m:e>
                        <m:r>
                          <a:rPr lang="es-ES" i="1">
                            <a:latin typeface="Cambria Math" panose="02040503050406030204" pitchFamily="18" charset="0"/>
                          </a:rPr>
                          <m:t>𝜆</m:t>
                        </m:r>
                      </m:e>
                      <m:sub>
                        <m:r>
                          <a:rPr lang="es-ES" b="0" i="1" smtClean="0">
                            <a:latin typeface="Cambria Math" panose="02040503050406030204" pitchFamily="18" charset="0"/>
                          </a:rPr>
                          <m:t>0</m:t>
                        </m:r>
                      </m:sub>
                    </m:sSub>
                    <m:r>
                      <a:rPr lang="es-ES" b="0" i="1" smtClean="0">
                        <a:latin typeface="Cambria Math" panose="02040503050406030204" pitchFamily="18" charset="0"/>
                      </a:rPr>
                      <m:t>= </m:t>
                    </m:r>
                  </m:oMath>
                </a14:m>
                <a:r>
                  <a:rPr lang="en-US"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497" t="-738" r="-221"/>
                </a:stretch>
              </a:blipFill>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FSR de 40 nm con una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central de </a:t>
                </a:r>
                <a:r>
                  <a:rPr lang="en-US" sz="1200" dirty="0" err="1">
                    <a:latin typeface="Arial" panose="020B0604020202020204" pitchFamily="34" charset="0"/>
                    <a:cs typeface="Arial" panose="020B0604020202020204" pitchFamily="34" charset="0"/>
                  </a:rPr>
                  <a:t>diseño</a:t>
                </a:r>
                <a:r>
                  <a:rPr lang="en-US" sz="1200" dirty="0">
                    <a:latin typeface="Arial" panose="020B0604020202020204" pitchFamily="34" charset="0"/>
                    <a:cs typeface="Arial" panose="020B0604020202020204" pitchFamily="34" charset="0"/>
                  </a:rPr>
                  <a:t> de 1550 nm,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caminos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que ser de 25.509 </a:t>
                </a:r>
                <a14:m>
                  <m:oMath xmlns:m="http://schemas.openxmlformats.org/officeDocument/2006/math">
                    <m:r>
                      <a:rPr lang="en-US" sz="1200" i="1" smtClean="0">
                        <a:latin typeface="Cambria Math" panose="02040503050406030204" pitchFamily="18" charset="0"/>
                        <a:ea typeface="Cambria Math" panose="02040503050406030204" pitchFamily="18" charset="0"/>
                        <a:cs typeface="Arial" panose="020B0604020202020204" pitchFamily="34" charset="0"/>
                      </a:rPr>
                      <m:t>𝜇</m:t>
                    </m:r>
                    <m:r>
                      <a:rPr lang="es-ES" sz="1200" b="0" i="1" smtClean="0">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parte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derecha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respuesta</a:t>
                </a:r>
                <a:r>
                  <a:rPr lang="en-US" sz="1200" dirty="0">
                    <a:latin typeface="Arial" panose="020B0604020202020204" pitchFamily="34" charset="0"/>
                    <a:cs typeface="Arial" panose="020B0604020202020204" pitchFamily="34" charset="0"/>
                  </a:rPr>
                  <a:t> del MZI con </a:t>
                </a:r>
                <a:r>
                  <a:rPr lang="en-US" sz="1200" dirty="0" err="1">
                    <a:latin typeface="Arial" panose="020B0604020202020204" pitchFamily="34" charset="0"/>
                    <a:cs typeface="Arial" panose="020B0604020202020204" pitchFamily="34" charset="0"/>
                  </a:rPr>
                  <a:t>dicha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caminos</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CFDBBA6B-3646-055F-7A9C-EE01830137BE}"/>
                  </a:ext>
                </a:extLst>
              </p:cNvPr>
              <p:cNvSpPr txBox="1">
                <a:spLocks noRot="1" noChangeAspect="1" noMove="1" noResize="1" noEditPoints="1" noAdjustHandles="1" noChangeArrowheads="1" noChangeShapeType="1" noTextEdit="1"/>
              </p:cNvSpPr>
              <p:nvPr/>
            </p:nvSpPr>
            <p:spPr>
              <a:xfrm>
                <a:off x="609441" y="4860334"/>
                <a:ext cx="11199971" cy="1569660"/>
              </a:xfrm>
              <a:prstGeom prst="rect">
                <a:avLst/>
              </a:prstGeom>
              <a:blipFill>
                <a:blip r:embed="rId7"/>
                <a:stretch>
                  <a:fillRect/>
                </a:stretch>
              </a:blipFill>
              <a:ln w="28575">
                <a:solidFill>
                  <a:srgbClr val="E0700D"/>
                </a:solidFill>
              </a:ln>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7" name="Imagen 6">
            <a:extLst>
              <a:ext uri="{FF2B5EF4-FFF2-40B4-BE49-F238E27FC236}">
                <a16:creationId xmlns:a16="http://schemas.microsoft.com/office/drawing/2014/main" id="{1C009046-52D2-404D-B7D2-2A42D527B3DB}"/>
              </a:ext>
            </a:extLst>
          </p:cNvPr>
          <p:cNvPicPr>
            <a:picLocks noChangeAspect="1"/>
          </p:cNvPicPr>
          <p:nvPr/>
        </p:nvPicPr>
        <p:blipFill>
          <a:blip r:embed="rId8"/>
          <a:stretch>
            <a:fillRect/>
          </a:stretch>
        </p:blipFill>
        <p:spPr>
          <a:xfrm>
            <a:off x="461176" y="3200219"/>
            <a:ext cx="7871577" cy="805123"/>
          </a:xfrm>
          <a:prstGeom prst="rect">
            <a:avLst/>
          </a:prstGeom>
        </p:spPr>
      </p:pic>
      <p:pic>
        <p:nvPicPr>
          <p:cNvPr id="10" name="Imagen 9">
            <a:extLst>
              <a:ext uri="{FF2B5EF4-FFF2-40B4-BE49-F238E27FC236}">
                <a16:creationId xmlns:a16="http://schemas.microsoft.com/office/drawing/2014/main" id="{55347222-6235-49A3-904B-80DD7D09C971}"/>
              </a:ext>
            </a:extLst>
          </p:cNvPr>
          <p:cNvPicPr>
            <a:picLocks noChangeAspect="1"/>
          </p:cNvPicPr>
          <p:nvPr/>
        </p:nvPicPr>
        <p:blipFill>
          <a:blip r:embed="rId9"/>
          <a:stretch>
            <a:fillRect/>
          </a:stretch>
        </p:blipFill>
        <p:spPr>
          <a:xfrm>
            <a:off x="8479590" y="2060110"/>
            <a:ext cx="3324257" cy="2667613"/>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1F9E76-0A59-4DB1-ADE5-55DB00742A12}"/>
              </a:ext>
            </a:extLst>
          </p:cNvPr>
          <p:cNvSpPr>
            <a:spLocks noGrp="1"/>
          </p:cNvSpPr>
          <p:nvPr>
            <p:ph type="title"/>
          </p:nvPr>
        </p:nvSpPr>
        <p:spPr>
          <a:xfrm>
            <a:off x="590550" y="206752"/>
            <a:ext cx="10991850" cy="615553"/>
          </a:xfrm>
        </p:spPr>
        <p:txBody>
          <a:bodyPr/>
          <a:lstStyle/>
          <a:p>
            <a:r>
              <a:rPr lang="en-US" sz="2000" dirty="0">
                <a:latin typeface="Arial" panose="020B0604020202020204" pitchFamily="34" charset="0"/>
                <a:cs typeface="Arial" panose="020B0604020202020204" pitchFamily="34" charset="0"/>
              </a:rPr>
              <a:t>Código </a:t>
            </a:r>
            <a:r>
              <a:rPr lang="en-US" sz="2000" dirty="0" err="1">
                <a:latin typeface="Arial" panose="020B0604020202020204" pitchFamily="34" charset="0"/>
                <a:cs typeface="Arial" panose="020B0604020202020204" pitchFamily="34" charset="0"/>
              </a:rPr>
              <a:t>empleado</a:t>
            </a:r>
            <a:r>
              <a:rPr lang="en-US" sz="2000" dirty="0">
                <a:latin typeface="Arial" panose="020B0604020202020204" pitchFamily="34" charset="0"/>
                <a:cs typeface="Arial" panose="020B0604020202020204" pitchFamily="34" charset="0"/>
              </a:rPr>
              <a:t> para </a:t>
            </a:r>
            <a:r>
              <a:rPr lang="en-US" sz="2000" dirty="0" err="1">
                <a:latin typeface="Arial" panose="020B0604020202020204" pitchFamily="34" charset="0"/>
                <a:cs typeface="Arial" panose="020B0604020202020204" pitchFamily="34" charset="0"/>
              </a:rPr>
              <a:t>obtener</a:t>
            </a:r>
            <a:r>
              <a:rPr lang="en-US" sz="2000" dirty="0">
                <a:latin typeface="Arial" panose="020B0604020202020204" pitchFamily="34" charset="0"/>
                <a:cs typeface="Arial" panose="020B0604020202020204" pitchFamily="34" charset="0"/>
              </a:rPr>
              <a:t> la </a:t>
            </a:r>
            <a:r>
              <a:rPr lang="en-US" sz="2000" dirty="0" err="1">
                <a:latin typeface="Arial" panose="020B0604020202020204" pitchFamily="34" charset="0"/>
                <a:cs typeface="Arial" panose="020B0604020202020204" pitchFamily="34" charset="0"/>
              </a:rPr>
              <a:t>función</a:t>
            </a:r>
            <a:r>
              <a:rPr lang="en-US" sz="2000" dirty="0">
                <a:latin typeface="Arial" panose="020B0604020202020204" pitchFamily="34" charset="0"/>
                <a:cs typeface="Arial" panose="020B0604020202020204" pitchFamily="34" charset="0"/>
              </a:rPr>
              <a:t> de </a:t>
            </a:r>
            <a:r>
              <a:rPr lang="en-US" sz="2000" dirty="0" err="1">
                <a:latin typeface="Arial" panose="020B0604020202020204" pitchFamily="34" charset="0"/>
                <a:cs typeface="Arial" panose="020B0604020202020204" pitchFamily="34" charset="0"/>
              </a:rPr>
              <a:t>transferencia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empleando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el</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modelado</a:t>
            </a:r>
            <a:r>
              <a:rPr lang="en-US" sz="2000" dirty="0">
                <a:latin typeface="Arial" panose="020B0604020202020204" pitchFamily="34" charset="0"/>
                <a:cs typeface="Arial" panose="020B0604020202020204" pitchFamily="34" charset="0"/>
              </a:rPr>
              <a:t> SAX </a:t>
            </a:r>
            <a:br>
              <a:rPr lang="en-US" sz="2000" dirty="0">
                <a:latin typeface="Arial" panose="020B0604020202020204" pitchFamily="34" charset="0"/>
                <a:cs typeface="Arial" panose="020B0604020202020204" pitchFamily="34" charset="0"/>
              </a:rPr>
            </a:br>
            <a:endParaRPr lang="es-ES" dirty="0"/>
          </a:p>
        </p:txBody>
      </p:sp>
      <p:sp>
        <p:nvSpPr>
          <p:cNvPr id="4" name="Marcador de pie de página 3">
            <a:extLst>
              <a:ext uri="{FF2B5EF4-FFF2-40B4-BE49-F238E27FC236}">
                <a16:creationId xmlns:a16="http://schemas.microsoft.com/office/drawing/2014/main" id="{4F48F81C-C9A3-4DCF-B656-32575F0769F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70D72EA-B3BF-4745-9518-E131893B00A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7" name="Imagen 6">
            <a:extLst>
              <a:ext uri="{FF2B5EF4-FFF2-40B4-BE49-F238E27FC236}">
                <a16:creationId xmlns:a16="http://schemas.microsoft.com/office/drawing/2014/main" id="{434CC26C-57BF-4978-9727-32181DCE955A}"/>
              </a:ext>
            </a:extLst>
          </p:cNvPr>
          <p:cNvPicPr>
            <a:picLocks noChangeAspect="1"/>
          </p:cNvPicPr>
          <p:nvPr/>
        </p:nvPicPr>
        <p:blipFill>
          <a:blip r:embed="rId2"/>
          <a:stretch>
            <a:fillRect/>
          </a:stretch>
        </p:blipFill>
        <p:spPr>
          <a:xfrm>
            <a:off x="3110108" y="762000"/>
            <a:ext cx="5971784" cy="5498630"/>
          </a:xfrm>
          <a:prstGeom prst="rect">
            <a:avLst/>
          </a:prstGeom>
        </p:spPr>
      </p:pic>
    </p:spTree>
    <p:extLst>
      <p:ext uri="{BB962C8B-B14F-4D97-AF65-F5344CB8AC3E}">
        <p14:creationId xmlns:p14="http://schemas.microsoft.com/office/powerpoint/2010/main" val="35677451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28B43E-006E-4259-A9C5-BDE38764AFDB}"/>
              </a:ext>
            </a:extLst>
          </p:cNvPr>
          <p:cNvSpPr>
            <a:spLocks noGrp="1"/>
          </p:cNvSpPr>
          <p:nvPr>
            <p:ph type="title"/>
          </p:nvPr>
        </p:nvSpPr>
        <p:spPr/>
        <p:txBody>
          <a:bodyPr/>
          <a:lstStyle/>
          <a:p>
            <a:r>
              <a:rPr lang="es-ES" dirty="0"/>
              <a:t>Comparative </a:t>
            </a:r>
            <a:r>
              <a:rPr lang="es-ES" dirty="0" err="1"/>
              <a:t>plot</a:t>
            </a:r>
            <a:r>
              <a:rPr lang="es-ES" dirty="0"/>
              <a:t> </a:t>
            </a:r>
            <a:r>
              <a:rPr lang="es-ES" dirty="0" err="1"/>
              <a:t>of</a:t>
            </a:r>
            <a:r>
              <a:rPr lang="es-ES" dirty="0"/>
              <a:t> </a:t>
            </a:r>
            <a:r>
              <a:rPr lang="es-ES" dirty="0" err="1"/>
              <a:t>the</a:t>
            </a:r>
            <a:r>
              <a:rPr lang="es-ES" dirty="0"/>
              <a:t> </a:t>
            </a:r>
            <a:r>
              <a:rPr lang="es-ES" dirty="0" err="1"/>
              <a:t>models</a:t>
            </a:r>
            <a:endParaRPr lang="es-ES" dirty="0"/>
          </a:p>
        </p:txBody>
      </p:sp>
      <p:sp>
        <p:nvSpPr>
          <p:cNvPr id="3" name="Marcador de texto 2">
            <a:extLst>
              <a:ext uri="{FF2B5EF4-FFF2-40B4-BE49-F238E27FC236}">
                <a16:creationId xmlns:a16="http://schemas.microsoft.com/office/drawing/2014/main" id="{E3D5506D-31DF-49E8-A9F9-47379892D638}"/>
              </a:ext>
            </a:extLst>
          </p:cNvPr>
          <p:cNvSpPr>
            <a:spLocks noGrp="1"/>
          </p:cNvSpPr>
          <p:nvPr>
            <p:ph type="body" idx="1"/>
          </p:nvPr>
        </p:nvSpPr>
        <p:spPr>
          <a:xfrm>
            <a:off x="590550" y="5399737"/>
            <a:ext cx="10972800" cy="369332"/>
          </a:xfrm>
        </p:spPr>
        <p:txBody>
          <a:bodyPr/>
          <a:lstStyle/>
          <a:p>
            <a:r>
              <a:rPr lang="es-ES" sz="1200" dirty="0"/>
              <a:t>Podemos observar que los resultados obtenidos mediante el modelado SAX son exactamente los mismos que en las simulaciones anteriores. En este caso se puede observar un cambio en la numeración de los subíndices de los elementos de la matriz de transferencia, pero es simple notación.</a:t>
            </a:r>
          </a:p>
        </p:txBody>
      </p:sp>
      <p:sp>
        <p:nvSpPr>
          <p:cNvPr id="4" name="Marcador de pie de página 3">
            <a:extLst>
              <a:ext uri="{FF2B5EF4-FFF2-40B4-BE49-F238E27FC236}">
                <a16:creationId xmlns:a16="http://schemas.microsoft.com/office/drawing/2014/main" id="{15F11405-36B1-48D9-986F-F988B5A8CCD9}"/>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850FFED3-A027-468B-812F-4B4F066B876D}"/>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6" name="Imagen 5">
            <a:extLst>
              <a:ext uri="{FF2B5EF4-FFF2-40B4-BE49-F238E27FC236}">
                <a16:creationId xmlns:a16="http://schemas.microsoft.com/office/drawing/2014/main" id="{B537B6E4-E1D5-4904-AA8B-FD09EFE6840B}"/>
              </a:ext>
            </a:extLst>
          </p:cNvPr>
          <p:cNvPicPr>
            <a:picLocks noChangeAspect="1"/>
          </p:cNvPicPr>
          <p:nvPr/>
        </p:nvPicPr>
        <p:blipFill>
          <a:blip r:embed="rId2"/>
          <a:stretch>
            <a:fillRect/>
          </a:stretch>
        </p:blipFill>
        <p:spPr>
          <a:xfrm>
            <a:off x="885620" y="618918"/>
            <a:ext cx="2683646" cy="2153543"/>
          </a:xfrm>
          <a:prstGeom prst="rect">
            <a:avLst/>
          </a:prstGeom>
        </p:spPr>
      </p:pic>
      <p:pic>
        <p:nvPicPr>
          <p:cNvPr id="7" name="Imagen 6">
            <a:extLst>
              <a:ext uri="{FF2B5EF4-FFF2-40B4-BE49-F238E27FC236}">
                <a16:creationId xmlns:a16="http://schemas.microsoft.com/office/drawing/2014/main" id="{A3E60F30-0602-4933-809A-2730700DC680}"/>
              </a:ext>
            </a:extLst>
          </p:cNvPr>
          <p:cNvPicPr>
            <a:picLocks noChangeAspect="1"/>
          </p:cNvPicPr>
          <p:nvPr/>
        </p:nvPicPr>
        <p:blipFill>
          <a:blip r:embed="rId3"/>
          <a:stretch>
            <a:fillRect/>
          </a:stretch>
        </p:blipFill>
        <p:spPr>
          <a:xfrm>
            <a:off x="4374319" y="618918"/>
            <a:ext cx="2726244" cy="2153543"/>
          </a:xfrm>
          <a:prstGeom prst="rect">
            <a:avLst/>
          </a:prstGeom>
        </p:spPr>
      </p:pic>
      <p:pic>
        <p:nvPicPr>
          <p:cNvPr id="8" name="Imagen 7">
            <a:extLst>
              <a:ext uri="{FF2B5EF4-FFF2-40B4-BE49-F238E27FC236}">
                <a16:creationId xmlns:a16="http://schemas.microsoft.com/office/drawing/2014/main" id="{73B99E19-E6F3-4248-B70C-F70CBD0706B1}"/>
              </a:ext>
            </a:extLst>
          </p:cNvPr>
          <p:cNvPicPr>
            <a:picLocks noChangeAspect="1"/>
          </p:cNvPicPr>
          <p:nvPr/>
        </p:nvPicPr>
        <p:blipFill>
          <a:blip r:embed="rId4"/>
          <a:stretch>
            <a:fillRect/>
          </a:stretch>
        </p:blipFill>
        <p:spPr>
          <a:xfrm>
            <a:off x="7905616" y="618917"/>
            <a:ext cx="2683646" cy="2153544"/>
          </a:xfrm>
          <a:prstGeom prst="rect">
            <a:avLst/>
          </a:prstGeom>
        </p:spPr>
      </p:pic>
      <p:pic>
        <p:nvPicPr>
          <p:cNvPr id="10" name="Imagen 9">
            <a:extLst>
              <a:ext uri="{FF2B5EF4-FFF2-40B4-BE49-F238E27FC236}">
                <a16:creationId xmlns:a16="http://schemas.microsoft.com/office/drawing/2014/main" id="{BA63953C-B58C-4F2D-AB0D-D8A2D13A27C5}"/>
              </a:ext>
            </a:extLst>
          </p:cNvPr>
          <p:cNvPicPr>
            <a:picLocks noChangeAspect="1"/>
          </p:cNvPicPr>
          <p:nvPr/>
        </p:nvPicPr>
        <p:blipFill>
          <a:blip r:embed="rId5"/>
          <a:stretch>
            <a:fillRect/>
          </a:stretch>
        </p:blipFill>
        <p:spPr>
          <a:xfrm>
            <a:off x="4374319" y="2931664"/>
            <a:ext cx="2726245" cy="2153545"/>
          </a:xfrm>
          <a:prstGeom prst="rect">
            <a:avLst/>
          </a:prstGeom>
        </p:spPr>
      </p:pic>
      <p:pic>
        <p:nvPicPr>
          <p:cNvPr id="12" name="Imagen 11">
            <a:extLst>
              <a:ext uri="{FF2B5EF4-FFF2-40B4-BE49-F238E27FC236}">
                <a16:creationId xmlns:a16="http://schemas.microsoft.com/office/drawing/2014/main" id="{4F8333A6-FEB4-4227-B9DC-DF694700C98A}"/>
              </a:ext>
            </a:extLst>
          </p:cNvPr>
          <p:cNvPicPr>
            <a:picLocks noChangeAspect="1"/>
          </p:cNvPicPr>
          <p:nvPr/>
        </p:nvPicPr>
        <p:blipFill>
          <a:blip r:embed="rId6"/>
          <a:stretch>
            <a:fillRect/>
          </a:stretch>
        </p:blipFill>
        <p:spPr>
          <a:xfrm>
            <a:off x="885620" y="2927538"/>
            <a:ext cx="2683646" cy="2153543"/>
          </a:xfrm>
          <a:prstGeom prst="rect">
            <a:avLst/>
          </a:prstGeom>
        </p:spPr>
      </p:pic>
      <p:pic>
        <p:nvPicPr>
          <p:cNvPr id="14" name="Imagen 13">
            <a:extLst>
              <a:ext uri="{FF2B5EF4-FFF2-40B4-BE49-F238E27FC236}">
                <a16:creationId xmlns:a16="http://schemas.microsoft.com/office/drawing/2014/main" id="{D8BB6DC5-17F1-4C11-9453-E441234B8E77}"/>
              </a:ext>
            </a:extLst>
          </p:cNvPr>
          <p:cNvPicPr>
            <a:picLocks noChangeAspect="1"/>
          </p:cNvPicPr>
          <p:nvPr/>
        </p:nvPicPr>
        <p:blipFill>
          <a:blip r:embed="rId7"/>
          <a:stretch>
            <a:fillRect/>
          </a:stretch>
        </p:blipFill>
        <p:spPr>
          <a:xfrm>
            <a:off x="7905616" y="2927538"/>
            <a:ext cx="2683646" cy="2153543"/>
          </a:xfrm>
          <a:prstGeom prst="rect">
            <a:avLst/>
          </a:prstGeom>
        </p:spPr>
      </p:pic>
    </p:spTree>
    <p:extLst>
      <p:ext uri="{BB962C8B-B14F-4D97-AF65-F5344CB8AC3E}">
        <p14:creationId xmlns:p14="http://schemas.microsoft.com/office/powerpoint/2010/main" val="364610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565FE7-19F0-450F-8F6F-55D2FDAE90A6}"/>
              </a:ext>
            </a:extLst>
          </p:cNvPr>
          <p:cNvSpPr>
            <a:spLocks noGrp="1"/>
          </p:cNvSpPr>
          <p:nvPr>
            <p:ph type="title"/>
          </p:nvPr>
        </p:nvSpPr>
        <p:spPr/>
        <p:txBody>
          <a:bodyPr/>
          <a:lstStyle/>
          <a:p>
            <a:r>
              <a:rPr lang="en-US" b="1" dirty="0"/>
              <a:t>Assessment 4</a:t>
            </a:r>
            <a:endParaRPr lang="es-ES" dirty="0"/>
          </a:p>
        </p:txBody>
      </p:sp>
      <p:sp>
        <p:nvSpPr>
          <p:cNvPr id="3" name="Marcador de texto 2">
            <a:extLst>
              <a:ext uri="{FF2B5EF4-FFF2-40B4-BE49-F238E27FC236}">
                <a16:creationId xmlns:a16="http://schemas.microsoft.com/office/drawing/2014/main" id="{27F228D4-A51C-40EE-9098-B14537BC079F}"/>
              </a:ext>
            </a:extLst>
          </p:cNvPr>
          <p:cNvSpPr>
            <a:spLocks noGrp="1"/>
          </p:cNvSpPr>
          <p:nvPr>
            <p:ph type="body" idx="1"/>
          </p:nvPr>
        </p:nvSpPr>
        <p:spPr>
          <a:xfrm>
            <a:off x="565150" y="609600"/>
            <a:ext cx="10972800" cy="492443"/>
          </a:xfrm>
        </p:spPr>
        <p:txBody>
          <a:bodyPr/>
          <a:lstStyle/>
          <a:p>
            <a:r>
              <a:rPr lang="en-US" sz="1600" dirty="0"/>
              <a:t>Design an MZI for filtering at a specific wavelength. Calculate and adjust the arm lengths to configure the MZI to have a maximum transmission at 1550 nm.</a:t>
            </a:r>
          </a:p>
        </p:txBody>
      </p:sp>
      <p:sp>
        <p:nvSpPr>
          <p:cNvPr id="4" name="Marcador de pie de página 3">
            <a:extLst>
              <a:ext uri="{FF2B5EF4-FFF2-40B4-BE49-F238E27FC236}">
                <a16:creationId xmlns:a16="http://schemas.microsoft.com/office/drawing/2014/main" id="{338FF05A-ED09-4CC0-8362-6B9CD58E325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9FE9DDCA-CE34-4D86-A0DA-89371ADD78E4}"/>
              </a:ext>
            </a:extLst>
          </p:cNvPr>
          <p:cNvSpPr>
            <a:spLocks noGrp="1"/>
          </p:cNvSpPr>
          <p:nvPr>
            <p:ph type="sldNum" sz="quarter" idx="7"/>
          </p:nvPr>
        </p:nvSpPr>
        <p:spPr/>
        <p:txBody>
          <a:bodyPr/>
          <a:lstStyle/>
          <a:p>
            <a:fld id="{B6F15528-21DE-4FAA-801E-634DDDAF4B2B}" type="slidenum">
              <a:rPr lang="es-ES" smtClean="0"/>
              <a:t>14</a:t>
            </a:fld>
            <a:endParaRPr lang="es-ES"/>
          </a:p>
        </p:txBody>
      </p:sp>
      <p:pic>
        <p:nvPicPr>
          <p:cNvPr id="7" name="Imagen 6">
            <a:extLst>
              <a:ext uri="{FF2B5EF4-FFF2-40B4-BE49-F238E27FC236}">
                <a16:creationId xmlns:a16="http://schemas.microsoft.com/office/drawing/2014/main" id="{407B7D31-DBE1-4C38-8301-463A0A4E35A2}"/>
              </a:ext>
            </a:extLst>
          </p:cNvPr>
          <p:cNvPicPr>
            <a:picLocks noChangeAspect="1"/>
          </p:cNvPicPr>
          <p:nvPr/>
        </p:nvPicPr>
        <p:blipFill>
          <a:blip r:embed="rId2"/>
          <a:stretch>
            <a:fillRect/>
          </a:stretch>
        </p:blipFill>
        <p:spPr>
          <a:xfrm>
            <a:off x="455084" y="3505200"/>
            <a:ext cx="3439550" cy="2760133"/>
          </a:xfrm>
          <a:prstGeom prst="rect">
            <a:avLst/>
          </a:prstGeom>
        </p:spPr>
      </p:pic>
      <p:pic>
        <p:nvPicPr>
          <p:cNvPr id="9" name="Imagen 8">
            <a:extLst>
              <a:ext uri="{FF2B5EF4-FFF2-40B4-BE49-F238E27FC236}">
                <a16:creationId xmlns:a16="http://schemas.microsoft.com/office/drawing/2014/main" id="{1DEA65FE-34F8-4164-ADFF-2C29C6E55AD0}"/>
              </a:ext>
            </a:extLst>
          </p:cNvPr>
          <p:cNvPicPr>
            <a:picLocks noChangeAspect="1"/>
          </p:cNvPicPr>
          <p:nvPr/>
        </p:nvPicPr>
        <p:blipFill>
          <a:blip r:embed="rId3"/>
          <a:stretch>
            <a:fillRect/>
          </a:stretch>
        </p:blipFill>
        <p:spPr>
          <a:xfrm>
            <a:off x="4114800" y="3505200"/>
            <a:ext cx="3536608" cy="2760132"/>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C268C0E7-A930-466A-ABCA-FAD9945F214C}"/>
                  </a:ext>
                </a:extLst>
              </p:cNvPr>
              <p:cNvSpPr txBox="1"/>
              <p:nvPr/>
            </p:nvSpPr>
            <p:spPr>
              <a:xfrm>
                <a:off x="565150" y="1969483"/>
                <a:ext cx="6597650" cy="1295868"/>
              </a:xfrm>
              <a:prstGeom prst="rect">
                <a:avLst/>
              </a:prstGeom>
              <a:noFill/>
            </p:spPr>
            <p:txBody>
              <a:bodyPr wrap="square">
                <a:spAutoFit/>
              </a:bodyPr>
              <a:lstStyle/>
              <a:p>
                <a:r>
                  <a:rPr lang="es-ES" sz="1200" dirty="0"/>
                  <a:t>Para tener transmisión máxima a 1550 nm, se debe establecer la diferencia de fase en </a:t>
                </a:r>
                <a:r>
                  <a:rPr lang="el-GR" sz="1200" dirty="0"/>
                  <a:t>π </a:t>
                </a:r>
                <a:r>
                  <a:rPr lang="es-ES" sz="1200" dirty="0"/>
                  <a:t>a </a:t>
                </a:r>
                <a:r>
                  <a:rPr lang="el-GR" sz="1200" dirty="0"/>
                  <a:t>λ₀ = 1.55 µ</a:t>
                </a:r>
                <a:r>
                  <a:rPr lang="es-ES" sz="1200" dirty="0"/>
                  <a:t>m.</a:t>
                </a:r>
              </a:p>
              <a:p>
                <a:pPr/>
                <a14:m>
                  <m:oMathPara xmlns:m="http://schemas.openxmlformats.org/officeDocument/2006/math">
                    <m:oMathParaPr>
                      <m:jc m:val="centerGroup"/>
                    </m:oMathParaPr>
                    <m:oMath xmlns:m="http://schemas.openxmlformats.org/officeDocument/2006/math">
                      <m:r>
                        <m:rPr>
                          <m:sty m:val="p"/>
                        </m:rPr>
                        <a:rPr lang="el-GR" sz="1200" i="0" dirty="0" smtClean="0">
                          <a:latin typeface="Cambria Math" panose="02040503050406030204" pitchFamily="18" charset="0"/>
                        </a:rPr>
                        <m:t>Δ</m:t>
                      </m:r>
                      <m:r>
                        <a:rPr lang="el-GR" sz="1200" i="1" dirty="0" smtClean="0">
                          <a:latin typeface="Cambria Math" panose="02040503050406030204" pitchFamily="18" charset="0"/>
                        </a:rPr>
                        <m:t>𝜑</m:t>
                      </m:r>
                      <m:r>
                        <a:rPr lang="el-GR" sz="1200" i="1" dirty="0" smtClean="0">
                          <a:latin typeface="Cambria Math" panose="02040503050406030204" pitchFamily="18" charset="0"/>
                        </a:rPr>
                        <m:t> = 2</m:t>
                      </m:r>
                      <m:r>
                        <a:rPr lang="el-GR" sz="1200" i="1" dirty="0" smtClean="0">
                          <a:latin typeface="Cambria Math" panose="02040503050406030204" pitchFamily="18" charset="0"/>
                        </a:rPr>
                        <m:t>𝜋</m:t>
                      </m:r>
                      <m:f>
                        <m:fPr>
                          <m:ctrlPr>
                            <a:rPr lang="es-ES" sz="1200" i="1" dirty="0" smtClean="0">
                              <a:latin typeface="Cambria Math" panose="02040503050406030204" pitchFamily="18" charset="0"/>
                            </a:rPr>
                          </m:ctrlPr>
                        </m:fPr>
                        <m:num>
                          <m:d>
                            <m:dPr>
                              <m:ctrlPr>
                                <a:rPr lang="el-GR" sz="1200" i="1" dirty="0" smtClean="0">
                                  <a:latin typeface="Cambria Math" panose="02040503050406030204" pitchFamily="18" charset="0"/>
                                </a:rPr>
                              </m:ctrlPr>
                            </m:dPr>
                            <m:e>
                              <m:sSub>
                                <m:sSubPr>
                                  <m:ctrlPr>
                                    <a:rPr lang="es-ES" sz="1200" i="1" dirty="0" err="1" smtClean="0">
                                      <a:latin typeface="Cambria Math" panose="02040503050406030204" pitchFamily="18" charset="0"/>
                                    </a:rPr>
                                  </m:ctrlPr>
                                </m:sSubPr>
                                <m:e>
                                  <m:r>
                                    <a:rPr lang="es-ES" sz="1200" i="1" dirty="0" err="1" smtClean="0">
                                      <a:latin typeface="Cambria Math" panose="02040503050406030204" pitchFamily="18" charset="0"/>
                                    </a:rPr>
                                    <m:t>𝑛</m:t>
                                  </m:r>
                                </m:e>
                                <m:sub>
                                  <m:r>
                                    <a:rPr lang="es-ES" sz="1200" i="1" dirty="0" err="1" smtClean="0">
                                      <a:latin typeface="Cambria Math" panose="02040503050406030204" pitchFamily="18" charset="0"/>
                                    </a:rPr>
                                    <m:t>𝑒𝑓𝑓</m:t>
                                  </m:r>
                                  <m:r>
                                    <a:rPr lang="es-ES" sz="1200" b="0" i="1" dirty="0" smtClean="0">
                                      <a:latin typeface="Cambria Math" panose="02040503050406030204" pitchFamily="18" charset="0"/>
                                    </a:rPr>
                                    <m:t>,</m:t>
                                  </m:r>
                                  <m:r>
                                    <a:rPr lang="es-ES" sz="1200" b="0" i="1" dirty="0" smtClean="0">
                                      <a:latin typeface="Cambria Math" panose="02040503050406030204" pitchFamily="18" charset="0"/>
                                    </a:rPr>
                                    <m:t>𝑢</m:t>
                                  </m:r>
                                </m:sub>
                              </m:sSub>
                              <m:r>
                                <a:rPr lang="es-ES" sz="1200" i="1" dirty="0" smtClean="0">
                                  <a:latin typeface="Cambria Math" panose="02040503050406030204" pitchFamily="18" charset="0"/>
                                </a:rPr>
                                <m:t>𝐿</m:t>
                              </m:r>
                              <m:r>
                                <a:rPr lang="es-ES" sz="1200" i="1" dirty="0" smtClean="0">
                                  <a:latin typeface="Cambria Math" panose="02040503050406030204" pitchFamily="18" charset="0"/>
                                </a:rPr>
                                <m:t>ᵤ − </m:t>
                              </m:r>
                              <m:sSub>
                                <m:sSubPr>
                                  <m:ctrlPr>
                                    <a:rPr lang="es-ES" sz="1200" i="1" dirty="0" err="1" smtClean="0">
                                      <a:latin typeface="Cambria Math" panose="02040503050406030204" pitchFamily="18" charset="0"/>
                                    </a:rPr>
                                  </m:ctrlPr>
                                </m:sSubPr>
                                <m:e>
                                  <m:r>
                                    <a:rPr lang="es-ES" sz="1200" i="1" dirty="0" err="1" smtClean="0">
                                      <a:latin typeface="Cambria Math" panose="02040503050406030204" pitchFamily="18" charset="0"/>
                                    </a:rPr>
                                    <m:t>𝑛</m:t>
                                  </m:r>
                                </m:e>
                                <m:sub>
                                  <m:r>
                                    <a:rPr lang="es-ES" sz="1200" i="1" dirty="0" err="1" smtClean="0">
                                      <a:latin typeface="Cambria Math" panose="02040503050406030204" pitchFamily="18" charset="0"/>
                                    </a:rPr>
                                    <m:t>𝑒𝑓𝑓</m:t>
                                  </m:r>
                                  <m:r>
                                    <a:rPr lang="es-ES" sz="1200" b="0" i="1" dirty="0" smtClean="0">
                                      <a:latin typeface="Cambria Math" panose="02040503050406030204" pitchFamily="18" charset="0"/>
                                    </a:rPr>
                                    <m:t>,</m:t>
                                  </m:r>
                                  <m:r>
                                    <a:rPr lang="es-ES" sz="1200" b="0" i="1" dirty="0" smtClean="0">
                                      <a:latin typeface="Cambria Math" panose="02040503050406030204" pitchFamily="18" charset="0"/>
                                    </a:rPr>
                                    <m:t>𝑑</m:t>
                                  </m:r>
                                </m:sub>
                              </m:sSub>
                              <m:r>
                                <a:rPr lang="es-ES" sz="1200" i="1" dirty="0" smtClean="0">
                                  <a:latin typeface="Cambria Math" panose="02040503050406030204" pitchFamily="18" charset="0"/>
                                </a:rPr>
                                <m:t> </m:t>
                              </m:r>
                              <m:sSub>
                                <m:sSubPr>
                                  <m:ctrlPr>
                                    <a:rPr lang="es-ES" sz="1200" i="1" dirty="0" err="1" smtClean="0">
                                      <a:latin typeface="Cambria Math" panose="02040503050406030204" pitchFamily="18" charset="0"/>
                                    </a:rPr>
                                  </m:ctrlPr>
                                </m:sSubPr>
                                <m:e>
                                  <m:r>
                                    <a:rPr lang="es-ES" sz="1200" i="1" dirty="0" err="1" smtClean="0">
                                      <a:latin typeface="Cambria Math" panose="02040503050406030204" pitchFamily="18" charset="0"/>
                                    </a:rPr>
                                    <m:t>𝐿</m:t>
                                  </m:r>
                                </m:e>
                                <m:sub>
                                  <m:r>
                                    <a:rPr lang="es-ES" sz="1200" i="1" dirty="0" err="1" smtClean="0">
                                      <a:latin typeface="Cambria Math" panose="02040503050406030204" pitchFamily="18" charset="0"/>
                                    </a:rPr>
                                    <m:t>𝑑</m:t>
                                  </m:r>
                                </m:sub>
                              </m:sSub>
                            </m:e>
                          </m:d>
                        </m:num>
                        <m:den>
                          <m:sSub>
                            <m:sSubPr>
                              <m:ctrlPr>
                                <a:rPr lang="el-GR" sz="1200" i="1" dirty="0">
                                  <a:latin typeface="Cambria Math" panose="02040503050406030204" pitchFamily="18" charset="0"/>
                                </a:rPr>
                              </m:ctrlPr>
                            </m:sSubPr>
                            <m:e>
                              <m:r>
                                <a:rPr lang="el-GR" sz="1200" i="1" dirty="0">
                                  <a:latin typeface="Cambria Math" panose="02040503050406030204" pitchFamily="18" charset="0"/>
                                </a:rPr>
                                <m:t>𝜆</m:t>
                              </m:r>
                            </m:e>
                            <m:sub>
                              <m:r>
                                <a:rPr lang="es-ES" sz="1200" i="1" dirty="0">
                                  <a:latin typeface="Cambria Math" panose="02040503050406030204" pitchFamily="18" charset="0"/>
                                </a:rPr>
                                <m:t>0</m:t>
                              </m:r>
                            </m:sub>
                          </m:sSub>
                        </m:den>
                      </m:f>
                      <m:r>
                        <a:rPr lang="el-GR" sz="1200" i="1" dirty="0" smtClean="0">
                          <a:latin typeface="Cambria Math" panose="02040503050406030204" pitchFamily="18" charset="0"/>
                        </a:rPr>
                        <m:t>= </m:t>
                      </m:r>
                      <m:r>
                        <a:rPr lang="es-ES" sz="1200" i="1" dirty="0" smtClean="0">
                          <a:latin typeface="Cambria Math" panose="02040503050406030204" pitchFamily="18" charset="0"/>
                        </a:rPr>
                        <m:t>𝑚</m:t>
                      </m:r>
                      <m:r>
                        <a:rPr lang="el-GR" sz="1200" i="1" dirty="0" smtClean="0">
                          <a:latin typeface="Cambria Math" panose="02040503050406030204" pitchFamily="18" charset="0"/>
                        </a:rPr>
                        <m:t>𝜋</m:t>
                      </m:r>
                    </m:oMath>
                  </m:oMathPara>
                </a14:m>
                <a:endParaRPr lang="es-ES" sz="1200" dirty="0"/>
              </a:p>
              <a:p>
                <a:r>
                  <a:rPr lang="es-ES" sz="1200" dirty="0"/>
                  <a:t>Asumiendo </a:t>
                </a:r>
                <a14:m>
                  <m:oMath xmlns:m="http://schemas.openxmlformats.org/officeDocument/2006/math">
                    <m:sSub>
                      <m:sSubPr>
                        <m:ctrlPr>
                          <a:rPr lang="es-ES" sz="1200" i="1" dirty="0" smtClean="0">
                            <a:latin typeface="Cambria Math" panose="02040503050406030204" pitchFamily="18" charset="0"/>
                          </a:rPr>
                        </m:ctrlPr>
                      </m:sSubPr>
                      <m:e>
                        <m:r>
                          <a:rPr lang="es-ES" sz="1200" i="1" dirty="0" err="1" smtClean="0">
                            <a:latin typeface="Cambria Math" panose="02040503050406030204" pitchFamily="18" charset="0"/>
                          </a:rPr>
                          <m:t>𝑛</m:t>
                        </m:r>
                      </m:e>
                      <m:sub>
                        <m:r>
                          <a:rPr lang="es-ES" sz="1200" i="1" dirty="0" err="1" smtClean="0">
                            <a:latin typeface="Cambria Math" panose="02040503050406030204" pitchFamily="18" charset="0"/>
                          </a:rPr>
                          <m:t>𝑒𝑓𝑓</m:t>
                        </m:r>
                        <m:r>
                          <a:rPr lang="es-ES" sz="1200" b="0" i="1" dirty="0" smtClean="0">
                            <a:latin typeface="Cambria Math" panose="02040503050406030204" pitchFamily="18" charset="0"/>
                          </a:rPr>
                          <m:t>,</m:t>
                        </m:r>
                        <m:r>
                          <a:rPr lang="es-ES" sz="1200" b="0" i="1" dirty="0" smtClean="0">
                            <a:latin typeface="Cambria Math" panose="02040503050406030204" pitchFamily="18" charset="0"/>
                          </a:rPr>
                          <m:t>𝑢</m:t>
                        </m:r>
                      </m:sub>
                    </m:sSub>
                    <m:r>
                      <a:rPr lang="es-ES" sz="1200" b="0" i="1" dirty="0" smtClean="0">
                        <a:latin typeface="Cambria Math" panose="02040503050406030204" pitchFamily="18" charset="0"/>
                      </a:rPr>
                      <m:t> </m:t>
                    </m:r>
                    <m:r>
                      <a:rPr lang="es-ES" sz="1200" i="1" dirty="0" smtClean="0">
                        <a:latin typeface="Cambria Math" panose="02040503050406030204" pitchFamily="18" charset="0"/>
                      </a:rPr>
                      <m:t>≈</m:t>
                    </m:r>
                  </m:oMath>
                </a14:m>
                <a:r>
                  <a:rPr lang="es-ES" sz="1200" dirty="0"/>
                  <a:t> </a:t>
                </a:r>
                <a14:m>
                  <m:oMath xmlns:m="http://schemas.openxmlformats.org/officeDocument/2006/math">
                    <m:sSub>
                      <m:sSubPr>
                        <m:ctrlPr>
                          <a:rPr lang="es-ES" sz="1200" i="1" dirty="0">
                            <a:latin typeface="Cambria Math" panose="02040503050406030204" pitchFamily="18" charset="0"/>
                          </a:rPr>
                        </m:ctrlPr>
                      </m:sSubPr>
                      <m:e>
                        <m:r>
                          <a:rPr lang="es-ES" sz="1200" i="1" dirty="0" err="1">
                            <a:latin typeface="Cambria Math" panose="02040503050406030204" pitchFamily="18" charset="0"/>
                          </a:rPr>
                          <m:t>𝑛</m:t>
                        </m:r>
                      </m:e>
                      <m:sub>
                        <m:r>
                          <a:rPr lang="es-ES" sz="1200" i="1" dirty="0" err="1">
                            <a:latin typeface="Cambria Math" panose="02040503050406030204" pitchFamily="18" charset="0"/>
                          </a:rPr>
                          <m:t>𝑒𝑓𝑓</m:t>
                        </m:r>
                        <m:r>
                          <a:rPr lang="es-ES" sz="1200" i="1" dirty="0">
                            <a:latin typeface="Cambria Math" panose="02040503050406030204" pitchFamily="18" charset="0"/>
                          </a:rPr>
                          <m:t>,</m:t>
                        </m:r>
                        <m:r>
                          <a:rPr lang="es-ES" sz="1200" i="1" dirty="0">
                            <a:latin typeface="Cambria Math" panose="02040503050406030204" pitchFamily="18" charset="0"/>
                          </a:rPr>
                          <m:t>𝑑</m:t>
                        </m:r>
                      </m:sub>
                    </m:sSub>
                    <m:r>
                      <a:rPr lang="es-ES" sz="1200" i="1" dirty="0">
                        <a:latin typeface="Cambria Math" panose="02040503050406030204" pitchFamily="18" charset="0"/>
                      </a:rPr>
                      <m:t> ≈</m:t>
                    </m:r>
                  </m:oMath>
                </a14:m>
                <a:r>
                  <a:rPr lang="es-ES" sz="1200" dirty="0"/>
                  <a:t> </a:t>
                </a:r>
                <a14:m>
                  <m:oMath xmlns:m="http://schemas.openxmlformats.org/officeDocument/2006/math">
                    <m:sSub>
                      <m:sSubPr>
                        <m:ctrlPr>
                          <a:rPr lang="es-ES" sz="1200" i="1" dirty="0">
                            <a:latin typeface="Cambria Math" panose="02040503050406030204" pitchFamily="18" charset="0"/>
                          </a:rPr>
                        </m:ctrlPr>
                      </m:sSubPr>
                      <m:e>
                        <m:r>
                          <a:rPr lang="es-ES" sz="1200" i="1" dirty="0" err="1">
                            <a:latin typeface="Cambria Math" panose="02040503050406030204" pitchFamily="18" charset="0"/>
                          </a:rPr>
                          <m:t>𝑛</m:t>
                        </m:r>
                      </m:e>
                      <m:sub>
                        <m:r>
                          <a:rPr lang="es-ES" sz="1200" i="1" dirty="0" err="1">
                            <a:latin typeface="Cambria Math" panose="02040503050406030204" pitchFamily="18" charset="0"/>
                          </a:rPr>
                          <m:t>𝑒𝑓𝑓</m:t>
                        </m:r>
                      </m:sub>
                    </m:sSub>
                    <m:r>
                      <a:rPr lang="es-ES" sz="1200" i="1" dirty="0">
                        <a:latin typeface="Cambria Math" panose="02040503050406030204" pitchFamily="18" charset="0"/>
                      </a:rPr>
                      <m:t> </m:t>
                    </m:r>
                  </m:oMath>
                </a14:m>
                <a:r>
                  <a:rPr lang="es-ES" sz="1200" dirty="0"/>
                  <a:t>a 1550 nm, la diferencia de longitud requerida es:</a:t>
                </a:r>
              </a:p>
              <a:p>
                <a:pPr/>
                <a14:m>
                  <m:oMathPara xmlns:m="http://schemas.openxmlformats.org/officeDocument/2006/math">
                    <m:oMathParaPr>
                      <m:jc m:val="centerGroup"/>
                    </m:oMathParaPr>
                    <m:oMath xmlns:m="http://schemas.openxmlformats.org/officeDocument/2006/math">
                      <m:r>
                        <m:rPr>
                          <m:sty m:val="p"/>
                        </m:rPr>
                        <a:rPr lang="el-GR" sz="1200" i="0" dirty="0" smtClean="0">
                          <a:latin typeface="Cambria Math" panose="02040503050406030204" pitchFamily="18" charset="0"/>
                        </a:rPr>
                        <m:t>Δ</m:t>
                      </m:r>
                      <m:r>
                        <a:rPr lang="es-ES" sz="1200" b="0" i="1" dirty="0" smtClean="0">
                          <a:latin typeface="Cambria Math" panose="02040503050406030204" pitchFamily="18" charset="0"/>
                        </a:rPr>
                        <m:t>𝐿</m:t>
                      </m:r>
                      <m:r>
                        <a:rPr lang="el-GR" sz="1200" i="1" dirty="0" smtClean="0">
                          <a:latin typeface="Cambria Math" panose="02040503050406030204" pitchFamily="18" charset="0"/>
                        </a:rPr>
                        <m:t> =</m:t>
                      </m:r>
                      <m:r>
                        <a:rPr lang="es-ES" sz="1200" i="1" dirty="0">
                          <a:latin typeface="Cambria Math" panose="02040503050406030204" pitchFamily="18" charset="0"/>
                        </a:rPr>
                        <m:t>𝐿</m:t>
                      </m:r>
                      <m:r>
                        <a:rPr lang="es-ES" sz="1200" i="1" dirty="0">
                          <a:latin typeface="Cambria Math" panose="02040503050406030204" pitchFamily="18" charset="0"/>
                        </a:rPr>
                        <m:t>ᵤ − </m:t>
                      </m:r>
                      <m:sSub>
                        <m:sSubPr>
                          <m:ctrlPr>
                            <a:rPr lang="es-ES" sz="1200" i="1" dirty="0">
                              <a:latin typeface="Cambria Math" panose="02040503050406030204" pitchFamily="18" charset="0"/>
                            </a:rPr>
                          </m:ctrlPr>
                        </m:sSubPr>
                        <m:e>
                          <m:r>
                            <a:rPr lang="es-ES" sz="1200" i="1" dirty="0" err="1">
                              <a:latin typeface="Cambria Math" panose="02040503050406030204" pitchFamily="18" charset="0"/>
                            </a:rPr>
                            <m:t>𝐿</m:t>
                          </m:r>
                        </m:e>
                        <m:sub>
                          <m:r>
                            <a:rPr lang="es-ES" sz="1200" i="1" dirty="0" err="1">
                              <a:latin typeface="Cambria Math" panose="02040503050406030204" pitchFamily="18" charset="0"/>
                            </a:rPr>
                            <m:t>𝑑</m:t>
                          </m:r>
                        </m:sub>
                      </m:sSub>
                      <m:r>
                        <a:rPr lang="es-ES" sz="1200" b="0" i="1" dirty="0" smtClean="0">
                          <a:latin typeface="Cambria Math" panose="02040503050406030204" pitchFamily="18" charset="0"/>
                        </a:rPr>
                        <m:t>=</m:t>
                      </m:r>
                      <m:f>
                        <m:fPr>
                          <m:ctrlPr>
                            <a:rPr lang="es-ES" sz="1200" i="1" dirty="0" smtClean="0">
                              <a:latin typeface="Cambria Math" panose="02040503050406030204" pitchFamily="18" charset="0"/>
                            </a:rPr>
                          </m:ctrlPr>
                        </m:fPr>
                        <m:num>
                          <m:sSub>
                            <m:sSubPr>
                              <m:ctrlPr>
                                <a:rPr lang="el-GR" sz="1200" i="1" dirty="0">
                                  <a:latin typeface="Cambria Math" panose="02040503050406030204" pitchFamily="18" charset="0"/>
                                </a:rPr>
                              </m:ctrlPr>
                            </m:sSubPr>
                            <m:e>
                              <m:r>
                                <a:rPr lang="el-GR" sz="1200" i="1" dirty="0">
                                  <a:latin typeface="Cambria Math" panose="02040503050406030204" pitchFamily="18" charset="0"/>
                                </a:rPr>
                                <m:t>𝜆</m:t>
                              </m:r>
                            </m:e>
                            <m:sub>
                              <m:r>
                                <a:rPr lang="es-ES" sz="1200" i="1" dirty="0">
                                  <a:latin typeface="Cambria Math" panose="02040503050406030204" pitchFamily="18" charset="0"/>
                                </a:rPr>
                                <m:t>0</m:t>
                              </m:r>
                              <m:r>
                                <a:rPr lang="es-ES" sz="1200" b="0" i="1" dirty="0" smtClean="0">
                                  <a:latin typeface="Cambria Math" panose="02040503050406030204" pitchFamily="18" charset="0"/>
                                </a:rPr>
                                <m:t> </m:t>
                              </m:r>
                            </m:sub>
                          </m:sSub>
                          <m:r>
                            <a:rPr lang="es-ES" sz="1200" b="0" i="1" dirty="0" smtClean="0">
                              <a:latin typeface="Cambria Math" panose="02040503050406030204" pitchFamily="18" charset="0"/>
                            </a:rPr>
                            <m:t>𝑚</m:t>
                          </m:r>
                        </m:num>
                        <m:den>
                          <m:r>
                            <a:rPr lang="es-ES" sz="1200" b="0" i="1" dirty="0" smtClean="0">
                              <a:latin typeface="Cambria Math" panose="02040503050406030204" pitchFamily="18" charset="0"/>
                            </a:rPr>
                            <m:t>2</m:t>
                          </m:r>
                          <m:sSub>
                            <m:sSubPr>
                              <m:ctrlPr>
                                <a:rPr lang="es-ES" sz="1200" i="1" dirty="0">
                                  <a:latin typeface="Cambria Math" panose="02040503050406030204" pitchFamily="18" charset="0"/>
                                </a:rPr>
                              </m:ctrlPr>
                            </m:sSubPr>
                            <m:e>
                              <m:r>
                                <a:rPr lang="es-ES" sz="1200" b="0" i="1" dirty="0" smtClean="0">
                                  <a:latin typeface="Cambria Math" panose="02040503050406030204" pitchFamily="18" charset="0"/>
                                </a:rPr>
                                <m:t> </m:t>
                              </m:r>
                              <m:r>
                                <a:rPr lang="es-ES" sz="1200" i="1" dirty="0" err="1">
                                  <a:latin typeface="Cambria Math" panose="02040503050406030204" pitchFamily="18" charset="0"/>
                                </a:rPr>
                                <m:t>𝑛</m:t>
                              </m:r>
                            </m:e>
                            <m:sub>
                              <m:r>
                                <a:rPr lang="es-ES" sz="1200" i="1" dirty="0" err="1">
                                  <a:latin typeface="Cambria Math" panose="02040503050406030204" pitchFamily="18" charset="0"/>
                                </a:rPr>
                                <m:t>𝑒𝑓𝑓</m:t>
                              </m:r>
                            </m:sub>
                          </m:sSub>
                        </m:den>
                      </m:f>
                    </m:oMath>
                  </m:oMathPara>
                </a14:m>
                <a:endParaRPr lang="es-ES" sz="1200" dirty="0"/>
              </a:p>
            </p:txBody>
          </p:sp>
        </mc:Choice>
        <mc:Fallback xmlns="">
          <p:sp>
            <p:nvSpPr>
              <p:cNvPr id="13" name="CuadroTexto 12">
                <a:extLst>
                  <a:ext uri="{FF2B5EF4-FFF2-40B4-BE49-F238E27FC236}">
                    <a16:creationId xmlns:a16="http://schemas.microsoft.com/office/drawing/2014/main" id="{C268C0E7-A930-466A-ABCA-FAD9945F214C}"/>
                  </a:ext>
                </a:extLst>
              </p:cNvPr>
              <p:cNvSpPr txBox="1">
                <a:spLocks noRot="1" noChangeAspect="1" noMove="1" noResize="1" noEditPoints="1" noAdjustHandles="1" noChangeArrowheads="1" noChangeShapeType="1" noTextEdit="1"/>
              </p:cNvSpPr>
              <p:nvPr/>
            </p:nvSpPr>
            <p:spPr>
              <a:xfrm>
                <a:off x="565150" y="1969483"/>
                <a:ext cx="6597650" cy="1295868"/>
              </a:xfrm>
              <a:prstGeom prst="rect">
                <a:avLst/>
              </a:prstGeom>
              <a:blipFill>
                <a:blip r:embed="rId4"/>
                <a:stretch>
                  <a:fillRect l="-92"/>
                </a:stretch>
              </a:blipFill>
            </p:spPr>
            <p:txBody>
              <a:bodyPr/>
              <a:lstStyle/>
              <a:p>
                <a:r>
                  <a:rPr lang="es-ES">
                    <a:noFill/>
                  </a:rPr>
                  <a:t> </a:t>
                </a:r>
              </a:p>
            </p:txBody>
          </p:sp>
        </mc:Fallback>
      </mc:AlternateContent>
      <p:pic>
        <p:nvPicPr>
          <p:cNvPr id="17" name="Imagen 16">
            <a:extLst>
              <a:ext uri="{FF2B5EF4-FFF2-40B4-BE49-F238E27FC236}">
                <a16:creationId xmlns:a16="http://schemas.microsoft.com/office/drawing/2014/main" id="{0E734E4C-FA0B-4E4E-BD5B-6B5FBA1F22BD}"/>
              </a:ext>
            </a:extLst>
          </p:cNvPr>
          <p:cNvPicPr>
            <a:picLocks noChangeAspect="1"/>
          </p:cNvPicPr>
          <p:nvPr/>
        </p:nvPicPr>
        <p:blipFill>
          <a:blip r:embed="rId5"/>
          <a:stretch>
            <a:fillRect/>
          </a:stretch>
        </p:blipFill>
        <p:spPr>
          <a:xfrm>
            <a:off x="548217" y="1186932"/>
            <a:ext cx="7758845" cy="697662"/>
          </a:xfrm>
          <a:prstGeom prst="rect">
            <a:avLst/>
          </a:prstGeom>
        </p:spPr>
      </p:pic>
      <p:sp>
        <p:nvSpPr>
          <p:cNvPr id="19" name="CuadroTexto 18">
            <a:extLst>
              <a:ext uri="{FF2B5EF4-FFF2-40B4-BE49-F238E27FC236}">
                <a16:creationId xmlns:a16="http://schemas.microsoft.com/office/drawing/2014/main" id="{68D039BD-133D-41DE-BB41-C16C680F56D6}"/>
              </a:ext>
            </a:extLst>
          </p:cNvPr>
          <p:cNvSpPr txBox="1"/>
          <p:nvPr/>
        </p:nvSpPr>
        <p:spPr>
          <a:xfrm>
            <a:off x="8153400" y="4432068"/>
            <a:ext cx="3269192" cy="646331"/>
          </a:xfrm>
          <a:prstGeom prst="rect">
            <a:avLst/>
          </a:prstGeom>
          <a:noFill/>
        </p:spPr>
        <p:txBody>
          <a:bodyPr wrap="square">
            <a:spAutoFit/>
          </a:bodyPr>
          <a:lstStyle/>
          <a:p>
            <a:r>
              <a:rPr lang="es-ES" sz="1200" dirty="0"/>
              <a:t>Se puede observar que hay un pico mínimo justo en la longitud de onda de diseño de 1550 nm, donde ha habido una transferencia total.</a:t>
            </a:r>
          </a:p>
        </p:txBody>
      </p:sp>
    </p:spTree>
    <p:extLst>
      <p:ext uri="{BB962C8B-B14F-4D97-AF65-F5344CB8AC3E}">
        <p14:creationId xmlns:p14="http://schemas.microsoft.com/office/powerpoint/2010/main" val="38858961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565FE7-19F0-450F-8F6F-55D2FDAE90A6}"/>
              </a:ext>
            </a:extLst>
          </p:cNvPr>
          <p:cNvSpPr>
            <a:spLocks noGrp="1"/>
          </p:cNvSpPr>
          <p:nvPr>
            <p:ph type="title"/>
          </p:nvPr>
        </p:nvSpPr>
        <p:spPr/>
        <p:txBody>
          <a:bodyPr/>
          <a:lstStyle/>
          <a:p>
            <a:r>
              <a:rPr lang="en-US" b="1" dirty="0"/>
              <a:t>Assessment 5</a:t>
            </a:r>
            <a:endParaRPr lang="es-ES" dirty="0"/>
          </a:p>
        </p:txBody>
      </p:sp>
      <p:sp>
        <p:nvSpPr>
          <p:cNvPr id="3" name="Marcador de texto 2">
            <a:extLst>
              <a:ext uri="{FF2B5EF4-FFF2-40B4-BE49-F238E27FC236}">
                <a16:creationId xmlns:a16="http://schemas.microsoft.com/office/drawing/2014/main" id="{27F228D4-A51C-40EE-9098-B14537BC079F}"/>
              </a:ext>
            </a:extLst>
          </p:cNvPr>
          <p:cNvSpPr>
            <a:spLocks noGrp="1"/>
          </p:cNvSpPr>
          <p:nvPr>
            <p:ph type="body" idx="1"/>
          </p:nvPr>
        </p:nvSpPr>
        <p:spPr>
          <a:xfrm>
            <a:off x="565150" y="609600"/>
            <a:ext cx="10972800" cy="738664"/>
          </a:xfrm>
        </p:spPr>
        <p:txBody>
          <a:bodyPr/>
          <a:lstStyle/>
          <a:p>
            <a:r>
              <a:rPr lang="en-US" sz="1600" dirty="0"/>
              <a:t>Let's see how the response of the MZI varies with the effective index. Vary the effective index of one of the arms and analyze how the spectrum shifts. To do this, you can use the data provided in the .txt files entitled ‘</a:t>
            </a:r>
            <a:r>
              <a:rPr lang="en-US" sz="1600" dirty="0" err="1"/>
              <a:t>SiN</a:t>
            </a:r>
            <a:r>
              <a:rPr lang="en-US" sz="1600" dirty="0"/>
              <a:t>’. Can you give an example of an application where this configuration is used?</a:t>
            </a:r>
          </a:p>
        </p:txBody>
      </p:sp>
      <p:sp>
        <p:nvSpPr>
          <p:cNvPr id="4" name="Marcador de pie de página 3">
            <a:extLst>
              <a:ext uri="{FF2B5EF4-FFF2-40B4-BE49-F238E27FC236}">
                <a16:creationId xmlns:a16="http://schemas.microsoft.com/office/drawing/2014/main" id="{338FF05A-ED09-4CC0-8362-6B9CD58E325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9FE9DDCA-CE34-4D86-A0DA-89371ADD78E4}"/>
              </a:ext>
            </a:extLst>
          </p:cNvPr>
          <p:cNvSpPr>
            <a:spLocks noGrp="1"/>
          </p:cNvSpPr>
          <p:nvPr>
            <p:ph type="sldNum" sz="quarter" idx="7"/>
          </p:nvPr>
        </p:nvSpPr>
        <p:spPr/>
        <p:txBody>
          <a:bodyPr/>
          <a:lstStyle/>
          <a:p>
            <a:fld id="{B6F15528-21DE-4FAA-801E-634DDDAF4B2B}" type="slidenum">
              <a:rPr lang="es-ES" smtClean="0"/>
              <a:t>15</a:t>
            </a:fld>
            <a:endParaRPr lang="es-ES"/>
          </a:p>
        </p:txBody>
      </p:sp>
      <p:pic>
        <p:nvPicPr>
          <p:cNvPr id="7" name="Imagen 6">
            <a:extLst>
              <a:ext uri="{FF2B5EF4-FFF2-40B4-BE49-F238E27FC236}">
                <a16:creationId xmlns:a16="http://schemas.microsoft.com/office/drawing/2014/main" id="{5050DEE8-BE71-42B4-A91D-4B4B63AADC41}"/>
              </a:ext>
            </a:extLst>
          </p:cNvPr>
          <p:cNvPicPr>
            <a:picLocks noChangeAspect="1"/>
          </p:cNvPicPr>
          <p:nvPr/>
        </p:nvPicPr>
        <p:blipFill>
          <a:blip r:embed="rId2"/>
          <a:stretch>
            <a:fillRect/>
          </a:stretch>
        </p:blipFill>
        <p:spPr>
          <a:xfrm>
            <a:off x="590550" y="2286000"/>
            <a:ext cx="3854450" cy="2875542"/>
          </a:xfrm>
          <a:prstGeom prst="rect">
            <a:avLst/>
          </a:prstGeom>
        </p:spPr>
      </p:pic>
      <p:sp>
        <p:nvSpPr>
          <p:cNvPr id="11" name="CuadroTexto 10">
            <a:extLst>
              <a:ext uri="{FF2B5EF4-FFF2-40B4-BE49-F238E27FC236}">
                <a16:creationId xmlns:a16="http://schemas.microsoft.com/office/drawing/2014/main" id="{1F80AFB4-1BC5-4A10-B80C-F466D6BA1FB5}"/>
              </a:ext>
            </a:extLst>
          </p:cNvPr>
          <p:cNvSpPr txBox="1"/>
          <p:nvPr/>
        </p:nvSpPr>
        <p:spPr>
          <a:xfrm>
            <a:off x="4876800" y="1752600"/>
            <a:ext cx="6324600" cy="276999"/>
          </a:xfrm>
          <a:prstGeom prst="rect">
            <a:avLst/>
          </a:prstGeom>
          <a:noFill/>
        </p:spPr>
        <p:txBody>
          <a:bodyPr wrap="square" rtlCol="0">
            <a:spAutoFit/>
          </a:bodyPr>
          <a:lstStyle/>
          <a:p>
            <a:endParaRPr lang="es-ES" sz="1200" dirty="0"/>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EC98946-20FD-4FF7-8E97-4236F82880DC}"/>
                  </a:ext>
                </a:extLst>
              </p:cNvPr>
              <p:cNvSpPr txBox="1"/>
              <p:nvPr/>
            </p:nvSpPr>
            <p:spPr>
              <a:xfrm>
                <a:off x="4876800" y="2625491"/>
                <a:ext cx="6629400" cy="2202911"/>
              </a:xfrm>
              <a:prstGeom prst="rect">
                <a:avLst/>
              </a:prstGeom>
              <a:noFill/>
            </p:spPr>
            <p:txBody>
              <a:bodyPr wrap="square" rtlCol="0">
                <a:spAutoFit/>
              </a:bodyPr>
              <a:lstStyle/>
              <a:p>
                <a:r>
                  <a:rPr lang="es-ES" sz="1400" dirty="0"/>
                  <a:t>Efecto de la variación del Índice Efectivo </a:t>
                </a:r>
                <a14:m>
                  <m:oMath xmlns:m="http://schemas.openxmlformats.org/officeDocument/2006/math">
                    <m:d>
                      <m:dPr>
                        <m:ctrlPr>
                          <a:rPr lang="es-ES" sz="1400" i="1" dirty="0" smtClean="0">
                            <a:latin typeface="Cambria Math" panose="02040503050406030204" pitchFamily="18" charset="0"/>
                          </a:rPr>
                        </m:ctrlPr>
                      </m:dPr>
                      <m:e>
                        <m:sSub>
                          <m:sSubPr>
                            <m:ctrlPr>
                              <a:rPr lang="es-ES" sz="1400" i="1" dirty="0" smtClean="0">
                                <a:latin typeface="Cambria Math" panose="02040503050406030204" pitchFamily="18" charset="0"/>
                              </a:rPr>
                            </m:ctrlPr>
                          </m:sSubPr>
                          <m:e>
                            <m:r>
                              <a:rPr lang="es-ES" sz="1400" i="1" dirty="0" smtClean="0">
                                <a:latin typeface="Cambria Math" panose="02040503050406030204" pitchFamily="18" charset="0"/>
                              </a:rPr>
                              <m:t>𝑛</m:t>
                            </m:r>
                          </m:e>
                          <m:sub>
                            <m:r>
                              <a:rPr lang="es-ES" sz="1400" b="0" i="1" dirty="0" smtClean="0">
                                <a:latin typeface="Cambria Math" panose="02040503050406030204" pitchFamily="18" charset="0"/>
                              </a:rPr>
                              <m:t>𝑒𝑓𝑓</m:t>
                            </m:r>
                          </m:sub>
                        </m:sSub>
                      </m:e>
                    </m:d>
                  </m:oMath>
                </a14:m>
                <a:r>
                  <a:rPr lang="es-ES" sz="1400" dirty="0"/>
                  <a:t>:</a:t>
                </a:r>
              </a:p>
              <a:p>
                <a:pPr marL="285750" indent="-285750">
                  <a:buFont typeface="Arial" panose="020B0604020202020204" pitchFamily="34" charset="0"/>
                  <a:buChar char="•"/>
                </a:pPr>
                <a:r>
                  <a:rPr lang="es-ES" sz="1400" dirty="0"/>
                  <a:t>Al aumentar </a:t>
                </a:r>
                <a14:m>
                  <m:oMath xmlns:m="http://schemas.openxmlformats.org/officeDocument/2006/math">
                    <m:sSub>
                      <m:sSubPr>
                        <m:ctrlPr>
                          <a:rPr lang="es-ES" sz="1400" i="1" dirty="0" smtClean="0">
                            <a:latin typeface="Cambria Math" panose="02040503050406030204" pitchFamily="18" charset="0"/>
                          </a:rPr>
                        </m:ctrlPr>
                      </m:sSubPr>
                      <m:e>
                        <m:r>
                          <a:rPr lang="es-ES" sz="1400" i="1" dirty="0" smtClean="0">
                            <a:latin typeface="Cambria Math" panose="02040503050406030204" pitchFamily="18" charset="0"/>
                          </a:rPr>
                          <m:t>𝑛</m:t>
                        </m:r>
                      </m:e>
                      <m:sub>
                        <m:r>
                          <a:rPr lang="es-ES" sz="1400" i="1" dirty="0" smtClean="0">
                            <a:latin typeface="Cambria Math" panose="02040503050406030204" pitchFamily="18" charset="0"/>
                          </a:rPr>
                          <m:t>𝑒𝑓𝑓</m:t>
                        </m:r>
                      </m:sub>
                    </m:sSub>
                  </m:oMath>
                </a14:m>
                <a:r>
                  <a:rPr lang="es-ES" sz="1400" dirty="0"/>
                  <a:t> en un brazo, el espectro se desplaza hacia longitudes de onda mayores.</a:t>
                </a:r>
              </a:p>
              <a:p>
                <a:pPr marL="285750" indent="-285750">
                  <a:buFont typeface="Arial" panose="020B0604020202020204" pitchFamily="34" charset="0"/>
                  <a:buChar char="•"/>
                </a:pPr>
                <a:endParaRPr lang="es-ES" sz="1400" dirty="0"/>
              </a:p>
              <a:p>
                <a:pPr marL="285750" indent="-285750">
                  <a:buFont typeface="Arial" panose="020B0604020202020204" pitchFamily="34" charset="0"/>
                  <a:buChar char="•"/>
                </a:pPr>
                <a:r>
                  <a:rPr lang="es-ES" sz="1400" dirty="0"/>
                  <a:t>La fase depende de </a:t>
                </a:r>
                <a14:m>
                  <m:oMath xmlns:m="http://schemas.openxmlformats.org/officeDocument/2006/math">
                    <m:r>
                      <m:rPr>
                        <m:sty m:val="p"/>
                      </m:rPr>
                      <a:rPr lang="es-ES" sz="1400" i="0" dirty="0" smtClean="0">
                        <a:latin typeface="Cambria Math" panose="02040503050406030204" pitchFamily="18" charset="0"/>
                      </a:rPr>
                      <m:t>Δ</m:t>
                    </m:r>
                    <m:r>
                      <a:rPr lang="es-ES" sz="1400" i="1" dirty="0" smtClean="0">
                        <a:latin typeface="Cambria Math" panose="02040503050406030204" pitchFamily="18" charset="0"/>
                      </a:rPr>
                      <m:t>𝜙</m:t>
                    </m:r>
                    <m:r>
                      <a:rPr lang="es-ES" sz="1400" i="1" dirty="0" smtClean="0">
                        <a:latin typeface="Cambria Math" panose="02040503050406030204" pitchFamily="18" charset="0"/>
                      </a:rPr>
                      <m:t>∝</m:t>
                    </m:r>
                    <m:f>
                      <m:fPr>
                        <m:ctrlPr>
                          <a:rPr lang="es-ES" sz="1400" i="1" dirty="0" smtClean="0">
                            <a:latin typeface="Cambria Math" panose="02040503050406030204" pitchFamily="18" charset="0"/>
                          </a:rPr>
                        </m:ctrlPr>
                      </m:fPr>
                      <m:num>
                        <m:sSub>
                          <m:sSubPr>
                            <m:ctrlPr>
                              <a:rPr lang="es-ES" sz="1400" i="1" dirty="0" smtClean="0">
                                <a:latin typeface="Cambria Math" panose="02040503050406030204" pitchFamily="18" charset="0"/>
                              </a:rPr>
                            </m:ctrlPr>
                          </m:sSubPr>
                          <m:e>
                            <m:r>
                              <a:rPr lang="es-ES" sz="1400" i="1" dirty="0" smtClean="0">
                                <a:latin typeface="Cambria Math" panose="02040503050406030204" pitchFamily="18" charset="0"/>
                              </a:rPr>
                              <m:t>𝑛</m:t>
                            </m:r>
                          </m:e>
                          <m:sub>
                            <m:r>
                              <a:rPr lang="es-ES" sz="1400" i="1" dirty="0" smtClean="0">
                                <a:latin typeface="Cambria Math" panose="02040503050406030204" pitchFamily="18" charset="0"/>
                              </a:rPr>
                              <m:t>𝑒𝑓𝑓</m:t>
                            </m:r>
                          </m:sub>
                        </m:sSub>
                      </m:num>
                      <m:den>
                        <m:r>
                          <a:rPr lang="es-ES" sz="1400" i="1" dirty="0" smtClean="0">
                            <a:latin typeface="Cambria Math" panose="02040503050406030204" pitchFamily="18" charset="0"/>
                          </a:rPr>
                          <m:t>𝜆</m:t>
                        </m:r>
                      </m:den>
                    </m:f>
                  </m:oMath>
                </a14:m>
                <a:r>
                  <a:rPr lang="es-ES" sz="1400" dirty="0"/>
                  <a:t>. Para mantener la condición de interferencia constructiva </a:t>
                </a:r>
                <a14:m>
                  <m:oMath xmlns:m="http://schemas.openxmlformats.org/officeDocument/2006/math">
                    <m:d>
                      <m:dPr>
                        <m:ctrlPr>
                          <a:rPr lang="es-ES" sz="1400" i="1" dirty="0" smtClean="0">
                            <a:latin typeface="Cambria Math" panose="02040503050406030204" pitchFamily="18" charset="0"/>
                          </a:rPr>
                        </m:ctrlPr>
                      </m:dPr>
                      <m:e>
                        <m:r>
                          <a:rPr lang="es-ES" sz="1400" i="1" dirty="0" smtClean="0">
                            <a:latin typeface="Cambria Math" panose="02040503050406030204" pitchFamily="18" charset="0"/>
                          </a:rPr>
                          <m:t>𝑚</m:t>
                        </m:r>
                        <m:r>
                          <a:rPr lang="es-ES" sz="1400" i="1" dirty="0" smtClean="0">
                            <a:latin typeface="Cambria Math" panose="02040503050406030204" pitchFamily="18" charset="0"/>
                          </a:rPr>
                          <m:t>⋅2</m:t>
                        </m:r>
                        <m:r>
                          <a:rPr lang="es-ES" sz="1400" i="1" dirty="0" smtClean="0">
                            <a:latin typeface="Cambria Math" panose="02040503050406030204" pitchFamily="18" charset="0"/>
                          </a:rPr>
                          <m:t>𝜋</m:t>
                        </m:r>
                      </m:e>
                    </m:d>
                    <m:r>
                      <a:rPr lang="es-ES" sz="1400" i="1" dirty="0" smtClean="0">
                        <a:latin typeface="Cambria Math" panose="02040503050406030204" pitchFamily="18" charset="0"/>
                      </a:rPr>
                      <m:t>, </m:t>
                    </m:r>
                  </m:oMath>
                </a14:m>
                <a:r>
                  <a:rPr lang="es-ES" sz="1400" dirty="0"/>
                  <a:t>si </a:t>
                </a:r>
                <a14:m>
                  <m:oMath xmlns:m="http://schemas.openxmlformats.org/officeDocument/2006/math">
                    <m:sSub>
                      <m:sSubPr>
                        <m:ctrlPr>
                          <a:rPr lang="es-ES" sz="1400" i="1" dirty="0" smtClean="0">
                            <a:latin typeface="Cambria Math" panose="02040503050406030204" pitchFamily="18" charset="0"/>
                          </a:rPr>
                        </m:ctrlPr>
                      </m:sSubPr>
                      <m:e>
                        <m:r>
                          <a:rPr lang="es-ES" sz="1400" i="1" dirty="0" smtClean="0">
                            <a:latin typeface="Cambria Math" panose="02040503050406030204" pitchFamily="18" charset="0"/>
                          </a:rPr>
                          <m:t>𝑛</m:t>
                        </m:r>
                      </m:e>
                      <m:sub>
                        <m:r>
                          <a:rPr lang="es-ES" sz="1400" i="1" dirty="0" smtClean="0">
                            <a:latin typeface="Cambria Math" panose="02040503050406030204" pitchFamily="18" charset="0"/>
                          </a:rPr>
                          <m:t>𝑒𝑓𝑓</m:t>
                        </m:r>
                      </m:sub>
                    </m:sSub>
                  </m:oMath>
                </a14:m>
                <a:r>
                  <a:rPr lang="es-ES" sz="1400" dirty="0"/>
                  <a:t> sube, </a:t>
                </a:r>
                <a14:m>
                  <m:oMath xmlns:m="http://schemas.openxmlformats.org/officeDocument/2006/math">
                    <m:r>
                      <a:rPr lang="es-ES" sz="1400" i="1" dirty="0" smtClean="0">
                        <a:latin typeface="Cambria Math" panose="02040503050406030204" pitchFamily="18" charset="0"/>
                      </a:rPr>
                      <m:t>𝜆</m:t>
                    </m:r>
                    <m:r>
                      <a:rPr lang="es-ES" sz="1400" i="1" dirty="0" smtClean="0">
                        <a:latin typeface="Cambria Math" panose="02040503050406030204" pitchFamily="18" charset="0"/>
                      </a:rPr>
                      <m:t> </m:t>
                    </m:r>
                  </m:oMath>
                </a14:m>
                <a:r>
                  <a:rPr lang="es-ES" sz="1400" dirty="0"/>
                  <a:t>debe subir.</a:t>
                </a:r>
              </a:p>
              <a:p>
                <a:pPr marL="285750" indent="-285750">
                  <a:buFont typeface="Arial" panose="020B0604020202020204" pitchFamily="34" charset="0"/>
                  <a:buChar char="•"/>
                </a:pPr>
                <a:endParaRPr lang="es-ES" sz="1400" dirty="0"/>
              </a:p>
              <a:p>
                <a:pPr marL="285750" indent="-285750">
                  <a:buFont typeface="Arial" panose="020B0604020202020204" pitchFamily="34" charset="0"/>
                  <a:buChar char="•"/>
                </a:pPr>
                <a:r>
                  <a:rPr lang="es-ES" sz="1400" dirty="0"/>
                  <a:t>Aplicación: Moduladores electro-ópticos. Se cambia </a:t>
                </a:r>
                <a14:m>
                  <m:oMath xmlns:m="http://schemas.openxmlformats.org/officeDocument/2006/math">
                    <m:sSub>
                      <m:sSubPr>
                        <m:ctrlPr>
                          <a:rPr lang="es-ES" sz="1400" i="1" dirty="0" smtClean="0">
                            <a:latin typeface="Cambria Math" panose="02040503050406030204" pitchFamily="18" charset="0"/>
                          </a:rPr>
                        </m:ctrlPr>
                      </m:sSubPr>
                      <m:e>
                        <m:r>
                          <a:rPr lang="es-ES" sz="1400" i="1" dirty="0" smtClean="0">
                            <a:latin typeface="Cambria Math" panose="02040503050406030204" pitchFamily="18" charset="0"/>
                          </a:rPr>
                          <m:t>𝑛</m:t>
                        </m:r>
                      </m:e>
                      <m:sub>
                        <m:r>
                          <a:rPr lang="es-ES" sz="1400" i="1" dirty="0" smtClean="0">
                            <a:latin typeface="Cambria Math" panose="02040503050406030204" pitchFamily="18" charset="0"/>
                          </a:rPr>
                          <m:t>𝑒𝑓𝑓</m:t>
                        </m:r>
                      </m:sub>
                    </m:sSub>
                  </m:oMath>
                </a14:m>
                <a:r>
                  <a:rPr lang="es-ES" sz="1400" dirty="0"/>
                  <a:t> aplicando voltaje para desplazar el espectro y "apagar/encender" la luz (transmitir 0s y 1s).</a:t>
                </a:r>
              </a:p>
            </p:txBody>
          </p:sp>
        </mc:Choice>
        <mc:Fallback xmlns="">
          <p:sp>
            <p:nvSpPr>
              <p:cNvPr id="16" name="CuadroTexto 15">
                <a:extLst>
                  <a:ext uri="{FF2B5EF4-FFF2-40B4-BE49-F238E27FC236}">
                    <a16:creationId xmlns:a16="http://schemas.microsoft.com/office/drawing/2014/main" id="{2EC98946-20FD-4FF7-8E97-4236F82880DC}"/>
                  </a:ext>
                </a:extLst>
              </p:cNvPr>
              <p:cNvSpPr txBox="1">
                <a:spLocks noRot="1" noChangeAspect="1" noMove="1" noResize="1" noEditPoints="1" noAdjustHandles="1" noChangeArrowheads="1" noChangeShapeType="1" noTextEdit="1"/>
              </p:cNvSpPr>
              <p:nvPr/>
            </p:nvSpPr>
            <p:spPr>
              <a:xfrm>
                <a:off x="4876800" y="2625491"/>
                <a:ext cx="6629400" cy="2202911"/>
              </a:xfrm>
              <a:prstGeom prst="rect">
                <a:avLst/>
              </a:prstGeom>
              <a:blipFill>
                <a:blip r:embed="rId3"/>
                <a:stretch>
                  <a:fillRect l="-276" b="-1939"/>
                </a:stretch>
              </a:blipFill>
            </p:spPr>
            <p:txBody>
              <a:bodyPr/>
              <a:lstStyle/>
              <a:p>
                <a:r>
                  <a:rPr lang="es-ES">
                    <a:noFill/>
                  </a:rPr>
                  <a:t> </a:t>
                </a:r>
              </a:p>
            </p:txBody>
          </p:sp>
        </mc:Fallback>
      </mc:AlternateContent>
    </p:spTree>
    <p:extLst>
      <p:ext uri="{BB962C8B-B14F-4D97-AF65-F5344CB8AC3E}">
        <p14:creationId xmlns:p14="http://schemas.microsoft.com/office/powerpoint/2010/main" val="1237145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565FE7-19F0-450F-8F6F-55D2FDAE90A6}"/>
              </a:ext>
            </a:extLst>
          </p:cNvPr>
          <p:cNvSpPr>
            <a:spLocks noGrp="1"/>
          </p:cNvSpPr>
          <p:nvPr>
            <p:ph type="title"/>
          </p:nvPr>
        </p:nvSpPr>
        <p:spPr/>
        <p:txBody>
          <a:bodyPr/>
          <a:lstStyle/>
          <a:p>
            <a:r>
              <a:rPr lang="en-US" b="1" dirty="0"/>
              <a:t>Assessment 6</a:t>
            </a:r>
            <a:endParaRPr lang="es-ES" dirty="0"/>
          </a:p>
        </p:txBody>
      </p:sp>
      <p:sp>
        <p:nvSpPr>
          <p:cNvPr id="3" name="Marcador de texto 2">
            <a:extLst>
              <a:ext uri="{FF2B5EF4-FFF2-40B4-BE49-F238E27FC236}">
                <a16:creationId xmlns:a16="http://schemas.microsoft.com/office/drawing/2014/main" id="{27F228D4-A51C-40EE-9098-B14537BC079F}"/>
              </a:ext>
            </a:extLst>
          </p:cNvPr>
          <p:cNvSpPr>
            <a:spLocks noGrp="1"/>
          </p:cNvSpPr>
          <p:nvPr>
            <p:ph type="body" idx="1"/>
          </p:nvPr>
        </p:nvSpPr>
        <p:spPr>
          <a:xfrm>
            <a:off x="565150" y="609600"/>
            <a:ext cx="10972800" cy="492443"/>
          </a:xfrm>
        </p:spPr>
        <p:txBody>
          <a:bodyPr/>
          <a:lstStyle/>
          <a:p>
            <a:r>
              <a:rPr lang="en-US" sz="1600" dirty="0"/>
              <a:t>Explore how cascading two MZIs affects the transmission spectrum. To do so, design a system in which two MZIs are cascaded. Simulate and observe the spectrum, explaining how the transmission peaks behave</a:t>
            </a:r>
            <a:r>
              <a:rPr lang="en-US" sz="1600" b="1" dirty="0"/>
              <a:t>.</a:t>
            </a:r>
            <a:endParaRPr lang="es-ES" dirty="0"/>
          </a:p>
        </p:txBody>
      </p:sp>
      <p:sp>
        <p:nvSpPr>
          <p:cNvPr id="4" name="Marcador de pie de página 3">
            <a:extLst>
              <a:ext uri="{FF2B5EF4-FFF2-40B4-BE49-F238E27FC236}">
                <a16:creationId xmlns:a16="http://schemas.microsoft.com/office/drawing/2014/main" id="{338FF05A-ED09-4CC0-8362-6B9CD58E325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9FE9DDCA-CE34-4D86-A0DA-89371ADD78E4}"/>
              </a:ext>
            </a:extLst>
          </p:cNvPr>
          <p:cNvSpPr>
            <a:spLocks noGrp="1"/>
          </p:cNvSpPr>
          <p:nvPr>
            <p:ph type="sldNum" sz="quarter" idx="7"/>
          </p:nvPr>
        </p:nvSpPr>
        <p:spPr/>
        <p:txBody>
          <a:bodyPr/>
          <a:lstStyle/>
          <a:p>
            <a:fld id="{B6F15528-21DE-4FAA-801E-634DDDAF4B2B}" type="slidenum">
              <a:rPr lang="es-ES" smtClean="0"/>
              <a:t>16</a:t>
            </a:fld>
            <a:endParaRPr lang="es-ES"/>
          </a:p>
        </p:txBody>
      </p:sp>
      <p:pic>
        <p:nvPicPr>
          <p:cNvPr id="7" name="Imagen 6">
            <a:extLst>
              <a:ext uri="{FF2B5EF4-FFF2-40B4-BE49-F238E27FC236}">
                <a16:creationId xmlns:a16="http://schemas.microsoft.com/office/drawing/2014/main" id="{87043518-7C39-494D-823A-392467960AFB}"/>
              </a:ext>
            </a:extLst>
          </p:cNvPr>
          <p:cNvPicPr>
            <a:picLocks noChangeAspect="1"/>
          </p:cNvPicPr>
          <p:nvPr/>
        </p:nvPicPr>
        <p:blipFill>
          <a:blip r:embed="rId2"/>
          <a:stretch>
            <a:fillRect/>
          </a:stretch>
        </p:blipFill>
        <p:spPr>
          <a:xfrm>
            <a:off x="5943600" y="2209800"/>
            <a:ext cx="5324475" cy="3442658"/>
          </a:xfrm>
          <a:prstGeom prst="rect">
            <a:avLst/>
          </a:prstGeom>
        </p:spPr>
      </p:pic>
      <p:pic>
        <p:nvPicPr>
          <p:cNvPr id="9" name="Imagen 8">
            <a:extLst>
              <a:ext uri="{FF2B5EF4-FFF2-40B4-BE49-F238E27FC236}">
                <a16:creationId xmlns:a16="http://schemas.microsoft.com/office/drawing/2014/main" id="{4A5DA646-A700-476B-86BB-0C3B013AC08F}"/>
              </a:ext>
            </a:extLst>
          </p:cNvPr>
          <p:cNvPicPr>
            <a:picLocks noChangeAspect="1"/>
          </p:cNvPicPr>
          <p:nvPr/>
        </p:nvPicPr>
        <p:blipFill>
          <a:blip r:embed="rId3"/>
          <a:stretch>
            <a:fillRect/>
          </a:stretch>
        </p:blipFill>
        <p:spPr>
          <a:xfrm>
            <a:off x="685800" y="2243667"/>
            <a:ext cx="4854403" cy="3138722"/>
          </a:xfrm>
          <a:prstGeom prst="rect">
            <a:avLst/>
          </a:prstGeom>
        </p:spPr>
      </p:pic>
    </p:spTree>
    <p:extLst>
      <p:ext uri="{BB962C8B-B14F-4D97-AF65-F5344CB8AC3E}">
        <p14:creationId xmlns:p14="http://schemas.microsoft.com/office/powerpoint/2010/main" val="2938817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1728</TotalTime>
  <Words>1440</Words>
  <Application>Microsoft Office PowerPoint</Application>
  <PresentationFormat>Panorámica</PresentationFormat>
  <Paragraphs>178</Paragraphs>
  <Slides>17</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Courier New</vt:lpstr>
      <vt:lpstr>Lucida Sans</vt:lpstr>
      <vt:lpstr>Office Theme</vt:lpstr>
      <vt:lpstr>Presentación de PowerPoint</vt:lpstr>
      <vt:lpstr>Instructions General</vt:lpstr>
      <vt:lpstr>ASSESSMENT #1 – Recap from theory – MZI configurations </vt:lpstr>
      <vt:lpstr>Implementation for each one of the configurations studied during MZI lecture</vt:lpstr>
      <vt:lpstr>Implementation for each one of the configurations studied during MZI lecture</vt:lpstr>
      <vt:lpstr>Implementation for each one of the configurations studied during MZI lecture</vt:lpstr>
      <vt:lpstr>Implementation for each one of the configurations studied during MZI lecture</vt:lpstr>
      <vt:lpstr>Compute also some examples with α≠0 and γ≠0</vt:lpstr>
      <vt:lpstr>ASSESSMENT #2 – Recap from theory – Calculation of ΔL  </vt:lpstr>
      <vt:lpstr>ASSESSMENT #3 – SAX implementation  </vt:lpstr>
      <vt:lpstr>Código empleado para obtener la función de transferencia empleando el modelado SAX  </vt:lpstr>
      <vt:lpstr>Comparative plot of the models</vt:lpstr>
      <vt:lpstr>Extra assessments </vt:lpstr>
      <vt:lpstr>Assessment 4</vt:lpstr>
      <vt:lpstr>Assessment 5</vt:lpstr>
      <vt:lpstr>Assessment 6</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45</cp:revision>
  <dcterms:created xsi:type="dcterms:W3CDTF">2025-01-27T02:46:57Z</dcterms:created>
  <dcterms:modified xsi:type="dcterms:W3CDTF">2026-03-09T18:37:04Z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