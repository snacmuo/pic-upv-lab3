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0"/>
  </p:notesMasterIdLst>
  <p:handoutMasterIdLst>
    <p:handoutMasterId r:id="rId11"/>
  </p:handoutMasterIdLst>
  <p:sldIdLst>
    <p:sldId id="256" r:id="rId2"/>
    <p:sldId id="289" r:id="rId3"/>
    <p:sldId id="290" r:id="rId4"/>
    <p:sldId id="297" r:id="rId5"/>
    <p:sldId id="295" r:id="rId6"/>
    <p:sldId id="296" r:id="rId7"/>
    <p:sldId id="293" r:id="rId8"/>
    <p:sldId id="288" r:id="rId9"/>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113" d="100"/>
          <a:sy n="113" d="100"/>
        </p:scale>
        <p:origin x="1056" y="10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02/03/2026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02/03/2026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B2A21-C6A2-C5B9-2DCA-3754617037C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BC95D30-E081-8AAE-817B-40A03306A70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A6FC665-BCC5-C316-DC0F-D9DFBC4440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DB17553-B500-6323-E98B-E84BE727295F}"/>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25376748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DDBC6-7EB2-AE62-0F4B-A0A0672ADDB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8084C1-6F54-16C8-7D2F-21346675C89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E869975-D523-6D26-7FF4-105B0303577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0561EB6-B461-33D1-E122-96F4761D22F7}"/>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10737731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29173827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4A8576ED-D269-3C6B-30E8-402BA30F4741}"/>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3. INTERFEROMETERS I</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085B3A29-7AE1-3DAD-3BD8-A0E9707EE888}"/>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svg"/><Relationship Id="rId7"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hyperlink" Target="https://github.com/cccanvas-upv/pic-upv-lab3.git"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4.sv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8299324" cy="1010533"/>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3. </a:t>
            </a:r>
            <a:r>
              <a:rPr lang="es-ES" sz="3200" b="1" dirty="0" err="1">
                <a:latin typeface="Lucida Sans"/>
                <a:cs typeface="Lucida Sans"/>
              </a:rPr>
              <a:t>Interferometers</a:t>
            </a:r>
            <a:r>
              <a:rPr lang="es-ES" sz="3200" b="1" dirty="0">
                <a:latin typeface="Lucida Sans"/>
                <a:cs typeface="Lucida Sans"/>
              </a:rPr>
              <a:t> I – MZI</a:t>
            </a:r>
          </a:p>
          <a:p>
            <a:pPr marL="12700">
              <a:lnSpc>
                <a:spcPct val="100000"/>
              </a:lnSpc>
              <a:spcBef>
                <a:spcPts val="100"/>
              </a:spcBef>
            </a:pP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b="1" kern="0" dirty="0">
                <a:solidFill>
                  <a:sysClr val="windowText" lastClr="000000"/>
                </a:solidFill>
              </a:rPr>
              <a:t>SOFTWARE</a:t>
            </a:r>
          </a:p>
          <a:p>
            <a:pPr marL="342900" indent="-342900">
              <a:buFont typeface="Arial" panose="020B0604020202020204" pitchFamily="34" charset="0"/>
              <a:buChar char="•"/>
            </a:pPr>
            <a:r>
              <a:rPr lang="en-US" kern="0" dirty="0">
                <a:solidFill>
                  <a:sysClr val="windowText" lastClr="000000"/>
                </a:solidFill>
              </a:rPr>
              <a:t>Python notebook supplied by instructors</a:t>
            </a:r>
            <a:endParaRPr lang="en-US" kern="0" dirty="0">
              <a:solidFill>
                <a:sysClr val="windowText" lastClr="000000"/>
              </a:solidFill>
              <a:sym typeface="Wingdings" pitchFamily="2" charset="2"/>
            </a:endParaRPr>
          </a:p>
          <a:p>
            <a:pPr algn="just"/>
            <a:endParaRPr lang="en-US" sz="2000" b="1" kern="0" dirty="0">
              <a:solidFill>
                <a:sysClr val="windowText" lastClr="000000"/>
              </a:solidFill>
              <a:sym typeface="Wingdings" pitchFamily="2" charset="2"/>
            </a:endParaRPr>
          </a:p>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a:t>
            </a:r>
            <a:r>
              <a:rPr lang="en-US" kern="0" dirty="0" err="1">
                <a:solidFill>
                  <a:sysClr val="windowText" lastClr="000000"/>
                </a:solidFill>
                <a:sym typeface="Wingdings" pitchFamily="2" charset="2"/>
              </a:rPr>
              <a:t>Poliformat</a:t>
            </a:r>
            <a:r>
              <a:rPr lang="en-US" kern="0" dirty="0">
                <a:solidFill>
                  <a:sysClr val="windowText" lastClr="000000"/>
                </a:solidFill>
                <a:sym typeface="Wingdings" pitchFamily="2" charset="2"/>
              </a:rPr>
              <a:t>  download the 030_INTERFEROMETERS_v2025_Student_UPDATE2.ipynb</a:t>
            </a:r>
          </a:p>
          <a:p>
            <a:pPr marL="342900" indent="-342900" algn="just">
              <a:buFont typeface="Arial" panose="020B0604020202020204" pitchFamily="34" charset="0"/>
              <a:buChar char="•"/>
            </a:pPr>
            <a:r>
              <a:rPr lang="es-ES" dirty="0">
                <a:hlinkClick r:id="rId4" tooltip="https://github.com/cccanvas-upv/pic-upv-lab3.git"/>
              </a:rPr>
              <a:t>https://github.com/cccanvas-upv/pic-upv-lab3.git</a:t>
            </a:r>
            <a:endParaRPr lang="en-US" kern="0" dirty="0">
              <a:solidFill>
                <a:sysClr val="windowText" lastClr="000000"/>
              </a:solidFill>
              <a:sym typeface="Wingdings" pitchFamily="2" charset="2"/>
            </a:endParaRPr>
          </a:p>
          <a:p>
            <a:pPr algn="just"/>
            <a:endParaRPr lang="en-US" b="1" i="1" dirty="0"/>
          </a:p>
          <a:p>
            <a:pPr algn="just"/>
            <a:r>
              <a:rPr lang="en-US" b="1" i="1" dirty="0"/>
              <a:t>COMPONENT </a:t>
            </a:r>
            <a:r>
              <a:rPr lang="en-US" i="1" dirty="0"/>
              <a:t>to be studied: Mach-</a:t>
            </a:r>
            <a:r>
              <a:rPr lang="en-US" i="1" dirty="0" err="1"/>
              <a:t>Zendher</a:t>
            </a:r>
            <a:r>
              <a:rPr lang="en-US" i="1" dirty="0"/>
              <a:t> Interferometer (MZI)</a:t>
            </a:r>
            <a:endParaRPr lang="en-US" b="1" i="1" dirty="0"/>
          </a:p>
          <a:p>
            <a:pPr algn="just"/>
            <a:endParaRPr lang="en-US" sz="2000" b="1" i="1" dirty="0"/>
          </a:p>
          <a:p>
            <a:pPr algn="just"/>
            <a:endParaRPr lang="en-US" sz="2000" kern="0" dirty="0">
              <a:solidFill>
                <a:sysClr val="windowText" lastClr="000000"/>
              </a:solidFill>
            </a:endParaRPr>
          </a:p>
        </p:txBody>
      </p:sp>
      <p:sp>
        <p:nvSpPr>
          <p:cNvPr id="6" name="Rectángulo 5">
            <a:extLst>
              <a:ext uri="{FF2B5EF4-FFF2-40B4-BE49-F238E27FC236}">
                <a16:creationId xmlns:a16="http://schemas.microsoft.com/office/drawing/2014/main" id="{35FA208B-932F-D4ED-88E9-25FD18EC7B01}"/>
              </a:ext>
            </a:extLst>
          </p:cNvPr>
          <p:cNvSpPr/>
          <p:nvPr/>
        </p:nvSpPr>
        <p:spPr>
          <a:xfrm>
            <a:off x="4561100" y="4664608"/>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3" name="Rectángulo 12">
            <a:extLst>
              <a:ext uri="{FF2B5EF4-FFF2-40B4-BE49-F238E27FC236}">
                <a16:creationId xmlns:a16="http://schemas.microsoft.com/office/drawing/2014/main" id="{C4EDD22A-FE36-2345-71E2-5ADFA2129F2D}"/>
              </a:ext>
            </a:extLst>
          </p:cNvPr>
          <p:cNvSpPr/>
          <p:nvPr/>
        </p:nvSpPr>
        <p:spPr>
          <a:xfrm>
            <a:off x="4561099" y="5095683"/>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D94160E-A324-6E21-DC14-0EE2D556E973}"/>
                  </a:ext>
                </a:extLst>
              </p:cNvPr>
              <p:cNvSpPr txBox="1"/>
              <p:nvPr/>
            </p:nvSpPr>
            <p:spPr>
              <a:xfrm>
                <a:off x="5634197" y="4293214"/>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𝑢</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i="1" dirty="0">
                            <a:solidFill>
                              <a:schemeClr val="tx1"/>
                            </a:solidFill>
                            <a:latin typeface="Cambria Math" panose="02040503050406030204" pitchFamily="18" charset="0"/>
                          </a:rPr>
                          <m:t>𝑢</m:t>
                        </m:r>
                      </m:sub>
                    </m:sSub>
                  </m:oMath>
                </a14:m>
                <a:r>
                  <a:rPr lang="en-US" dirty="0">
                    <a:solidFill>
                      <a:schemeClr val="tx1"/>
                    </a:solidFill>
                  </a:rPr>
                  <a:t> </a:t>
                </a:r>
              </a:p>
            </p:txBody>
          </p:sp>
        </mc:Choice>
        <mc:Fallback xmlns="">
          <p:sp>
            <p:nvSpPr>
              <p:cNvPr id="22" name="CuadroTexto 21">
                <a:extLst>
                  <a:ext uri="{FF2B5EF4-FFF2-40B4-BE49-F238E27FC236}">
                    <a16:creationId xmlns:a16="http://schemas.microsoft.com/office/drawing/2014/main" id="{0D94160E-A324-6E21-DC14-0EE2D556E973}"/>
                  </a:ext>
                </a:extLst>
              </p:cNvPr>
              <p:cNvSpPr txBox="1">
                <a:spLocks noRot="1" noChangeAspect="1" noMove="1" noResize="1" noEditPoints="1" noAdjustHandles="1" noChangeArrowheads="1" noChangeShapeType="1" noTextEdit="1"/>
              </p:cNvSpPr>
              <p:nvPr/>
            </p:nvSpPr>
            <p:spPr>
              <a:xfrm>
                <a:off x="5634197" y="4293214"/>
                <a:ext cx="1245321" cy="369332"/>
              </a:xfrm>
              <a:prstGeom prst="rect">
                <a:avLst/>
              </a:prstGeom>
              <a:blipFill>
                <a:blip r:embed="rId5"/>
                <a:stretch>
                  <a:fillRect t="-8197" b="-24590"/>
                </a:stretch>
              </a:blipFill>
            </p:spPr>
            <p:txBody>
              <a:bodyPr/>
              <a:lstStyle/>
              <a:p>
                <a:r>
                  <a:rPr lang="es-ES">
                    <a:noFill/>
                  </a:rPr>
                  <a:t> </a:t>
                </a:r>
              </a:p>
            </p:txBody>
          </p:sp>
        </mc:Fallback>
      </mc:AlternateContent>
      <p:sp>
        <p:nvSpPr>
          <p:cNvPr id="14" name="Rectángulo 13">
            <a:extLst>
              <a:ext uri="{FF2B5EF4-FFF2-40B4-BE49-F238E27FC236}">
                <a16:creationId xmlns:a16="http://schemas.microsoft.com/office/drawing/2014/main" id="{ECE69EBF-757C-A9D1-FFC8-627784359781}"/>
              </a:ext>
            </a:extLst>
          </p:cNvPr>
          <p:cNvSpPr/>
          <p:nvPr/>
        </p:nvSpPr>
        <p:spPr>
          <a:xfrm>
            <a:off x="2642165" y="4667484"/>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5" name="Rectángulo 14">
            <a:extLst>
              <a:ext uri="{FF2B5EF4-FFF2-40B4-BE49-F238E27FC236}">
                <a16:creationId xmlns:a16="http://schemas.microsoft.com/office/drawing/2014/main" id="{EE13A858-EE2A-8624-F13C-636DED623D27}"/>
              </a:ext>
            </a:extLst>
          </p:cNvPr>
          <p:cNvSpPr/>
          <p:nvPr/>
        </p:nvSpPr>
        <p:spPr>
          <a:xfrm>
            <a:off x="2642164" y="5098559"/>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9" name="Rectángulo 18">
            <a:extLst>
              <a:ext uri="{FF2B5EF4-FFF2-40B4-BE49-F238E27FC236}">
                <a16:creationId xmlns:a16="http://schemas.microsoft.com/office/drawing/2014/main" id="{C1076A0B-8DBA-DB5F-DC0F-1CF449A81D38}"/>
              </a:ext>
            </a:extLst>
          </p:cNvPr>
          <p:cNvSpPr/>
          <p:nvPr/>
        </p:nvSpPr>
        <p:spPr>
          <a:xfrm>
            <a:off x="2856086" y="4458476"/>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EF5E72A5-F125-01A3-6239-44DD988AC98A}"/>
                  </a:ext>
                </a:extLst>
              </p:cNvPr>
              <p:cNvSpPr txBox="1"/>
              <p:nvPr/>
            </p:nvSpPr>
            <p:spPr>
              <a:xfrm>
                <a:off x="2919955" y="46940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𝑎</m:t>
                          </m:r>
                        </m:sub>
                      </m:sSub>
                    </m:oMath>
                  </m:oMathPara>
                </a14:m>
                <a:endParaRPr lang="en-US" dirty="0">
                  <a:solidFill>
                    <a:schemeClr val="tx1"/>
                  </a:solidFill>
                </a:endParaRPr>
              </a:p>
            </p:txBody>
          </p:sp>
        </mc:Choice>
        <mc:Fallback xmlns="">
          <p:sp>
            <p:nvSpPr>
              <p:cNvPr id="20" name="CuadroTexto 19">
                <a:extLst>
                  <a:ext uri="{FF2B5EF4-FFF2-40B4-BE49-F238E27FC236}">
                    <a16:creationId xmlns:a16="http://schemas.microsoft.com/office/drawing/2014/main" id="{EF5E72A5-F125-01A3-6239-44DD988AC98A}"/>
                  </a:ext>
                </a:extLst>
              </p:cNvPr>
              <p:cNvSpPr txBox="1">
                <a:spLocks noRot="1" noChangeAspect="1" noMove="1" noResize="1" noEditPoints="1" noAdjustHandles="1" noChangeArrowheads="1" noChangeShapeType="1" noTextEdit="1"/>
              </p:cNvSpPr>
              <p:nvPr/>
            </p:nvSpPr>
            <p:spPr>
              <a:xfrm>
                <a:off x="2919955" y="4694053"/>
                <a:ext cx="1291674" cy="369332"/>
              </a:xfrm>
              <a:prstGeom prst="rect">
                <a:avLst/>
              </a:prstGeom>
              <a:blipFill>
                <a:blip r:embed="rId6"/>
                <a:stretch>
                  <a:fillRect/>
                </a:stretch>
              </a:blipFill>
            </p:spPr>
            <p:txBody>
              <a:bodyPr/>
              <a:lstStyle/>
              <a:p>
                <a:r>
                  <a:rPr lang="es-ES">
                    <a:noFill/>
                  </a:rPr>
                  <a:t> </a:t>
                </a:r>
              </a:p>
            </p:txBody>
          </p:sp>
        </mc:Fallback>
      </mc:AlternateContent>
      <p:sp>
        <p:nvSpPr>
          <p:cNvPr id="24" name="CuadroTexto 23">
            <a:extLst>
              <a:ext uri="{FF2B5EF4-FFF2-40B4-BE49-F238E27FC236}">
                <a16:creationId xmlns:a16="http://schemas.microsoft.com/office/drawing/2014/main" id="{E82D8A99-C12E-9B5A-D44F-DC39CF2187E7}"/>
              </a:ext>
            </a:extLst>
          </p:cNvPr>
          <p:cNvSpPr txBox="1"/>
          <p:nvPr/>
        </p:nvSpPr>
        <p:spPr>
          <a:xfrm>
            <a:off x="1422486" y="4934965"/>
            <a:ext cx="1245321" cy="369332"/>
          </a:xfrm>
          <a:prstGeom prst="rect">
            <a:avLst/>
          </a:prstGeom>
          <a:noFill/>
        </p:spPr>
        <p:txBody>
          <a:bodyPr wrap="square" rtlCol="0">
            <a:spAutoFit/>
          </a:bodyPr>
          <a:lstStyle/>
          <a:p>
            <a:pPr algn="r"/>
            <a:r>
              <a:rPr lang="en-US" dirty="0">
                <a:solidFill>
                  <a:schemeClr val="bg1">
                    <a:lumMod val="65000"/>
                  </a:schemeClr>
                </a:solidFill>
              </a:rPr>
              <a:t>In1</a:t>
            </a:r>
          </a:p>
        </p:txBody>
      </p:sp>
      <p:sp>
        <p:nvSpPr>
          <p:cNvPr id="25" name="CuadroTexto 24">
            <a:extLst>
              <a:ext uri="{FF2B5EF4-FFF2-40B4-BE49-F238E27FC236}">
                <a16:creationId xmlns:a16="http://schemas.microsoft.com/office/drawing/2014/main" id="{AF3AEF45-E8B3-D1F2-8A9B-3A0585B1DA38}"/>
              </a:ext>
            </a:extLst>
          </p:cNvPr>
          <p:cNvSpPr txBox="1"/>
          <p:nvPr/>
        </p:nvSpPr>
        <p:spPr>
          <a:xfrm>
            <a:off x="1438475" y="4491415"/>
            <a:ext cx="1245321" cy="369332"/>
          </a:xfrm>
          <a:prstGeom prst="rect">
            <a:avLst/>
          </a:prstGeom>
          <a:noFill/>
        </p:spPr>
        <p:txBody>
          <a:bodyPr wrap="square" rtlCol="0">
            <a:spAutoFit/>
          </a:bodyPr>
          <a:lstStyle/>
          <a:p>
            <a:pPr algn="r"/>
            <a:r>
              <a:rPr lang="en-US" dirty="0">
                <a:solidFill>
                  <a:schemeClr val="bg1">
                    <a:lumMod val="65000"/>
                  </a:schemeClr>
                </a:solidFill>
              </a:rPr>
              <a:t>In2</a:t>
            </a:r>
          </a:p>
        </p:txBody>
      </p:sp>
      <p:sp>
        <p:nvSpPr>
          <p:cNvPr id="17" name="Rectángulo 16">
            <a:extLst>
              <a:ext uri="{FF2B5EF4-FFF2-40B4-BE49-F238E27FC236}">
                <a16:creationId xmlns:a16="http://schemas.microsoft.com/office/drawing/2014/main" id="{6C1DD7CE-5AFF-6AAD-ABB0-7F12BBFDC181}"/>
              </a:ext>
            </a:extLst>
          </p:cNvPr>
          <p:cNvSpPr/>
          <p:nvPr/>
        </p:nvSpPr>
        <p:spPr>
          <a:xfrm>
            <a:off x="7822666" y="4652133"/>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8" name="Rectángulo 17">
            <a:extLst>
              <a:ext uri="{FF2B5EF4-FFF2-40B4-BE49-F238E27FC236}">
                <a16:creationId xmlns:a16="http://schemas.microsoft.com/office/drawing/2014/main" id="{BF18895E-AB87-954B-BE18-94A83ABEF83B}"/>
              </a:ext>
            </a:extLst>
          </p:cNvPr>
          <p:cNvSpPr/>
          <p:nvPr/>
        </p:nvSpPr>
        <p:spPr>
          <a:xfrm>
            <a:off x="7822665" y="5083208"/>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21" name="Rectángulo 20">
            <a:extLst>
              <a:ext uri="{FF2B5EF4-FFF2-40B4-BE49-F238E27FC236}">
                <a16:creationId xmlns:a16="http://schemas.microsoft.com/office/drawing/2014/main" id="{EC9EBD3D-98EF-BFF4-3EF2-FB53BDFDC1B9}"/>
              </a:ext>
            </a:extLst>
          </p:cNvPr>
          <p:cNvSpPr/>
          <p:nvPr/>
        </p:nvSpPr>
        <p:spPr>
          <a:xfrm>
            <a:off x="8037575" y="4467074"/>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34" name="CuadroTexto 33">
            <a:extLst>
              <a:ext uri="{FF2B5EF4-FFF2-40B4-BE49-F238E27FC236}">
                <a16:creationId xmlns:a16="http://schemas.microsoft.com/office/drawing/2014/main" id="{1C2F6896-54D4-8706-AA99-764079F2D35D}"/>
              </a:ext>
            </a:extLst>
          </p:cNvPr>
          <p:cNvSpPr txBox="1"/>
          <p:nvPr/>
        </p:nvSpPr>
        <p:spPr>
          <a:xfrm>
            <a:off x="9659709" y="4916768"/>
            <a:ext cx="1245321" cy="369332"/>
          </a:xfrm>
          <a:prstGeom prst="rect">
            <a:avLst/>
          </a:prstGeom>
          <a:noFill/>
        </p:spPr>
        <p:txBody>
          <a:bodyPr wrap="square" rtlCol="0">
            <a:spAutoFit/>
          </a:bodyPr>
          <a:lstStyle/>
          <a:p>
            <a:r>
              <a:rPr lang="en-US" dirty="0">
                <a:solidFill>
                  <a:schemeClr val="bg1">
                    <a:lumMod val="65000"/>
                  </a:schemeClr>
                </a:solidFill>
              </a:rPr>
              <a:t>Out1</a:t>
            </a:r>
          </a:p>
        </p:txBody>
      </p:sp>
      <p:sp>
        <p:nvSpPr>
          <p:cNvPr id="36" name="CuadroTexto 35">
            <a:extLst>
              <a:ext uri="{FF2B5EF4-FFF2-40B4-BE49-F238E27FC236}">
                <a16:creationId xmlns:a16="http://schemas.microsoft.com/office/drawing/2014/main" id="{5006711D-654E-EB6C-E90D-0190AA8EE20A}"/>
              </a:ext>
            </a:extLst>
          </p:cNvPr>
          <p:cNvSpPr txBox="1"/>
          <p:nvPr/>
        </p:nvSpPr>
        <p:spPr>
          <a:xfrm>
            <a:off x="9680893" y="4458476"/>
            <a:ext cx="1245321" cy="369332"/>
          </a:xfrm>
          <a:prstGeom prst="rect">
            <a:avLst/>
          </a:prstGeom>
          <a:noFill/>
        </p:spPr>
        <p:txBody>
          <a:bodyPr wrap="square" rtlCol="0">
            <a:spAutoFit/>
          </a:bodyPr>
          <a:lstStyle/>
          <a:p>
            <a:r>
              <a:rPr lang="en-US" dirty="0">
                <a:solidFill>
                  <a:schemeClr val="bg1">
                    <a:lumMod val="65000"/>
                  </a:schemeClr>
                </a:solidFill>
              </a:rPr>
              <a:t>Out2</a:t>
            </a:r>
          </a:p>
        </p:txBody>
      </p:sp>
      <mc:AlternateContent xmlns:mc="http://schemas.openxmlformats.org/markup-compatibility/2006" xmlns:a14="http://schemas.microsoft.com/office/drawing/2010/main">
        <mc:Choice Requires="a14">
          <p:sp>
            <p:nvSpPr>
              <p:cNvPr id="39" name="CuadroTexto 38">
                <a:extLst>
                  <a:ext uri="{FF2B5EF4-FFF2-40B4-BE49-F238E27FC236}">
                    <a16:creationId xmlns:a16="http://schemas.microsoft.com/office/drawing/2014/main" id="{979C4EB3-5014-92C7-FAAB-64D3285CF6AC}"/>
                  </a:ext>
                </a:extLst>
              </p:cNvPr>
              <p:cNvSpPr txBox="1"/>
              <p:nvPr/>
            </p:nvSpPr>
            <p:spPr>
              <a:xfrm>
                <a:off x="8119322" y="47069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𝑏</m:t>
                          </m:r>
                        </m:sub>
                      </m:sSub>
                    </m:oMath>
                  </m:oMathPara>
                </a14:m>
                <a:endParaRPr lang="en-US" dirty="0">
                  <a:solidFill>
                    <a:schemeClr val="tx1"/>
                  </a:solidFill>
                </a:endParaRPr>
              </a:p>
            </p:txBody>
          </p:sp>
        </mc:Choice>
        <mc:Fallback xmlns="">
          <p:sp>
            <p:nvSpPr>
              <p:cNvPr id="39" name="CuadroTexto 38">
                <a:extLst>
                  <a:ext uri="{FF2B5EF4-FFF2-40B4-BE49-F238E27FC236}">
                    <a16:creationId xmlns:a16="http://schemas.microsoft.com/office/drawing/2014/main" id="{979C4EB3-5014-92C7-FAAB-64D3285CF6AC}"/>
                  </a:ext>
                </a:extLst>
              </p:cNvPr>
              <p:cNvSpPr txBox="1">
                <a:spLocks noRot="1" noChangeAspect="1" noMove="1" noResize="1" noEditPoints="1" noAdjustHandles="1" noChangeArrowheads="1" noChangeShapeType="1" noTextEdit="1"/>
              </p:cNvSpPr>
              <p:nvPr/>
            </p:nvSpPr>
            <p:spPr>
              <a:xfrm>
                <a:off x="8119322" y="4706953"/>
                <a:ext cx="1291674" cy="369332"/>
              </a:xfrm>
              <a:prstGeom prst="rect">
                <a:avLst/>
              </a:prstGeom>
              <a:blipFill>
                <a:blip r:embed="rId7"/>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0" name="CuadroTexto 39">
                <a:extLst>
                  <a:ext uri="{FF2B5EF4-FFF2-40B4-BE49-F238E27FC236}">
                    <a16:creationId xmlns:a16="http://schemas.microsoft.com/office/drawing/2014/main" id="{72F4EC49-F7E4-B921-90B7-75679E5144D1}"/>
                  </a:ext>
                </a:extLst>
              </p:cNvPr>
              <p:cNvSpPr txBox="1"/>
              <p:nvPr/>
            </p:nvSpPr>
            <p:spPr>
              <a:xfrm>
                <a:off x="5653085" y="5192639"/>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p>
            </p:txBody>
          </p:sp>
        </mc:Choice>
        <mc:Fallback xmlns="">
          <p:sp>
            <p:nvSpPr>
              <p:cNvPr id="40" name="CuadroTexto 39">
                <a:extLst>
                  <a:ext uri="{FF2B5EF4-FFF2-40B4-BE49-F238E27FC236}">
                    <a16:creationId xmlns:a16="http://schemas.microsoft.com/office/drawing/2014/main" id="{72F4EC49-F7E4-B921-90B7-75679E5144D1}"/>
                  </a:ext>
                </a:extLst>
              </p:cNvPr>
              <p:cNvSpPr txBox="1">
                <a:spLocks noRot="1" noChangeAspect="1" noMove="1" noResize="1" noEditPoints="1" noAdjustHandles="1" noChangeArrowheads="1" noChangeShapeType="1" noTextEdit="1"/>
              </p:cNvSpPr>
              <p:nvPr/>
            </p:nvSpPr>
            <p:spPr>
              <a:xfrm>
                <a:off x="5653085" y="5192639"/>
                <a:ext cx="1245321" cy="369332"/>
              </a:xfrm>
              <a:prstGeom prst="rect">
                <a:avLst/>
              </a:prstGeom>
              <a:blipFill>
                <a:blip r:embed="rId8"/>
                <a:stretch>
                  <a:fillRect t="-10000" b="-26667"/>
                </a:stretch>
              </a:blipFill>
            </p:spPr>
            <p:txBody>
              <a:bodyPr/>
              <a:lstStyle/>
              <a:p>
                <a:r>
                  <a:rPr lang="es-ES">
                    <a:noFill/>
                  </a:rPr>
                  <a:t> </a:t>
                </a:r>
              </a:p>
            </p:txBody>
          </p:sp>
        </mc:Fallback>
      </mc:AlternateContent>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MZI configurations</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Provide one example of implementation for each one of the configurations studied during MZI lecture:</a:t>
                </a:r>
              </a:p>
              <a:p>
                <a:pPr lvl="1"/>
                <a:r>
                  <a:rPr lang="en-US" sz="2000" dirty="0"/>
                  <a:t>1. Balanced configuration</a:t>
                </a:r>
              </a:p>
              <a:p>
                <a:pPr lvl="1"/>
                <a:r>
                  <a:rPr lang="en-US" sz="2000" dirty="0"/>
                  <a:t>2. Unbalanced configuration:</a:t>
                </a:r>
              </a:p>
              <a:p>
                <a:pPr lvl="1"/>
                <a:r>
                  <a:rPr lang="en-US" sz="2000" dirty="0"/>
                  <a:t>  2.1.   Phase difference </a:t>
                </a:r>
              </a:p>
              <a:p>
                <a:pPr lvl="1"/>
                <a:r>
                  <a:rPr lang="en-US" sz="2000" dirty="0"/>
                  <a:t>  2.2.   Delay imbalance</a:t>
                </a:r>
              </a:p>
              <a:p>
                <a:r>
                  <a:rPr lang="en-US" sz="2000" dirty="0"/>
                  <a:t>Compute also some examples with </a:t>
                </a:r>
                <a14:m>
                  <m:oMath xmlns:m="http://schemas.openxmlformats.org/officeDocument/2006/math">
                    <m:r>
                      <m:rPr>
                        <m:sty m:val="p"/>
                      </m:rPr>
                      <a:rPr lang="es-ES" sz="2000" b="0" i="1" smtClean="0">
                        <a:latin typeface="Cambria Math" panose="02040503050406030204" pitchFamily="18" charset="0"/>
                      </a:rPr>
                      <m:t>α</m:t>
                    </m:r>
                    <m:r>
                      <a:rPr lang="es-ES" sz="2000" i="1">
                        <a:latin typeface="Cambria Math" panose="02040503050406030204" pitchFamily="18" charset="0"/>
                        <a:ea typeface="Cambria Math" panose="02040503050406030204" pitchFamily="18" charset="0"/>
                      </a:rPr>
                      <m:t>≠0</m:t>
                    </m:r>
                  </m:oMath>
                </a14:m>
                <a:r>
                  <a:rPr lang="en-US" sz="2000" kern="0" dirty="0">
                    <a:solidFill>
                      <a:sysClr val="windowText" lastClr="000000"/>
                    </a:solidFill>
                  </a:rPr>
                  <a:t> and </a:t>
                </a:r>
                <a14:m>
                  <m:oMath xmlns:m="http://schemas.openxmlformats.org/officeDocument/2006/math">
                    <m:r>
                      <m:rPr>
                        <m:sty m:val="p"/>
                      </m:rPr>
                      <a:rPr lang="es-ES" sz="2000" i="1">
                        <a:latin typeface="Cambria Math" panose="02040503050406030204" pitchFamily="18" charset="0"/>
                      </a:rPr>
                      <m:t>γ</m:t>
                    </m:r>
                    <m:r>
                      <a:rPr lang="es-ES" sz="2000" i="1">
                        <a:latin typeface="Cambria Math" panose="02040503050406030204" pitchFamily="18" charset="0"/>
                        <a:ea typeface="Cambria Math" panose="02040503050406030204" pitchFamily="18" charset="0"/>
                      </a:rPr>
                      <m:t>≠0</m:t>
                    </m:r>
                  </m:oMath>
                </a14:m>
                <a:endParaRPr lang="es-ES" sz="2000" dirty="0"/>
              </a:p>
              <a:p>
                <a:r>
                  <a:rPr lang="en-US" sz="2000" dirty="0"/>
                  <a:t> </a:t>
                </a:r>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alpha, gamma, transfer function plots, etc.) and comment on the obtained results (in terms of FSR, amplitude, losses, etc.).</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14E1523F-57E7-BC79-8739-6F62FB1C8B3D}"/>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BBEC5D-83DF-49B5-BC30-A54871D1D4F9}"/>
              </a:ext>
            </a:extLst>
          </p:cNvPr>
          <p:cNvSpPr>
            <a:spLocks noGrp="1"/>
          </p:cNvSpPr>
          <p:nvPr>
            <p:ph type="title"/>
          </p:nvPr>
        </p:nvSpPr>
        <p:spPr/>
        <p:txBody>
          <a:bodyPr/>
          <a:lstStyle/>
          <a:p>
            <a:r>
              <a:rPr lang="en-US" dirty="0"/>
              <a:t>I</a:t>
            </a:r>
            <a:r>
              <a:rPr lang="en-US" sz="2000" dirty="0"/>
              <a:t>mplementation for each one of the configurations studied during MZI lecture</a:t>
            </a:r>
            <a:endParaRPr lang="es-ES" dirty="0"/>
          </a:p>
        </p:txBody>
      </p:sp>
      <p:sp>
        <p:nvSpPr>
          <p:cNvPr id="3" name="Marcador de texto 2">
            <a:extLst>
              <a:ext uri="{FF2B5EF4-FFF2-40B4-BE49-F238E27FC236}">
                <a16:creationId xmlns:a16="http://schemas.microsoft.com/office/drawing/2014/main" id="{CAAF7831-4555-450A-A8CE-008D3C87129C}"/>
              </a:ext>
            </a:extLst>
          </p:cNvPr>
          <p:cNvSpPr>
            <a:spLocks noGrp="1"/>
          </p:cNvSpPr>
          <p:nvPr>
            <p:ph type="body" idx="1"/>
          </p:nvPr>
        </p:nvSpPr>
        <p:spPr>
          <a:xfrm>
            <a:off x="685800" y="762000"/>
            <a:ext cx="2590800" cy="307777"/>
          </a:xfrm>
        </p:spPr>
        <p:txBody>
          <a:bodyPr/>
          <a:lstStyle/>
          <a:p>
            <a:r>
              <a:rPr lang="en-US" sz="1800" dirty="0"/>
              <a:t>1. Balanced configuration</a:t>
            </a:r>
          </a:p>
          <a:p>
            <a:endParaRPr lang="es-ES" dirty="0"/>
          </a:p>
        </p:txBody>
      </p:sp>
      <p:sp>
        <p:nvSpPr>
          <p:cNvPr id="4" name="Marcador de pie de página 3">
            <a:extLst>
              <a:ext uri="{FF2B5EF4-FFF2-40B4-BE49-F238E27FC236}">
                <a16:creationId xmlns:a16="http://schemas.microsoft.com/office/drawing/2014/main" id="{4ADB8334-3F80-456C-8283-72FAAFAF378A}"/>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DF28D302-4654-40DA-8469-CC4C033D6CD6}"/>
              </a:ext>
            </a:extLst>
          </p:cNvPr>
          <p:cNvSpPr>
            <a:spLocks noGrp="1"/>
          </p:cNvSpPr>
          <p:nvPr>
            <p:ph type="sldNum" sz="quarter" idx="7"/>
          </p:nvPr>
        </p:nvSpPr>
        <p:spPr/>
        <p:txBody>
          <a:bodyPr/>
          <a:lstStyle/>
          <a:p>
            <a:fld id="{B6F15528-21DE-4FAA-801E-634DDDAF4B2B}" type="slidenum">
              <a:rPr lang="es-ES" smtClean="0"/>
              <a:t>4</a:t>
            </a:fld>
            <a:endParaRPr lang="es-ES"/>
          </a:p>
        </p:txBody>
      </p:sp>
      <p:pic>
        <p:nvPicPr>
          <p:cNvPr id="7" name="Imagen 6">
            <a:extLst>
              <a:ext uri="{FF2B5EF4-FFF2-40B4-BE49-F238E27FC236}">
                <a16:creationId xmlns:a16="http://schemas.microsoft.com/office/drawing/2014/main" id="{AA24FF34-9025-4DC5-A78E-A270E346B6C5}"/>
              </a:ext>
            </a:extLst>
          </p:cNvPr>
          <p:cNvPicPr>
            <a:picLocks noChangeAspect="1"/>
          </p:cNvPicPr>
          <p:nvPr/>
        </p:nvPicPr>
        <p:blipFill>
          <a:blip r:embed="rId2"/>
          <a:stretch>
            <a:fillRect/>
          </a:stretch>
        </p:blipFill>
        <p:spPr>
          <a:xfrm>
            <a:off x="440531" y="1447800"/>
            <a:ext cx="3081338" cy="2472679"/>
          </a:xfrm>
          <a:prstGeom prst="rect">
            <a:avLst/>
          </a:prstGeom>
        </p:spPr>
      </p:pic>
      <p:sp>
        <p:nvSpPr>
          <p:cNvPr id="8" name="Marcador de texto 2">
            <a:extLst>
              <a:ext uri="{FF2B5EF4-FFF2-40B4-BE49-F238E27FC236}">
                <a16:creationId xmlns:a16="http://schemas.microsoft.com/office/drawing/2014/main" id="{C155DECA-8562-408F-9AD8-B77FC9D4D08B}"/>
              </a:ext>
            </a:extLst>
          </p:cNvPr>
          <p:cNvSpPr txBox="1">
            <a:spLocks/>
          </p:cNvSpPr>
          <p:nvPr/>
        </p:nvSpPr>
        <p:spPr>
          <a:xfrm>
            <a:off x="4326731" y="762000"/>
            <a:ext cx="3157538" cy="553998"/>
          </a:xfrm>
          <a:prstGeom prst="rect">
            <a:avLst/>
          </a:prstGeom>
        </p:spPr>
        <p:txBody>
          <a:bodyPr wrap="square" lIns="0" tIns="0" rIns="0" bIns="0">
            <a:sp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lvl="1"/>
            <a:r>
              <a:rPr lang="en-US" sz="1800" dirty="0"/>
              <a:t>2. Unbalanced configuration:</a:t>
            </a:r>
          </a:p>
          <a:p>
            <a:pPr lvl="1"/>
            <a:r>
              <a:rPr lang="en-US" sz="1800" dirty="0"/>
              <a:t>  2.1.   Phase difference</a:t>
            </a:r>
            <a:endParaRPr lang="es-ES" kern="0" dirty="0">
              <a:solidFill>
                <a:sysClr val="windowText" lastClr="000000"/>
              </a:solidFill>
            </a:endParaRPr>
          </a:p>
        </p:txBody>
      </p:sp>
      <p:sp>
        <p:nvSpPr>
          <p:cNvPr id="9" name="Marcador de texto 2">
            <a:extLst>
              <a:ext uri="{FF2B5EF4-FFF2-40B4-BE49-F238E27FC236}">
                <a16:creationId xmlns:a16="http://schemas.microsoft.com/office/drawing/2014/main" id="{5EC64B91-5E5F-469A-8895-C3CED3A62834}"/>
              </a:ext>
            </a:extLst>
          </p:cNvPr>
          <p:cNvSpPr txBox="1">
            <a:spLocks/>
          </p:cNvSpPr>
          <p:nvPr/>
        </p:nvSpPr>
        <p:spPr>
          <a:xfrm>
            <a:off x="8305800" y="1038999"/>
            <a:ext cx="2590800" cy="276999"/>
          </a:xfrm>
          <a:prstGeom prst="rect">
            <a:avLst/>
          </a:prstGeom>
        </p:spPr>
        <p:txBody>
          <a:bodyPr wrap="square" lIns="0" tIns="0" rIns="0" bIns="0">
            <a:sp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lvl="1"/>
            <a:r>
              <a:rPr lang="en-US" sz="1800" dirty="0"/>
              <a:t>2.2.   Delay imbalance</a:t>
            </a:r>
          </a:p>
        </p:txBody>
      </p:sp>
      <p:pic>
        <p:nvPicPr>
          <p:cNvPr id="11" name="Imagen 10">
            <a:extLst>
              <a:ext uri="{FF2B5EF4-FFF2-40B4-BE49-F238E27FC236}">
                <a16:creationId xmlns:a16="http://schemas.microsoft.com/office/drawing/2014/main" id="{2BD14AE7-9292-4FA8-AC9C-B8DC6BFE51E0}"/>
              </a:ext>
            </a:extLst>
          </p:cNvPr>
          <p:cNvPicPr>
            <a:picLocks noChangeAspect="1"/>
          </p:cNvPicPr>
          <p:nvPr/>
        </p:nvPicPr>
        <p:blipFill>
          <a:blip r:embed="rId3"/>
          <a:stretch>
            <a:fillRect/>
          </a:stretch>
        </p:blipFill>
        <p:spPr>
          <a:xfrm>
            <a:off x="8305800" y="1447800"/>
            <a:ext cx="3081339" cy="2472680"/>
          </a:xfrm>
          <a:prstGeom prst="rect">
            <a:avLst/>
          </a:prstGeom>
        </p:spPr>
      </p:pic>
      <p:pic>
        <p:nvPicPr>
          <p:cNvPr id="13" name="Imagen 12">
            <a:extLst>
              <a:ext uri="{FF2B5EF4-FFF2-40B4-BE49-F238E27FC236}">
                <a16:creationId xmlns:a16="http://schemas.microsoft.com/office/drawing/2014/main" id="{7FFB358A-2B21-4778-98A1-4E8236900453}"/>
              </a:ext>
            </a:extLst>
          </p:cNvPr>
          <p:cNvPicPr>
            <a:picLocks noChangeAspect="1"/>
          </p:cNvPicPr>
          <p:nvPr/>
        </p:nvPicPr>
        <p:blipFill>
          <a:blip r:embed="rId4"/>
          <a:stretch>
            <a:fillRect/>
          </a:stretch>
        </p:blipFill>
        <p:spPr>
          <a:xfrm>
            <a:off x="4402930" y="1452567"/>
            <a:ext cx="3157538" cy="2494235"/>
          </a:xfrm>
          <a:prstGeom prst="rect">
            <a:avLst/>
          </a:prstGeom>
        </p:spPr>
      </p:pic>
    </p:spTree>
    <p:extLst>
      <p:ext uri="{BB962C8B-B14F-4D97-AF65-F5344CB8AC3E}">
        <p14:creationId xmlns:p14="http://schemas.microsoft.com/office/powerpoint/2010/main" val="28349180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5AB88-A787-2C84-3A44-2B634D87FB5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6" name="object 16">
                <a:extLst>
                  <a:ext uri="{FF2B5EF4-FFF2-40B4-BE49-F238E27FC236}">
                    <a16:creationId xmlns:a16="http://schemas.microsoft.com/office/drawing/2014/main" id="{A153D08B-B860-A163-3940-83AD64444D0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#2 </a:t>
                </a:r>
                <a:r>
                  <a:rPr lang="en-US" sz="2500" dirty="0"/>
                  <a:t>– Recap from theory – Calculation of </a:t>
                </a:r>
                <a14:m>
                  <m:oMath xmlns:m="http://schemas.openxmlformats.org/officeDocument/2006/math">
                    <m:r>
                      <a:rPr lang="es-ES" sz="2500" b="1" i="0" smtClean="0">
                        <a:latin typeface="Cambria Math" panose="02040503050406030204" pitchFamily="18" charset="0"/>
                      </a:rPr>
                      <m:t>𝚫</m:t>
                    </m:r>
                    <m:r>
                      <a:rPr lang="es-ES" sz="2500" b="1" i="0" smtClean="0">
                        <a:latin typeface="Cambria Math" panose="02040503050406030204" pitchFamily="18" charset="0"/>
                      </a:rPr>
                      <m:t>𝐋</m:t>
                    </m:r>
                  </m:oMath>
                </a14:m>
                <a:r>
                  <a:rPr lang="es-ES" sz="2500" spc="-5" dirty="0">
                    <a:latin typeface="+mj-lt"/>
                    <a:cs typeface="Lucida Sans"/>
                  </a:rPr>
                  <a:t> </a:t>
                </a:r>
                <a:br>
                  <a:rPr lang="es-ES" sz="2500" spc="-5" dirty="0">
                    <a:latin typeface="+mj-lt"/>
                    <a:cs typeface="Lucida Sans"/>
                  </a:rPr>
                </a:br>
                <a:endParaRPr sz="2500" b="0" dirty="0">
                  <a:latin typeface="+mj-lt"/>
                  <a:cs typeface="Lucida Sans"/>
                </a:endParaRPr>
              </a:p>
            </p:txBody>
          </p:sp>
        </mc:Choice>
        <mc:Fallback xmlns="">
          <p:sp>
            <p:nvSpPr>
              <p:cNvPr id="16" name="object 16">
                <a:extLst>
                  <a:ext uri="{FF2B5EF4-FFF2-40B4-BE49-F238E27FC236}">
                    <a16:creationId xmlns:a16="http://schemas.microsoft.com/office/drawing/2014/main" id="{A153D08B-B860-A163-3940-83AD64444D01}"/>
                  </a:ext>
                </a:extLst>
              </p:cNvPr>
              <p:cNvSpPr txBox="1">
                <a:spLocks noGrp="1" noRot="1" noChangeAspect="1" noMove="1" noResize="1" noEditPoints="1" noAdjustHandles="1" noChangeArrowheads="1" noChangeShapeType="1" noTextEdit="1"/>
              </p:cNvSpPr>
              <p:nvPr>
                <p:ph type="title"/>
              </p:nvPr>
            </p:nvSpPr>
            <p:spPr>
              <a:xfrm>
                <a:off x="685800" y="408883"/>
                <a:ext cx="10994410" cy="782265"/>
              </a:xfrm>
              <a:prstGeom prst="rect">
                <a:avLst/>
              </a:prstGeom>
              <a:blipFill>
                <a:blip r:embed="rId3"/>
                <a:stretch>
                  <a:fillRect l="-1608" t="-10156"/>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333888A9-82BA-4688-F856-37AB661A7D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1891475-ED60-D0D2-1AD0-4F80E3D89439}"/>
              </a:ext>
            </a:extLst>
          </p:cNvPr>
          <p:cNvSpPr>
            <a:spLocks noGrp="1"/>
          </p:cNvSpPr>
          <p:nvPr>
            <p:ph type="sldNum" sz="quarter" idx="7"/>
          </p:nvPr>
        </p:nvSpPr>
        <p:spPr/>
        <p:txBody>
          <a:bodyPr/>
          <a:lstStyle/>
          <a:p>
            <a:fld id="{B6F15528-21DE-4FAA-801E-634DDDAF4B2B}" type="slidenum">
              <a:rPr lang="es-ES" smtClean="0"/>
              <a:t>5</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BBBE28D8-49EC-3B49-29AC-FD2FDAF3B0AF}"/>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Considering the n_{eff} values for the SOI cross-section, what would be the path difference (</a:t>
                </a:r>
                <a14:m>
                  <m:oMath xmlns:m="http://schemas.openxmlformats.org/officeDocument/2006/math">
                    <m:r>
                      <m:rPr>
                        <m:sty m:val="p"/>
                      </m:rPr>
                      <a:rPr lang="es-ES" sz="2000" b="0" i="0" smtClean="0">
                        <a:latin typeface="Cambria Math" panose="02040503050406030204" pitchFamily="18" charset="0"/>
                      </a:rPr>
                      <m:t>ΔL</m:t>
                    </m:r>
                    <m:r>
                      <a:rPr lang="es-ES" sz="2000" b="0" i="1" smtClean="0">
                        <a:latin typeface="Cambria Math" panose="02040503050406030204" pitchFamily="18" charset="0"/>
                      </a:rPr>
                      <m:t>= </m:t>
                    </m:r>
                    <m:sSub>
                      <m:sSubPr>
                        <m:ctrlPr>
                          <a:rPr lang="es-ES" sz="200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𝑢</m:t>
                        </m:r>
                      </m:sub>
                    </m:sSub>
                    <m:r>
                      <a:rPr lang="es-ES" sz="2000" b="0" i="1" smtClean="0">
                        <a:latin typeface="Cambria Math" panose="02040503050406030204" pitchFamily="18" charset="0"/>
                      </a:rPr>
                      <m:t> −</m:t>
                    </m:r>
                    <m:sSub>
                      <m:sSubPr>
                        <m:ctrlPr>
                          <a:rPr lang="es-ES" sz="2000" i="1">
                            <a:latin typeface="Cambria Math" panose="02040503050406030204" pitchFamily="18" charset="0"/>
                          </a:rPr>
                        </m:ctrlPr>
                      </m:sSubPr>
                      <m:e>
                        <m:r>
                          <a:rPr lang="es-ES" sz="2000" b="0" i="1">
                            <a:latin typeface="Cambria Math" panose="02040503050406030204" pitchFamily="18" charset="0"/>
                          </a:rPr>
                          <m:t>𝐿</m:t>
                        </m:r>
                      </m:e>
                      <m:sub>
                        <m:r>
                          <a:rPr lang="es-ES" sz="2000" b="0" i="1" smtClean="0">
                            <a:latin typeface="Cambria Math" panose="02040503050406030204" pitchFamily="18" charset="0"/>
                          </a:rPr>
                          <m:t>𝑑</m:t>
                        </m:r>
                      </m:sub>
                    </m:sSub>
                  </m:oMath>
                </a14:m>
                <a:r>
                  <a:rPr lang="en-US" sz="2000" dirty="0"/>
                  <a:t>) needed to obtain a Free Spectral Range of 40 nm? Introduce the obtained value in the model to check the MZI response. </a:t>
                </a:r>
              </a:p>
              <a:p>
                <a:endParaRPr lang="en-US" sz="2000" dirty="0"/>
              </a:p>
              <a:p>
                <a:r>
                  <a:rPr lang="en-US" sz="2000" dirty="0"/>
                  <a:t>Hint: We assume 1550 nm as the central design wavelength (</a:t>
                </a:r>
                <a14:m>
                  <m:oMath xmlns:m="http://schemas.openxmlformats.org/officeDocument/2006/math">
                    <m:sSub>
                      <m:sSubPr>
                        <m:ctrlPr>
                          <a:rPr lang="es-ES" sz="2000" i="1" smtClean="0">
                            <a:latin typeface="Cambria Math" panose="02040503050406030204" pitchFamily="18" charset="0"/>
                          </a:rPr>
                        </m:ctrlPr>
                      </m:sSubPr>
                      <m:e>
                        <m:r>
                          <a:rPr lang="es-ES" sz="2000" i="1">
                            <a:latin typeface="Cambria Math" panose="02040503050406030204" pitchFamily="18" charset="0"/>
                          </a:rPr>
                          <m:t>𝜆</m:t>
                        </m:r>
                      </m:e>
                      <m:sub>
                        <m:r>
                          <a:rPr lang="es-ES" sz="2000" b="0" i="1" smtClean="0">
                            <a:latin typeface="Cambria Math" panose="02040503050406030204" pitchFamily="18" charset="0"/>
                          </a:rPr>
                          <m:t>0</m:t>
                        </m:r>
                      </m:sub>
                    </m:sSub>
                    <m:r>
                      <a:rPr lang="es-ES" sz="2000" b="0" i="1" smtClean="0">
                        <a:latin typeface="Cambria Math" panose="02040503050406030204" pitchFamily="18" charset="0"/>
                      </a:rPr>
                      <m:t>= </m:t>
                    </m:r>
                  </m:oMath>
                </a14:m>
                <a:r>
                  <a:rPr lang="en-US" sz="2000" dirty="0"/>
                  <a:t>1550 nm).</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BBBE28D8-49EC-3B49-29AC-FD2FDAF3B0AF}"/>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6"/>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CFDBBA6B-3646-055F-7A9C-EE01830137BE}"/>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corresponding value)</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97B81335-0738-3406-18D4-5D88EB0C7954}"/>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23370981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B9552-DF22-1310-10FA-4D2D2AF7760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0632A48-0384-0EF1-389E-FBF3F9C3E7CE}"/>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#3 </a:t>
            </a:r>
            <a:r>
              <a:rPr lang="en-US" sz="2500" dirty="0"/>
              <a:t>– SAX implementation </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F43E6A6-5CC3-9B99-14AC-997478150C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FC09DB6-1DF7-C8F9-7414-27BC280DEA0F}"/>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4" name="Marcador de texto 2">
            <a:extLst>
              <a:ext uri="{FF2B5EF4-FFF2-40B4-BE49-F238E27FC236}">
                <a16:creationId xmlns:a16="http://schemas.microsoft.com/office/drawing/2014/main" id="{EBC8DCFA-5565-A757-1F8D-F4CCCF573A63}"/>
              </a:ext>
            </a:extLst>
          </p:cNvPr>
          <p:cNvSpPr txBox="1">
            <a:spLocks/>
          </p:cNvSpPr>
          <p:nvPr/>
        </p:nvSpPr>
        <p:spPr>
          <a:xfrm>
            <a:off x="571500" y="10668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dirty="0"/>
              <a:t>Now, we are going to implement the design parameters in the MZI model developed in SAX and compare the response obtained with the one simulated by mathematical formulation. This will help us to identify any error in the definition of the SAX model single components. </a:t>
            </a:r>
          </a:p>
          <a:p>
            <a:br>
              <a:rPr lang="en-US" dirty="0"/>
            </a:br>
            <a:r>
              <a:rPr lang="en-US" dirty="0"/>
              <a:t>In order to implement the SAX model, take as example the following lines:</a:t>
            </a:r>
          </a:p>
          <a:p>
            <a:endParaRPr lang="en-US" dirty="0"/>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 = </a:t>
            </a:r>
            <a:r>
              <a:rPr lang="es-ES" sz="1400" b="0" dirty="0" err="1">
                <a:effectLst/>
                <a:latin typeface="Courier New" panose="02070309020205020404" pitchFamily="49" charset="0"/>
              </a:rPr>
              <a:t>mzi</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coup_a</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wvg_d</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l_d</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wvg_u</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l_u</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coup_b</a:t>
            </a:r>
            <a:r>
              <a:rPr lang="es-ES" sz="1400" b="0" dirty="0">
                <a:effectLst/>
                <a:latin typeface="Courier New" panose="02070309020205020404" pitchFamily="49" charset="0"/>
              </a:rPr>
              <a:t> = ... )</a:t>
            </a:r>
          </a:p>
          <a:p>
            <a:pPr lvl="2">
              <a:lnSpc>
                <a:spcPts val="1425"/>
              </a:lnSpc>
            </a:pPr>
            <a:br>
              <a:rPr lang="es-ES" sz="1400" b="0" dirty="0">
                <a:effectLst/>
                <a:latin typeface="Courier New" panose="02070309020205020404" pitchFamily="49" charset="0"/>
              </a:rPr>
            </a:br>
            <a:r>
              <a:rPr lang="es-ES" sz="1400" b="0" dirty="0">
                <a:effectLst/>
                <a:latin typeface="Courier New" panose="02070309020205020404" pitchFamily="49" charset="0"/>
              </a:rPr>
              <a:t>    H00 =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["in0", "out0"]</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CA4A2D6E-5993-52B3-D251-1ADF2B0C8355}"/>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transfer function employing SAX modeling and include the comparative plot of the models)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ED97C9D0-256C-D4CA-42E7-79330F040B30}"/>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64368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assessments </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b="1" dirty="0"/>
              <a:t>Assessment 4</a:t>
            </a:r>
            <a:r>
              <a:rPr lang="en-US" dirty="0"/>
              <a:t>. Design an MZI for filtering at a specific wavelength. Calculate and adjust the arm lengths to configure the MZI to have a maximum transmission at 1550 nm.</a:t>
            </a:r>
          </a:p>
          <a:p>
            <a:endParaRPr lang="en-US" b="1" dirty="0"/>
          </a:p>
          <a:p>
            <a:r>
              <a:rPr lang="en-US" b="1" dirty="0"/>
              <a:t>Assessment 5. </a:t>
            </a:r>
            <a:r>
              <a:rPr lang="en-US" dirty="0"/>
              <a:t>Let's see how the response of the MZI varies with the effective index. Vary the effective index of one of the arms and analyze how the spectrum shifts. To do this, you can use the data provided in the .txt files entitled ‘</a:t>
            </a:r>
            <a:r>
              <a:rPr lang="en-US" dirty="0" err="1"/>
              <a:t>SiN</a:t>
            </a:r>
            <a:r>
              <a:rPr lang="en-US" dirty="0"/>
              <a:t>’. Can you give an example of an application where this configuration is used?</a:t>
            </a:r>
          </a:p>
          <a:p>
            <a:pPr marL="0" indent="0">
              <a:buNone/>
            </a:pPr>
            <a:endParaRPr lang="en-US" dirty="0"/>
          </a:p>
          <a:p>
            <a:r>
              <a:rPr lang="en-US" b="1" dirty="0"/>
              <a:t>Advanced level assessment.</a:t>
            </a:r>
            <a:r>
              <a:rPr lang="en-US" dirty="0"/>
              <a:t> Explore how cascading two MZIs affects the transmission spectrum. To do so, design a system in which two MZIs are cascaded. Simulate and observe the spectrum, explaining how the transmission peaks behave</a:t>
            </a:r>
            <a:r>
              <a:rPr lang="en-US" b="1" dirty="0"/>
              <a:t>.</a:t>
            </a:r>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6" name="Marcador de pie de página 2">
            <a:extLst>
              <a:ext uri="{FF2B5EF4-FFF2-40B4-BE49-F238E27FC236}">
                <a16:creationId xmlns:a16="http://schemas.microsoft.com/office/drawing/2014/main" id="{04C1A7E9-6C33-172D-E7B9-CCF643221E6A}"/>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04382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8</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1039</TotalTime>
  <Words>658</Words>
  <Application>Microsoft Office PowerPoint</Application>
  <PresentationFormat>Panorámica</PresentationFormat>
  <Paragraphs>97</Paragraphs>
  <Slides>8</Slides>
  <Notes>4</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8</vt:i4>
      </vt:variant>
    </vt:vector>
  </HeadingPairs>
  <TitlesOfParts>
    <vt:vector size="15" baseType="lpstr">
      <vt:lpstr>Aptos</vt:lpstr>
      <vt:lpstr>Arial</vt:lpstr>
      <vt:lpstr>Calibri</vt:lpstr>
      <vt:lpstr>Cambria Math</vt:lpstr>
      <vt:lpstr>Courier New</vt:lpstr>
      <vt:lpstr>Lucida Sans</vt:lpstr>
      <vt:lpstr>Office Theme</vt:lpstr>
      <vt:lpstr>Presentación de PowerPoint</vt:lpstr>
      <vt:lpstr>Instructions General</vt:lpstr>
      <vt:lpstr>ASSESSMENT #1 – Recap from theory – MZI configurations </vt:lpstr>
      <vt:lpstr>Implementation for each one of the configurations studied during MZI lecture</vt:lpstr>
      <vt:lpstr>ASSESSMENT #2 – Recap from theory – Calculation of ΔL  </vt:lpstr>
      <vt:lpstr>ASSESSMENT #3 – SAX implementation  </vt:lpstr>
      <vt:lpstr>Extra assessments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cfp</cp:lastModifiedBy>
  <cp:revision>23</cp:revision>
  <dcterms:created xsi:type="dcterms:W3CDTF">2025-01-27T02:46:57Z</dcterms:created>
  <dcterms:modified xsi:type="dcterms:W3CDTF">2026-03-02T12:28:42Z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