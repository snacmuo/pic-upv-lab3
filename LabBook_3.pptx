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4"/>
  </p:notesMasterIdLst>
  <p:handoutMasterIdLst>
    <p:handoutMasterId r:id="rId15"/>
  </p:handoutMasterIdLst>
  <p:sldIdLst>
    <p:sldId id="256" r:id="rId2"/>
    <p:sldId id="289" r:id="rId3"/>
    <p:sldId id="290" r:id="rId4"/>
    <p:sldId id="297" r:id="rId5"/>
    <p:sldId id="298" r:id="rId6"/>
    <p:sldId id="299" r:id="rId7"/>
    <p:sldId id="300" r:id="rId8"/>
    <p:sldId id="301" r:id="rId9"/>
    <p:sldId id="295" r:id="rId10"/>
    <p:sldId id="296" r:id="rId11"/>
    <p:sldId id="293" r:id="rId12"/>
    <p:sldId id="288" r:id="rId13"/>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113" d="100"/>
          <a:sy n="113" d="100"/>
        </p:scale>
        <p:origin x="1056"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BBEC5D-83DF-49B5-BC30-A54871D1D4F9}"/>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CAAF7831-4555-450A-A8CE-008D3C87129C}"/>
              </a:ext>
            </a:extLst>
          </p:cNvPr>
          <p:cNvSpPr>
            <a:spLocks noGrp="1"/>
          </p:cNvSpPr>
          <p:nvPr>
            <p:ph type="body" idx="1"/>
          </p:nvPr>
        </p:nvSpPr>
        <p:spPr>
          <a:xfrm>
            <a:off x="770467" y="989111"/>
            <a:ext cx="2590800" cy="307777"/>
          </a:xfrm>
        </p:spPr>
        <p:txBody>
          <a:bodyPr/>
          <a:lstStyle/>
          <a:p>
            <a:r>
              <a:rPr lang="en-US" sz="1800" dirty="0"/>
              <a:t>1. Balanced configuration</a:t>
            </a:r>
          </a:p>
          <a:p>
            <a:endParaRPr lang="es-ES" dirty="0"/>
          </a:p>
        </p:txBody>
      </p:sp>
      <p:sp>
        <p:nvSpPr>
          <p:cNvPr id="4" name="Marcador de pie de página 3">
            <a:extLst>
              <a:ext uri="{FF2B5EF4-FFF2-40B4-BE49-F238E27FC236}">
                <a16:creationId xmlns:a16="http://schemas.microsoft.com/office/drawing/2014/main" id="{4ADB8334-3F80-456C-8283-72FAAFAF378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DF28D302-4654-40DA-8469-CC4C033D6CD6}"/>
              </a:ext>
            </a:extLst>
          </p:cNvPr>
          <p:cNvSpPr>
            <a:spLocks noGrp="1"/>
          </p:cNvSpPr>
          <p:nvPr>
            <p:ph type="sldNum" sz="quarter" idx="7"/>
          </p:nvPr>
        </p:nvSpPr>
        <p:spPr/>
        <p:txBody>
          <a:bodyPr/>
          <a:lstStyle/>
          <a:p>
            <a:fld id="{B6F15528-21DE-4FAA-801E-634DDDAF4B2B}" type="slidenum">
              <a:rPr lang="es-ES" smtClean="0"/>
              <a:t>4</a:t>
            </a:fld>
            <a:endParaRPr lang="es-ES"/>
          </a:p>
        </p:txBody>
      </p:sp>
      <p:pic>
        <p:nvPicPr>
          <p:cNvPr id="7" name="Imagen 6">
            <a:extLst>
              <a:ext uri="{FF2B5EF4-FFF2-40B4-BE49-F238E27FC236}">
                <a16:creationId xmlns:a16="http://schemas.microsoft.com/office/drawing/2014/main" id="{AA24FF34-9025-4DC5-A78E-A270E346B6C5}"/>
              </a:ext>
            </a:extLst>
          </p:cNvPr>
          <p:cNvPicPr>
            <a:picLocks noChangeAspect="1"/>
          </p:cNvPicPr>
          <p:nvPr/>
        </p:nvPicPr>
        <p:blipFill>
          <a:blip r:embed="rId2"/>
          <a:stretch>
            <a:fillRect/>
          </a:stretch>
        </p:blipFill>
        <p:spPr>
          <a:xfrm>
            <a:off x="381000" y="1902526"/>
            <a:ext cx="3988190" cy="3200400"/>
          </a:xfrm>
          <a:prstGeom prst="rect">
            <a:avLst/>
          </a:prstGeom>
        </p:spPr>
      </p:pic>
      <p:sp>
        <p:nvSpPr>
          <p:cNvPr id="14" name="CuadroTexto 13">
            <a:extLst>
              <a:ext uri="{FF2B5EF4-FFF2-40B4-BE49-F238E27FC236}">
                <a16:creationId xmlns:a16="http://schemas.microsoft.com/office/drawing/2014/main" id="{7E539A9C-2056-4998-806D-73C8753C9A85}"/>
              </a:ext>
            </a:extLst>
          </p:cNvPr>
          <p:cNvSpPr txBox="1"/>
          <p:nvPr/>
        </p:nvSpPr>
        <p:spPr>
          <a:xfrm>
            <a:off x="4648200" y="1143000"/>
            <a:ext cx="6934200" cy="2308324"/>
          </a:xfrm>
          <a:prstGeom prst="rect">
            <a:avLst/>
          </a:prstGeom>
          <a:noFill/>
        </p:spPr>
        <p:txBody>
          <a:bodyPr wrap="square" rtlCol="0">
            <a:spAutoFit/>
          </a:bodyPr>
          <a:lstStyle/>
          <a:p>
            <a:r>
              <a:rPr lang="en-US" sz="1200" dirty="0"/>
              <a:t>• Why does a perfectly balanced MZI (ΔL = 0, identical arms and 50:50 couplers) not exhibit spectral periodicity? </a:t>
            </a:r>
          </a:p>
          <a:p>
            <a:endParaRPr lang="en-US" sz="1200" dirty="0"/>
          </a:p>
          <a:p>
            <a:endParaRPr lang="en-US" sz="1200" dirty="0"/>
          </a:p>
          <a:p>
            <a:endParaRPr lang="en-US" sz="1200" dirty="0"/>
          </a:p>
          <a:p>
            <a:r>
              <a:rPr lang="en-US" sz="1200" dirty="0"/>
              <a:t>• What happens to the output transmission if the coupling ratio deviates from 50:50? </a:t>
            </a:r>
          </a:p>
          <a:p>
            <a:endParaRPr lang="en-US" sz="1200" dirty="0"/>
          </a:p>
          <a:p>
            <a:endParaRPr lang="en-US" sz="1200" dirty="0"/>
          </a:p>
          <a:p>
            <a:endParaRPr lang="en-US" sz="1200" dirty="0"/>
          </a:p>
          <a:p>
            <a:r>
              <a:rPr lang="en-US" sz="1200" dirty="0"/>
              <a:t>• How does excess loss (γ ≠ 0) affect the output ports in a balanced MZI? </a:t>
            </a:r>
          </a:p>
          <a:p>
            <a:endParaRPr lang="en-US" sz="1200" dirty="0"/>
          </a:p>
          <a:p>
            <a:endParaRPr lang="es-ES" sz="1200" dirty="0"/>
          </a:p>
        </p:txBody>
      </p:sp>
    </p:spTree>
    <p:extLst>
      <p:ext uri="{BB962C8B-B14F-4D97-AF65-F5344CB8AC3E}">
        <p14:creationId xmlns:p14="http://schemas.microsoft.com/office/powerpoint/2010/main" val="28349180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9FBF3E6-DA0F-4585-80D3-56DE53871D4A}"/>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02BC32C3-529A-4E52-9133-A834239450EA}"/>
              </a:ext>
            </a:extLst>
          </p:cNvPr>
          <p:cNvSpPr>
            <a:spLocks noGrp="1"/>
          </p:cNvSpPr>
          <p:nvPr>
            <p:ph type="body" idx="1"/>
          </p:nvPr>
        </p:nvSpPr>
        <p:spPr>
          <a:xfrm>
            <a:off x="5105400" y="2133600"/>
            <a:ext cx="6477000" cy="2215991"/>
          </a:xfrm>
        </p:spPr>
        <p:txBody>
          <a:bodyPr/>
          <a:lstStyle/>
          <a:p>
            <a:r>
              <a:rPr lang="en-US" sz="1200" dirty="0"/>
              <a:t>• If both arms have the same physical length but different propagation constants (βu ≠ βd), what generates the phase difference? </a:t>
            </a:r>
          </a:p>
          <a:p>
            <a:endParaRPr lang="en-US" sz="1200" dirty="0"/>
          </a:p>
          <a:p>
            <a:endParaRPr lang="en-US" sz="1200" dirty="0"/>
          </a:p>
          <a:p>
            <a:endParaRPr lang="en-US" sz="1200" dirty="0"/>
          </a:p>
          <a:p>
            <a:r>
              <a:rPr lang="en-US" sz="1200" dirty="0"/>
              <a:t>• Why are the two output ports complementary (H21 = cos²(</a:t>
            </a:r>
            <a:r>
              <a:rPr lang="en-US" sz="1200" dirty="0" err="1"/>
              <a:t>Δφ</a:t>
            </a:r>
            <a:r>
              <a:rPr lang="en-US" sz="1200" dirty="0"/>
              <a:t>/2), H22 = sin²(</a:t>
            </a:r>
            <a:r>
              <a:rPr lang="en-US" sz="1200" dirty="0" err="1"/>
              <a:t>Δφ</a:t>
            </a:r>
            <a:r>
              <a:rPr lang="en-US" sz="1200" dirty="0"/>
              <a:t>/2))? </a:t>
            </a:r>
          </a:p>
          <a:p>
            <a:endParaRPr lang="en-US" sz="1200" dirty="0"/>
          </a:p>
          <a:p>
            <a:endParaRPr lang="en-US" sz="1200" dirty="0"/>
          </a:p>
          <a:p>
            <a:endParaRPr lang="en-US" sz="1200" dirty="0"/>
          </a:p>
          <a:p>
            <a:r>
              <a:rPr lang="en-US" sz="1200" dirty="0"/>
              <a:t>• Under what condition can the MZI behave as a tunable power coupler rather than a wavelength filter?</a:t>
            </a:r>
          </a:p>
          <a:p>
            <a:endParaRPr lang="en-US" sz="1200" dirty="0"/>
          </a:p>
          <a:p>
            <a:r>
              <a:rPr lang="en-US" sz="1200" dirty="0"/>
              <a:t> </a:t>
            </a:r>
            <a:endParaRPr lang="es-ES" sz="1200" dirty="0"/>
          </a:p>
        </p:txBody>
      </p:sp>
      <p:sp>
        <p:nvSpPr>
          <p:cNvPr id="4" name="Marcador de pie de página 3">
            <a:extLst>
              <a:ext uri="{FF2B5EF4-FFF2-40B4-BE49-F238E27FC236}">
                <a16:creationId xmlns:a16="http://schemas.microsoft.com/office/drawing/2014/main" id="{5307C851-7FB9-4403-94B0-3611DBFDE00F}"/>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A1CF9BBD-A73B-4DDA-BC69-3CD31552620A}"/>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6" name="Marcador de texto 2">
            <a:extLst>
              <a:ext uri="{FF2B5EF4-FFF2-40B4-BE49-F238E27FC236}">
                <a16:creationId xmlns:a16="http://schemas.microsoft.com/office/drawing/2014/main" id="{1BAC312F-6919-4325-9A80-565BF7B9BA7C}"/>
              </a:ext>
            </a:extLst>
          </p:cNvPr>
          <p:cNvSpPr txBox="1">
            <a:spLocks/>
          </p:cNvSpPr>
          <p:nvPr/>
        </p:nvSpPr>
        <p:spPr>
          <a:xfrm>
            <a:off x="381000" y="867966"/>
            <a:ext cx="3157538" cy="553998"/>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1800" dirty="0"/>
              <a:t>2. Unbalanced configuration:</a:t>
            </a:r>
          </a:p>
          <a:p>
            <a:pPr lvl="1"/>
            <a:r>
              <a:rPr lang="en-US" sz="1800" dirty="0"/>
              <a:t>  2.1.   Phase difference</a:t>
            </a:r>
            <a:endParaRPr lang="es-ES" kern="0" dirty="0">
              <a:solidFill>
                <a:sysClr val="windowText" lastClr="000000"/>
              </a:solidFill>
            </a:endParaRPr>
          </a:p>
        </p:txBody>
      </p:sp>
      <p:pic>
        <p:nvPicPr>
          <p:cNvPr id="9" name="Imagen 8">
            <a:extLst>
              <a:ext uri="{FF2B5EF4-FFF2-40B4-BE49-F238E27FC236}">
                <a16:creationId xmlns:a16="http://schemas.microsoft.com/office/drawing/2014/main" id="{862D94F1-FCCA-49CD-8797-4BEE165BB17C}"/>
              </a:ext>
            </a:extLst>
          </p:cNvPr>
          <p:cNvPicPr>
            <a:picLocks noChangeAspect="1"/>
          </p:cNvPicPr>
          <p:nvPr/>
        </p:nvPicPr>
        <p:blipFill>
          <a:blip r:embed="rId2"/>
          <a:stretch>
            <a:fillRect/>
          </a:stretch>
        </p:blipFill>
        <p:spPr>
          <a:xfrm>
            <a:off x="457200" y="1891710"/>
            <a:ext cx="3962401" cy="3130021"/>
          </a:xfrm>
          <a:prstGeom prst="rect">
            <a:avLst/>
          </a:prstGeom>
        </p:spPr>
      </p:pic>
    </p:spTree>
    <p:extLst>
      <p:ext uri="{BB962C8B-B14F-4D97-AF65-F5344CB8AC3E}">
        <p14:creationId xmlns:p14="http://schemas.microsoft.com/office/powerpoint/2010/main" val="2432528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21320E-38EE-4D80-A7E3-C8C97A61F7DD}"/>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757077C7-5B79-4535-82AA-5A6DF81ED587}"/>
              </a:ext>
            </a:extLst>
          </p:cNvPr>
          <p:cNvSpPr>
            <a:spLocks noGrp="1"/>
          </p:cNvSpPr>
          <p:nvPr>
            <p:ph type="body" idx="1"/>
          </p:nvPr>
        </p:nvSpPr>
        <p:spPr>
          <a:xfrm>
            <a:off x="4800600" y="2133600"/>
            <a:ext cx="6781800" cy="2031325"/>
          </a:xfrm>
        </p:spPr>
        <p:txBody>
          <a:bodyPr/>
          <a:lstStyle/>
          <a:p>
            <a:r>
              <a:rPr lang="en-US" sz="1200" dirty="0"/>
              <a:t>• How does increasing the path length difference ΔL affect the Free Spectral Range (FSR)? </a:t>
            </a:r>
          </a:p>
          <a:p>
            <a:endParaRPr lang="en-US" sz="1200" dirty="0"/>
          </a:p>
          <a:p>
            <a:endParaRPr lang="en-US" sz="1200" dirty="0"/>
          </a:p>
          <a:p>
            <a:endParaRPr lang="en-US" sz="1200" dirty="0"/>
          </a:p>
          <a:p>
            <a:r>
              <a:rPr lang="en-US" sz="1200" dirty="0"/>
              <a:t>• Why does dispersion (wavelength dependence of β) cause the interference fringes to appear chirped? </a:t>
            </a:r>
          </a:p>
          <a:p>
            <a:endParaRPr lang="en-US" sz="1200" dirty="0"/>
          </a:p>
          <a:p>
            <a:endParaRPr lang="en-US" sz="1200" dirty="0"/>
          </a:p>
          <a:p>
            <a:endParaRPr lang="en-US" sz="1200" dirty="0"/>
          </a:p>
          <a:p>
            <a:r>
              <a:rPr lang="en-US" sz="1200" dirty="0"/>
              <a:t>• What role does the group index ng play in determining the spectral period? </a:t>
            </a:r>
          </a:p>
          <a:p>
            <a:endParaRPr lang="en-US" sz="1200" dirty="0"/>
          </a:p>
          <a:p>
            <a:endParaRPr lang="es-ES" sz="1200" dirty="0"/>
          </a:p>
        </p:txBody>
      </p:sp>
      <p:sp>
        <p:nvSpPr>
          <p:cNvPr id="4" name="Marcador de pie de página 3">
            <a:extLst>
              <a:ext uri="{FF2B5EF4-FFF2-40B4-BE49-F238E27FC236}">
                <a16:creationId xmlns:a16="http://schemas.microsoft.com/office/drawing/2014/main" id="{70F8806D-49F9-4194-B765-F50FD2E2C10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6E0F7F19-FB8E-4918-96D2-BCB0EFD33E93}"/>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6" name="Marcador de texto 2">
            <a:extLst>
              <a:ext uri="{FF2B5EF4-FFF2-40B4-BE49-F238E27FC236}">
                <a16:creationId xmlns:a16="http://schemas.microsoft.com/office/drawing/2014/main" id="{59C8FC7F-4438-4200-8257-803FEC768C30}"/>
              </a:ext>
            </a:extLst>
          </p:cNvPr>
          <p:cNvSpPr txBox="1">
            <a:spLocks/>
          </p:cNvSpPr>
          <p:nvPr/>
        </p:nvSpPr>
        <p:spPr>
          <a:xfrm>
            <a:off x="590550" y="867966"/>
            <a:ext cx="2590800" cy="276999"/>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1800" dirty="0"/>
              <a:t>2.2.   Delay imbalance</a:t>
            </a:r>
          </a:p>
        </p:txBody>
      </p:sp>
      <p:pic>
        <p:nvPicPr>
          <p:cNvPr id="7" name="Imagen 6">
            <a:extLst>
              <a:ext uri="{FF2B5EF4-FFF2-40B4-BE49-F238E27FC236}">
                <a16:creationId xmlns:a16="http://schemas.microsoft.com/office/drawing/2014/main" id="{4958ABB4-BBD4-4718-832D-50FE47808E9E}"/>
              </a:ext>
            </a:extLst>
          </p:cNvPr>
          <p:cNvPicPr>
            <a:picLocks noChangeAspect="1"/>
          </p:cNvPicPr>
          <p:nvPr/>
        </p:nvPicPr>
        <p:blipFill>
          <a:blip r:embed="rId2"/>
          <a:stretch>
            <a:fillRect/>
          </a:stretch>
        </p:blipFill>
        <p:spPr>
          <a:xfrm>
            <a:off x="556683" y="1861656"/>
            <a:ext cx="3567417" cy="2862743"/>
          </a:xfrm>
          <a:prstGeom prst="rect">
            <a:avLst/>
          </a:prstGeom>
        </p:spPr>
      </p:pic>
    </p:spTree>
    <p:extLst>
      <p:ext uri="{BB962C8B-B14F-4D97-AF65-F5344CB8AC3E}">
        <p14:creationId xmlns:p14="http://schemas.microsoft.com/office/powerpoint/2010/main" val="36093426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21320E-38EE-4D80-A7E3-C8C97A61F7DD}"/>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757077C7-5B79-4535-82AA-5A6DF81ED587}"/>
              </a:ext>
            </a:extLst>
          </p:cNvPr>
          <p:cNvSpPr>
            <a:spLocks noGrp="1"/>
          </p:cNvSpPr>
          <p:nvPr>
            <p:ph type="body" idx="1"/>
          </p:nvPr>
        </p:nvSpPr>
        <p:spPr>
          <a:xfrm>
            <a:off x="4800600" y="2133600"/>
            <a:ext cx="6781800" cy="2215991"/>
          </a:xfrm>
        </p:spPr>
        <p:txBody>
          <a:bodyPr/>
          <a:lstStyle/>
          <a:p>
            <a:r>
              <a:rPr lang="en-US" sz="1200" dirty="0"/>
              <a:t>• Why does unequal power splitting (Ka ≠ </a:t>
            </a:r>
            <a:r>
              <a:rPr lang="en-US" sz="1200" dirty="0" err="1"/>
              <a:t>Kb</a:t>
            </a:r>
            <a:r>
              <a:rPr lang="en-US" sz="1200" dirty="0"/>
              <a:t>) reduce the extinction ratio? </a:t>
            </a:r>
          </a:p>
          <a:p>
            <a:endParaRPr lang="en-US" sz="1200" dirty="0"/>
          </a:p>
          <a:p>
            <a:endParaRPr lang="en-US" sz="1200" dirty="0"/>
          </a:p>
          <a:p>
            <a:endParaRPr lang="en-US" sz="1200" dirty="0"/>
          </a:p>
          <a:p>
            <a:r>
              <a:rPr lang="en-US" sz="1200" dirty="0"/>
              <a:t>• What condition between Ka and </a:t>
            </a:r>
            <a:r>
              <a:rPr lang="en-US" sz="1200" dirty="0" err="1"/>
              <a:t>Kb</a:t>
            </a:r>
            <a:r>
              <a:rPr lang="en-US" sz="1200" dirty="0"/>
              <a:t> maximizes rejection in the lossless case? </a:t>
            </a:r>
          </a:p>
          <a:p>
            <a:endParaRPr lang="en-US" sz="1200" dirty="0"/>
          </a:p>
          <a:p>
            <a:endParaRPr lang="en-US" sz="1200" dirty="0"/>
          </a:p>
          <a:p>
            <a:endParaRPr lang="en-US" sz="1200" dirty="0"/>
          </a:p>
          <a:p>
            <a:r>
              <a:rPr lang="en-US" sz="1200" dirty="0"/>
              <a:t>• How can the input coupler be designed to compensate for propagation loss imbalance between the two arms? </a:t>
            </a:r>
          </a:p>
          <a:p>
            <a:endParaRPr lang="es-ES" sz="1200" dirty="0"/>
          </a:p>
          <a:p>
            <a:endParaRPr lang="es-ES" sz="1200" dirty="0"/>
          </a:p>
        </p:txBody>
      </p:sp>
      <p:sp>
        <p:nvSpPr>
          <p:cNvPr id="4" name="Marcador de pie de página 3">
            <a:extLst>
              <a:ext uri="{FF2B5EF4-FFF2-40B4-BE49-F238E27FC236}">
                <a16:creationId xmlns:a16="http://schemas.microsoft.com/office/drawing/2014/main" id="{70F8806D-49F9-4194-B765-F50FD2E2C10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6E0F7F19-FB8E-4918-96D2-BCB0EFD33E93}"/>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6" name="Marcador de texto 2">
            <a:extLst>
              <a:ext uri="{FF2B5EF4-FFF2-40B4-BE49-F238E27FC236}">
                <a16:creationId xmlns:a16="http://schemas.microsoft.com/office/drawing/2014/main" id="{59C8FC7F-4438-4200-8257-803FEC768C30}"/>
              </a:ext>
            </a:extLst>
          </p:cNvPr>
          <p:cNvSpPr txBox="1">
            <a:spLocks/>
          </p:cNvSpPr>
          <p:nvPr/>
        </p:nvSpPr>
        <p:spPr>
          <a:xfrm>
            <a:off x="590550" y="867966"/>
            <a:ext cx="2990850" cy="276999"/>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1800" dirty="0"/>
              <a:t>2.3.   Amplitude imbalance</a:t>
            </a:r>
          </a:p>
        </p:txBody>
      </p:sp>
      <p:pic>
        <p:nvPicPr>
          <p:cNvPr id="7" name="Imagen 6">
            <a:extLst>
              <a:ext uri="{FF2B5EF4-FFF2-40B4-BE49-F238E27FC236}">
                <a16:creationId xmlns:a16="http://schemas.microsoft.com/office/drawing/2014/main" id="{4958ABB4-BBD4-4718-832D-50FE47808E9E}"/>
              </a:ext>
            </a:extLst>
          </p:cNvPr>
          <p:cNvPicPr>
            <a:picLocks noChangeAspect="1"/>
          </p:cNvPicPr>
          <p:nvPr/>
        </p:nvPicPr>
        <p:blipFill>
          <a:blip r:embed="rId2"/>
          <a:stretch>
            <a:fillRect/>
          </a:stretch>
        </p:blipFill>
        <p:spPr>
          <a:xfrm>
            <a:off x="556683" y="1861656"/>
            <a:ext cx="3567417" cy="2862743"/>
          </a:xfrm>
          <a:prstGeom prst="rect">
            <a:avLst/>
          </a:prstGeom>
        </p:spPr>
      </p:pic>
    </p:spTree>
    <p:extLst>
      <p:ext uri="{BB962C8B-B14F-4D97-AF65-F5344CB8AC3E}">
        <p14:creationId xmlns:p14="http://schemas.microsoft.com/office/powerpoint/2010/main" val="26022570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ítulo 1">
                <a:extLst>
                  <a:ext uri="{FF2B5EF4-FFF2-40B4-BE49-F238E27FC236}">
                    <a16:creationId xmlns:a16="http://schemas.microsoft.com/office/drawing/2014/main" id="{116F5391-1C14-479E-8D7A-A3CACD44891A}"/>
                  </a:ext>
                </a:extLst>
              </p:cNvPr>
              <p:cNvSpPr>
                <a:spLocks noGrp="1"/>
              </p:cNvSpPr>
              <p:nvPr>
                <p:ph type="title"/>
              </p:nvPr>
            </p:nvSpPr>
            <p:spPr>
              <a:xfrm>
                <a:off x="590550" y="206752"/>
                <a:ext cx="10991850" cy="307777"/>
              </a:xfrm>
            </p:spPr>
            <p:txBody>
              <a:bodyPr/>
              <a:lstStyle/>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dirty="0"/>
              </a:p>
            </p:txBody>
          </p:sp>
        </mc:Choice>
        <mc:Fallback>
          <p:sp>
            <p:nvSpPr>
              <p:cNvPr id="2" name="Título 1">
                <a:extLst>
                  <a:ext uri="{FF2B5EF4-FFF2-40B4-BE49-F238E27FC236}">
                    <a16:creationId xmlns:a16="http://schemas.microsoft.com/office/drawing/2014/main" id="{116F5391-1C14-479E-8D7A-A3CACD44891A}"/>
                  </a:ext>
                </a:extLst>
              </p:cNvPr>
              <p:cNvSpPr>
                <a:spLocks noGrp="1" noRot="1" noChangeAspect="1" noMove="1" noResize="1" noEditPoints="1" noAdjustHandles="1" noChangeArrowheads="1" noChangeShapeType="1" noTextEdit="1"/>
              </p:cNvSpPr>
              <p:nvPr>
                <p:ph type="title"/>
              </p:nvPr>
            </p:nvSpPr>
            <p:spPr>
              <a:xfrm>
                <a:off x="590550" y="206752"/>
                <a:ext cx="10991850" cy="307777"/>
              </a:xfrm>
              <a:blipFill>
                <a:blip r:embed="rId2"/>
                <a:stretch>
                  <a:fillRect l="-1442" t="-26000" b="-50000"/>
                </a:stretch>
              </a:blipFill>
            </p:spPr>
            <p:txBody>
              <a:bodyPr/>
              <a:lstStyle/>
              <a:p>
                <a:r>
                  <a:rPr lang="es-ES">
                    <a:noFill/>
                  </a:rPr>
                  <a:t> </a:t>
                </a:r>
              </a:p>
            </p:txBody>
          </p:sp>
        </mc:Fallback>
      </mc:AlternateContent>
      <p:sp>
        <p:nvSpPr>
          <p:cNvPr id="3" name="Marcador de texto 2">
            <a:extLst>
              <a:ext uri="{FF2B5EF4-FFF2-40B4-BE49-F238E27FC236}">
                <a16:creationId xmlns:a16="http://schemas.microsoft.com/office/drawing/2014/main" id="{858B9E23-6139-4532-9AF8-6207C4DAF06C}"/>
              </a:ext>
            </a:extLst>
          </p:cNvPr>
          <p:cNvSpPr>
            <a:spLocks noGrp="1"/>
          </p:cNvSpPr>
          <p:nvPr>
            <p:ph type="body" idx="1"/>
          </p:nvPr>
        </p:nvSpPr>
        <p:spPr>
          <a:xfrm>
            <a:off x="609600" y="762000"/>
            <a:ext cx="10972800" cy="5341620"/>
          </a:xfrm>
        </p:spPr>
        <p:txBody>
          <a:bodyPr/>
          <a:lstStyle/>
          <a:p>
            <a:endParaRPr lang="es-ES" dirty="0"/>
          </a:p>
        </p:txBody>
      </p:sp>
      <p:sp>
        <p:nvSpPr>
          <p:cNvPr id="4" name="Marcador de pie de página 3">
            <a:extLst>
              <a:ext uri="{FF2B5EF4-FFF2-40B4-BE49-F238E27FC236}">
                <a16:creationId xmlns:a16="http://schemas.microsoft.com/office/drawing/2014/main" id="{707C4FD9-5C8D-46FD-9563-44AFA9909127}"/>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62D45345-39EF-4410-A5EA-3FC8929E4713}"/>
              </a:ext>
            </a:extLst>
          </p:cNvPr>
          <p:cNvSpPr>
            <a:spLocks noGrp="1"/>
          </p:cNvSpPr>
          <p:nvPr>
            <p:ph type="sldNum" sz="quarter" idx="7"/>
          </p:nvPr>
        </p:nvSpPr>
        <p:spPr/>
        <p:txBody>
          <a:bodyPr/>
          <a:lstStyle/>
          <a:p>
            <a:fld id="{B6F15528-21DE-4FAA-801E-634DDDAF4B2B}" type="slidenum">
              <a:rPr lang="es-ES" smtClean="0"/>
              <a:t>8</a:t>
            </a:fld>
            <a:endParaRPr lang="es-ES"/>
          </a:p>
        </p:txBody>
      </p:sp>
    </p:spTree>
    <p:extLst>
      <p:ext uri="{BB962C8B-B14F-4D97-AF65-F5344CB8AC3E}">
        <p14:creationId xmlns:p14="http://schemas.microsoft.com/office/powerpoint/2010/main" val="3613906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9</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23370981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12</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1265</TotalTime>
  <Words>956</Words>
  <Application>Microsoft Office PowerPoint</Application>
  <PresentationFormat>Panorámica</PresentationFormat>
  <Paragraphs>148</Paragraphs>
  <Slides>12</Slides>
  <Notes>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12</vt:i4>
      </vt:variant>
    </vt:vector>
  </HeadingPairs>
  <TitlesOfParts>
    <vt:vector size="19" baseType="lpstr">
      <vt:lpstr>Aptos</vt:lpstr>
      <vt:lpstr>Arial</vt:lpstr>
      <vt:lpstr>Calibri</vt:lpstr>
      <vt:lpstr>Cambria Math</vt:lpstr>
      <vt:lpstr>Courier New</vt:lpstr>
      <vt:lpstr>Lucida Sans</vt:lpstr>
      <vt:lpstr>Office Theme</vt:lpstr>
      <vt:lpstr>Presentación de PowerPoint</vt:lpstr>
      <vt:lpstr>Instructions General</vt:lpstr>
      <vt:lpstr>ASSESSMENT #1 – Recap from theory – MZI configurations </vt:lpstr>
      <vt:lpstr>Implementation for each one of the configurations studied during MZI lecture</vt:lpstr>
      <vt:lpstr>Implementation for each one of the configurations studied during MZI lecture</vt:lpstr>
      <vt:lpstr>Implementation for each one of the configurations studied during MZI lecture</vt:lpstr>
      <vt:lpstr>Implementation for each one of the configurations studied during MZI lecture</vt:lpstr>
      <vt:lpstr>Compute also some examples with α≠0 and γ≠0</vt:lpstr>
      <vt:lpstr>ASSESSMENT #2 – Recap from theory – Calculation of ΔL  </vt:lpstr>
      <vt:lpstr>ASSESSMENT #3 – SAX implementation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26</cp:revision>
  <dcterms:created xsi:type="dcterms:W3CDTF">2025-01-27T02:46:57Z</dcterms:created>
  <dcterms:modified xsi:type="dcterms:W3CDTF">2026-03-02T16:14:19Z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